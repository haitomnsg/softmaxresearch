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4506A"/>
                </a:solidFill>
                <a:latin typeface="Calibri"/>
              </a:defRPr>
            </a:pPr>
            <a:r>
              <a:rPr sz="1200" b="0" i="0" u="none" strike="noStrike">
                <a:solidFill>
                  <a:srgbClr val="44506A"/>
                </a:solidFill>
                <a:latin typeface="Calibri"/>
              </a:rPr>
              <a:t>How much of the wrong labels did it memorise?  (lower is better)</a:t>
            </a:r>
          </a:p>
        </c:rich>
      </c:tx>
      <c:layout/>
      <c:overlay val="0"/>
    </c:title>
    <c:autoTitleDeleted val="0"/>
    <c:plotArea>
      <c:layout/>
      <c:lineChart>
        <c:varyColors val="0"/>
        <c:ser>
          <c:idx val="0"/>
          <c:order val="0"/>
          <c:tx>
            <c:strRef>
              <c:f>Sheet1!$B$1</c:f>
              <c:strCache>
                <c:ptCount val="1"/>
                <c:pt idx="0">
                  <c:v>Plain cross-entropy</c:v>
                </c:pt>
              </c:strCache>
            </c:strRef>
          </c:tx>
          <c:spPr>
            <a:solidFill>
              <a:srgbClr val="8A93A6"/>
            </a:solidFill>
            <a:ln w="38100" cap="flat">
              <a:solidFill>
                <a:srgbClr val="8A93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8A93A6"/>
              </a:solidFill>
              <a:ln w="9525" cap="flat">
                <a:solidFill>
                  <a:srgbClr val="8A93A6"/>
                </a:solidFill>
                <a:prstDash val="solid"/>
                <a:round/>
              </a:ln>
              <a:effectLst/>
            </c:spPr>
          </c:marker>
          <c:cat>
            <c:multiLvlStrRef>
              <c:f>Sheet1!$A$2:$A$5</c:f>
              <c:multiLvlStrCache>
                <c:ptCount val="4"/>
                <c:lvl>
                  <c:pt idx="0">
                    <c:v>Epoch 1</c:v>
                  </c:pt>
                  <c:pt idx="1">
                    <c:v>Epoch 2</c:v>
                  </c:pt>
                  <c:pt idx="2">
                    <c:v>Epoch 3</c:v>
                  </c:pt>
                  <c:pt idx="3">
                    <c:v>Epoch 4</c:v>
                  </c:pt>
                </c:lvl>
              </c:multiLvlStrCache>
            </c:multiLvlStrRef>
          </c:cat>
          <c:val>
            <c:numRef>
              <c:f>Sheet1!$B$2:$B$5</c:f>
              <c:numCache>
                <c:formatCode>General</c:formatCode>
                <c:ptCount val="4"/>
                <c:pt idx="0">
                  <c:v>3.5</c:v>
                </c:pt>
                <c:pt idx="1">
                  <c:v>10</c:v>
                </c:pt>
                <c:pt idx="2">
                  <c:v>17.8</c:v>
                </c:pt>
                <c:pt idx="3">
                  <c:v>33.7</c:v>
                </c:pt>
              </c:numCache>
            </c:numRef>
          </c:val>
          <c:smooth val="0"/>
        </c:ser>
        <c:ser>
          <c:idx val="1"/>
          <c:order val="1"/>
          <c:tx>
            <c:strRef>
              <c:f>Sheet1!$C$1</c:f>
              <c:strCache>
                <c:ptCount val="1"/>
                <c:pt idx="0">
                  <c:v>AS-Softmax</c:v>
                </c:pt>
              </c:strCache>
            </c:strRef>
          </c:tx>
          <c:spPr>
            <a:solidFill>
              <a:srgbClr val="C1121F"/>
            </a:solidFill>
            <a:ln w="38100" cap="flat">
              <a:solidFill>
                <a:srgbClr val="C1121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1121F"/>
              </a:solidFill>
              <a:ln w="9525" cap="flat">
                <a:solidFill>
                  <a:srgbClr val="C1121F"/>
                </a:solidFill>
                <a:prstDash val="solid"/>
                <a:round/>
              </a:ln>
              <a:effectLst/>
            </c:spPr>
          </c:marker>
          <c:cat>
            <c:multiLvlStrRef>
              <c:f>Sheet1!$A$2:$A$5</c:f>
              <c:multiLvlStrCache>
                <c:ptCount val="4"/>
                <c:lvl>
                  <c:pt idx="0">
                    <c:v>Epoch 1</c:v>
                  </c:pt>
                  <c:pt idx="1">
                    <c:v>Epoch 2</c:v>
                  </c:pt>
                  <c:pt idx="2">
                    <c:v>Epoch 3</c:v>
                  </c:pt>
                  <c:pt idx="3">
                    <c:v>Epoch 4</c:v>
                  </c:pt>
                </c:lvl>
              </c:multiLvlStrCache>
            </c:multiLvlStrRef>
          </c:cat>
          <c:val>
            <c:numRef>
              <c:f>Sheet1!$C$2:$C$5</c:f>
              <c:numCache>
                <c:formatCode>General</c:formatCode>
                <c:ptCount val="4"/>
                <c:pt idx="0">
                  <c:v>4</c:v>
                </c:pt>
                <c:pt idx="1">
                  <c:v>9.8</c:v>
                </c:pt>
                <c:pt idx="2">
                  <c:v>18.9</c:v>
                </c:pt>
                <c:pt idx="3">
                  <c:v>39.9</c:v>
                </c:pt>
              </c:numCache>
            </c:numRef>
          </c:val>
          <c:smooth val="0"/>
        </c:ser>
        <c:ser>
          <c:idx val="2"/>
          <c:order val="2"/>
          <c:tx>
            <c:strRef>
              <c:f>Sheet1!$D$1</c:f>
              <c:strCache>
                <c:ptCount val="1"/>
                <c:pt idx="0">
                  <c:v>Ours: class-pair gap</c:v>
                </c:pt>
              </c:strCache>
            </c:strRef>
          </c:tx>
          <c:spPr>
            <a:solidFill>
              <a:srgbClr val="C97B1E"/>
            </a:solidFill>
            <a:ln w="38100" cap="flat">
              <a:solidFill>
                <a:srgbClr val="C97B1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97B1E"/>
              </a:solidFill>
              <a:ln w="9525" cap="flat">
                <a:solidFill>
                  <a:srgbClr val="C97B1E"/>
                </a:solidFill>
                <a:prstDash val="solid"/>
                <a:round/>
              </a:ln>
              <a:effectLst/>
            </c:spPr>
          </c:marker>
          <c:cat>
            <c:multiLvlStrRef>
              <c:f>Sheet1!$A$2:$A$5</c:f>
              <c:multiLvlStrCache>
                <c:ptCount val="4"/>
                <c:lvl>
                  <c:pt idx="0">
                    <c:v>Epoch 1</c:v>
                  </c:pt>
                  <c:pt idx="1">
                    <c:v>Epoch 2</c:v>
                  </c:pt>
                  <c:pt idx="2">
                    <c:v>Epoch 3</c:v>
                  </c:pt>
                  <c:pt idx="3">
                    <c:v>Epoch 4</c:v>
                  </c:pt>
                </c:lvl>
              </c:multiLvlStrCache>
            </c:multiLvlStrRef>
          </c:cat>
          <c:val>
            <c:numRef>
              <c:f>Sheet1!$D$2:$D$5</c:f>
              <c:numCache>
                <c:formatCode>General</c:formatCode>
                <c:ptCount val="4"/>
                <c:pt idx="0">
                  <c:v>3.6</c:v>
                </c:pt>
                <c:pt idx="1">
                  <c:v>8.4</c:v>
                </c:pt>
                <c:pt idx="2">
                  <c:v>17.3</c:v>
                </c:pt>
                <c:pt idx="3">
                  <c:v>35.2</c:v>
                </c:pt>
              </c:numCache>
            </c:numRef>
          </c:val>
          <c:smooth val="0"/>
        </c:ser>
        <c:ser>
          <c:idx val="3"/>
          <c:order val="3"/>
          <c:tx>
            <c:strRef>
              <c:f>Sheet1!$E$1</c:f>
              <c:strCache>
                <c:ptCount val="1"/>
                <c:pt idx="0">
                  <c:v>Ours: sample gap</c:v>
                </c:pt>
              </c:strCache>
            </c:strRef>
          </c:tx>
          <c:spPr>
            <a:solidFill>
              <a:srgbClr val="12897B"/>
            </a:solidFill>
            <a:ln w="38100" cap="flat">
              <a:solidFill>
                <a:srgbClr val="12897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2897B"/>
              </a:solidFill>
              <a:ln w="9525" cap="flat">
                <a:solidFill>
                  <a:srgbClr val="12897B"/>
                </a:solidFill>
                <a:prstDash val="solid"/>
                <a:round/>
              </a:ln>
              <a:effectLst/>
            </c:spPr>
          </c:marker>
          <c:cat>
            <c:multiLvlStrRef>
              <c:f>Sheet1!$A$2:$A$5</c:f>
              <c:multiLvlStrCache>
                <c:ptCount val="4"/>
                <c:lvl>
                  <c:pt idx="0">
                    <c:v>Epoch 1</c:v>
                  </c:pt>
                  <c:pt idx="1">
                    <c:v>Epoch 2</c:v>
                  </c:pt>
                  <c:pt idx="2">
                    <c:v>Epoch 3</c:v>
                  </c:pt>
                  <c:pt idx="3">
                    <c:v>Epoch 4</c:v>
                  </c:pt>
                </c:lvl>
              </c:multiLvlStrCache>
            </c:multiLvlStrRef>
          </c:cat>
          <c:val>
            <c:numRef>
              <c:f>Sheet1!$E$2:$E$5</c:f>
              <c:numCache>
                <c:formatCode>General</c:formatCode>
                <c:ptCount val="4"/>
                <c:pt idx="0">
                  <c:v>4</c:v>
                </c:pt>
                <c:pt idx="1">
                  <c:v>10.2</c:v>
                </c:pt>
                <c:pt idx="2">
                  <c:v>15.4</c:v>
                </c:pt>
                <c:pt idx="3">
                  <c:v>19.3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A93A6"/>
                </a:solidFill>
                <a:latin typeface="Calibri"/>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12700" cap="flat">
              <a:solidFill>
                <a:srgbClr val="E6EAF0"/>
              </a:solidFill>
              <a:prstDash val="solid"/>
              <a:round/>
            </a:ln>
          </c:spPr>
        </c:majorGridlines>
        <c:title>
          <c:tx>
            <c:rich>
              <a:bodyPr/>
              <a:lstStyle/>
              <a:p>
                <a:pPr>
                  <a:defRPr sz="1000" b="0" i="0" u="none" strike="noStrike">
                    <a:solidFill>
                      <a:srgbClr val="8A93A6"/>
                    </a:solidFill>
                    <a:latin typeface="Calibri"/>
                  </a:defRPr>
                </a:pPr>
                <a:r>
                  <a:rPr sz="1000" b="0" i="0" u="none" strike="noStrike">
                    <a:solidFill>
                      <a:srgbClr val="8A93A6"/>
                    </a:solidFill>
                    <a:latin typeface="Calibri"/>
                  </a:rPr>
                  <a:t>% of corrupted examples memorised</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93A6"/>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[20s · clock 0:20]
A research project on classification loss functions.
There is a published method that replaces the usual training objective with a 'margin' rule. We tried to make that margin smarter. I will tell you what we tried, what failed, and the one thing that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[15s · clock 0:38]
Five parts. Background is deliberately from scratch, so if you have never seen a loss function you will still follow the result at the end. Most of the time goes to the last two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[32s · clock 1:10]
The observation this starts from: we train models to be totally certain on every example, but at test time we only check whether the right answer came first. Those are not the same requirement.
Hence the question: if a fixed margin beats aiming for 100%, does an adaptive margin beat a fixed one?
I will tell you the ending now, so you judge the evidence rather than wait for a twist. The accuracy hypothesis failed. The same idea turned out to be a strong defence against wrong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[30s · clock 1:43]
A classifier is a student answering multiple-choice questions. It scores every option, and softmax squashes those scores into percentages summing to 100.
Here it reads a bad review and puts 55% on 'very negative'. It is right — because that answer is AHEAD of the others.
Being right only requires being ahead. It does not require 100%. That gap is where this project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[35s · clock 2:18]
Standard training — cross-entropy — is never satisfied.
Left: the model is already right, 55% on the correct answer. Test passed.
Right: cross-entropy keeps pushing to 99%. That extra work buys nothing at test time, because the test only asked whether it was ahead.
Three costs: wasted effort; overfitting, because reaching 99% on hard examples means memorising them; and the loss stops correlating with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[42s · clock 3:00]
This is the paper we build on — AS-Softmax, 2023.
Their fix: do not demand 100%, demand a gap. Once the right answer beats a wrong one by delta, drop that wrong answer and stop pushing.
They reported better accuracy, better calibration, less overfitting, about 1.2x faster training — and this striking number: the correlation between loss and validation accuracy went from roughly zero to minus 0.95.
And here is the door they leave open, our starting point: delta is ONE number, for every class pair, every example, every moment of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[35s · clock 3:38]
Our idea: if one gap is good, a gap that ADAPTS should be better. Three directions.
Class-pair: cat versus dog is harder than cat versus aeroplane, so they should not share a gap. Sample: individual examples differ — some ambiguous, some just wrong. Time: early on the model is guessing, so start loose and tighten.
We test these one at a time, so any gain traces to a specific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[62s · clock 4:40]
This is the idea I would most like you to take away.
A margin does not have to be positive. The gap between two probabilities runs from minus one to plus one, so a NEGATIVE margin is legal. It means: drop this wrong answer even if it is currently winning.
Why that is powerful — left box. Take an example whose label is wrong. The model has seen thousands of correct examples, so it correctly distrusts this label and gives it low probability. But that means nothing ever gets far enough ahead to be dropped, so the model keeps being pushed to fit the wrong label. That IS memorisation.
Right box: with a negative gap every competitor is dropped, nothing is left to train against, and the example removes itself.
And 'throw away suspicious examples' is a known trick in this field. Written our way it is not a separate trick — it is a margin that went negative.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[22s · clock 5:02]
What we implemented. Nine loss functions, seventy passing tests, three margin variants.
One thing worth noting: a test proves our loss becomes EXACTLY AS-Softmax when the gap is held constant — so we always compare a strict generalisation, not a different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[32s · clock 5:37]
BERT-base on two text datasets — SST-5 with five classes, 20 Newsgroups with twenty. Compared against plain cross-entropy and AS-Softmax, two to three seeds each, which is what tells us the noise floor. All on one 6 GB laptop GPU.
Two things for the record: the success bar was fixed before we saw any results, and we measured more than accuracy — including memorisation, which is what eventually explained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[35s · clock 6:12]
Two phases. Phase one, clean labels: three experiments on the class-pair margin, including a tuning screen to check we had not simply under-tuned it.
Phase two we added when phase one came back flat — 40% wrong labels. Every real dataset has some, a big model will memorise them, and margin methods are supposed to be good exactly there.
Two details make it trustworthy: validation labels stay clean, and every method sees the identical corrupted labels — an exact comparison, not a statistical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[45s · clock 7:00]
It did not work, and I want to be straight about that.
Four testbeds. Our class-pair gap never beat AS-Softmax by more than the noise between two runs of the same method. We checked whether we had under-tuned it — we let the gap learn harder and it got monotonically WORSE.
The diagnosis at the bottom is the real finding. The problem was not our idea, it was underneath us: AS-Softmax itself did not reliably beat plain cross-entropy in our hands. We were generalising an advantage that was not there.
That is where many projects quietly stop. We changed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[57s · clock 7:57]
And this worked. The chart is memorisation of corrupted labels over training — lower is better.
Grey is plain cross-entropy, climbing to 34%. Red is AS-Softmax, and notice it is the WORST at 40%. Amber is our class-pair idea, no better than cross-entropy. Teal is the sample gap: it flattens at 19%.
Roughly four times less memorisation, and at the end of training 2.8 points more accurate than cross-entropy — replicated on both seeds.
One more thing: AS-Softmax memorised MORE than plain cross-entropy, on both seeds. That contradicts the standard argument for margin methods under noisy labels, and nobody could see it by looking at accuracy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[40s · clock 8:37]
A moment on rigour, because this is where a project earns trust or loses it.
Two runs per method is not many, so we graded every claim separately.
Confirmed: the memorisation result — both runs nearly identical, effect about twenty times the measurement's own noise. Rejected: our original class-pair idea.
This row matters most. The half-point gain on best-case accuracy clears the bar we set in advance — but one of the two runs produced the entire gap. So we do NOT claim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[35s · clock 9:12]
Is it any good? Three answers.
As a defence against bad labels — yes. Real, replicated, mechanism understood.
As a general upgrade — no. Our hypothesis was wrong and I am not going to dress that up.
And it depends: the gain only appears if you cannot early-stop on clean data, which is precisely the situation when labels are noisy.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[26s · clock 9:38]
Four next steps. One, an hour of GPU: run the half-strength version — if halving the setting halves the effect, that is strong evidence for the mechanism. Two, compare against methods actually built for noisy labels. Three, realistic noise. Four, thousands of classes, where margins should really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[22s · clock 10:00]
Three takeaways. A margin can be negative — and then discarding suspicious examples becomes a special case of a margin. That cut memorisation about fourfold. And it did not improve peak accuracy — our hypothesis was wrong and we report it that way.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238"/>
        </a:solidFill>
      </p:bgPr>
    </p:bg>
    <p:spTree>
      <p:nvGrpSpPr>
        <p:cNvPr id="1" name=""/>
        <p:cNvGrpSpPr/>
        <p:nvPr/>
      </p:nvGrpSpPr>
      <p:grpSpPr>
        <a:xfrm>
          <a:off x="0" y="0"/>
          <a:ext cx="0" cy="0"/>
          <a:chOff x="0" y="0"/>
          <a:chExt cx="0" cy="0"/>
        </a:xfrm>
      </p:grpSpPr>
      <p:sp>
        <p:nvSpPr>
          <p:cNvPr id="2" name="Text 0"/>
          <p:cNvSpPr/>
          <p:nvPr/>
        </p:nvSpPr>
        <p:spPr>
          <a:xfrm>
            <a:off x="7772400" y="3611880"/>
            <a:ext cx="4023360" cy="1737360"/>
          </a:xfrm>
          <a:prstGeom prst="rect">
            <a:avLst/>
          </a:prstGeom>
          <a:noFill/>
          <a:ln/>
        </p:spPr>
        <p:txBody>
          <a:bodyPr wrap="square" lIns="0" tIns="0" rIns="0" bIns="0" rtlCol="0" anchor="ctr"/>
          <a:lstStyle/>
          <a:p>
            <a:pPr algn="r" indent="0" marL="0">
              <a:buNone/>
            </a:pPr>
            <a:r>
              <a:rPr lang="en-US" sz="11800" b="1" dirty="0">
                <a:solidFill>
                  <a:srgbClr val="1E3050"/>
                </a:solidFill>
                <a:latin typeface="Cambria" pitchFamily="34" charset="0"/>
                <a:ea typeface="Cambria" pitchFamily="34" charset="-122"/>
                <a:cs typeface="Cambria" pitchFamily="34" charset="-120"/>
              </a:rPr>
              <a:t>δ</a:t>
            </a:r>
            <a:endParaRPr lang="en-US" sz="11800" dirty="0"/>
          </a:p>
        </p:txBody>
      </p:sp>
      <p:sp>
        <p:nvSpPr>
          <p:cNvPr id="3" name="Text 1"/>
          <p:cNvSpPr/>
          <p:nvPr/>
        </p:nvSpPr>
        <p:spPr>
          <a:xfrm>
            <a:off x="777240" y="1828800"/>
            <a:ext cx="10607040" cy="1051560"/>
          </a:xfrm>
          <a:prstGeom prst="rect">
            <a:avLst/>
          </a:prstGeom>
          <a:noFill/>
          <a:ln/>
        </p:spPr>
        <p:txBody>
          <a:bodyPr wrap="square" lIns="0" tIns="0" rIns="0" bIns="0" rtlCol="0" anchor="ctr"/>
          <a:lstStyle/>
          <a:p>
            <a:pPr indent="0" marL="0">
              <a:buNone/>
            </a:pPr>
            <a:r>
              <a:rPr lang="en-US" sz="5600" b="1" dirty="0">
                <a:solidFill>
                  <a:srgbClr val="FFFFFF"/>
                </a:solidFill>
                <a:latin typeface="Cambria" pitchFamily="34" charset="0"/>
                <a:ea typeface="Cambria" pitchFamily="34" charset="-122"/>
                <a:cs typeface="Cambria" pitchFamily="34" charset="-120"/>
              </a:rPr>
              <a:t>GAM-Softmax</a:t>
            </a:r>
            <a:endParaRPr lang="en-US" sz="5600" dirty="0"/>
          </a:p>
        </p:txBody>
      </p:sp>
      <p:sp>
        <p:nvSpPr>
          <p:cNvPr id="4" name="Text 2"/>
          <p:cNvSpPr/>
          <p:nvPr/>
        </p:nvSpPr>
        <p:spPr>
          <a:xfrm>
            <a:off x="777240" y="2880360"/>
            <a:ext cx="10607040" cy="548640"/>
          </a:xfrm>
          <a:prstGeom prst="rect">
            <a:avLst/>
          </a:prstGeom>
          <a:noFill/>
          <a:ln/>
        </p:spPr>
        <p:txBody>
          <a:bodyPr wrap="square" lIns="0" tIns="0" rIns="0" bIns="0" rtlCol="0" anchor="ctr"/>
          <a:lstStyle/>
          <a:p>
            <a:pPr indent="0" marL="0">
              <a:buNone/>
            </a:pPr>
            <a:r>
              <a:rPr lang="en-US" sz="2500" dirty="0">
                <a:solidFill>
                  <a:srgbClr val="6FD8C9"/>
                </a:solidFill>
                <a:latin typeface="Cambria" pitchFamily="34" charset="0"/>
                <a:ea typeface="Cambria" pitchFamily="34" charset="-122"/>
                <a:cs typeface="Cambria" pitchFamily="34" charset="-120"/>
              </a:rPr>
              <a:t>Can a smarter margin beat plain cross-entropy?</a:t>
            </a:r>
            <a:endParaRPr lang="en-US" sz="2500" dirty="0"/>
          </a:p>
        </p:txBody>
      </p:sp>
      <p:sp>
        <p:nvSpPr>
          <p:cNvPr id="5" name="Shape 3"/>
          <p:cNvSpPr/>
          <p:nvPr/>
        </p:nvSpPr>
        <p:spPr>
          <a:xfrm>
            <a:off x="777240" y="3767328"/>
            <a:ext cx="4754880" cy="566928"/>
          </a:xfrm>
          <a:prstGeom prst="roundRect">
            <a:avLst>
              <a:gd name="adj" fmla="val 22581"/>
            </a:avLst>
          </a:prstGeom>
          <a:solidFill>
            <a:srgbClr val="24354F"/>
          </a:solidFill>
          <a:ln w="12700">
            <a:solidFill>
              <a:srgbClr val="35496B"/>
            </a:solidFill>
            <a:prstDash val="solid"/>
          </a:ln>
        </p:spPr>
      </p:sp>
      <p:sp>
        <p:nvSpPr>
          <p:cNvPr id="6" name="Text 4"/>
          <p:cNvSpPr/>
          <p:nvPr/>
        </p:nvSpPr>
        <p:spPr>
          <a:xfrm>
            <a:off x="777240" y="3767328"/>
            <a:ext cx="47548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p_t  −  p_j   ≥   δ</a:t>
            </a:r>
            <a:endParaRPr lang="en-US" sz="1900" dirty="0"/>
          </a:p>
        </p:txBody>
      </p:sp>
      <p:sp>
        <p:nvSpPr>
          <p:cNvPr id="7" name="Text 5"/>
          <p:cNvSpPr/>
          <p:nvPr/>
        </p:nvSpPr>
        <p:spPr>
          <a:xfrm>
            <a:off x="777240" y="4617720"/>
            <a:ext cx="10607040" cy="320040"/>
          </a:xfrm>
          <a:prstGeom prst="rect">
            <a:avLst/>
          </a:prstGeom>
          <a:noFill/>
          <a:ln/>
        </p:spPr>
        <p:txBody>
          <a:bodyPr wrap="square" lIns="0" tIns="0" rIns="0" bIns="0" rtlCol="0" anchor="ctr"/>
          <a:lstStyle/>
          <a:p>
            <a:pPr indent="0" marL="0">
              <a:buNone/>
            </a:pPr>
            <a:r>
              <a:rPr lang="en-US" sz="1450" dirty="0">
                <a:solidFill>
                  <a:srgbClr val="A9B6CC"/>
                </a:solidFill>
                <a:latin typeface="Calibri" pitchFamily="34" charset="0"/>
                <a:ea typeface="Calibri" pitchFamily="34" charset="-122"/>
                <a:cs typeface="Calibri" pitchFamily="34" charset="-120"/>
              </a:rPr>
              <a:t>Generalising the margin of AS-Softmax along class-pair, sample and time</a:t>
            </a:r>
            <a:endParaRPr lang="en-US" sz="1450" dirty="0"/>
          </a:p>
        </p:txBody>
      </p:sp>
      <p:sp>
        <p:nvSpPr>
          <p:cNvPr id="8" name="Text 6"/>
          <p:cNvSpPr/>
          <p:nvPr/>
        </p:nvSpPr>
        <p:spPr>
          <a:xfrm>
            <a:off x="777240" y="5806440"/>
            <a:ext cx="10607040" cy="320040"/>
          </a:xfrm>
          <a:prstGeom prst="rect">
            <a:avLst/>
          </a:prstGeom>
          <a:noFill/>
          <a:ln/>
        </p:spPr>
        <p:txBody>
          <a:bodyPr wrap="square" lIns="0" tIns="0" rIns="0" bIns="0" rtlCol="0" anchor="ctr"/>
          <a:lstStyle/>
          <a:p>
            <a:pPr indent="0" marL="0">
              <a:buNone/>
            </a:pPr>
            <a:r>
              <a:rPr lang="en-US" sz="1300" dirty="0">
                <a:solidFill>
                  <a:srgbClr val="7C8AA5"/>
                </a:solidFill>
                <a:latin typeface="Calibri" pitchFamily="34" charset="0"/>
                <a:ea typeface="Calibri" pitchFamily="34" charset="-122"/>
                <a:cs typeface="Calibri" pitchFamily="34" charset="-120"/>
              </a:rPr>
              <a:t>Ashish Gupta   ·   End-of-semester research report   ·   July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52238"/>
        </a:solidFill>
      </p:bgPr>
    </p:bg>
    <p:spTree>
      <p:nvGrpSpPr>
        <p:cNvPr id="1" name=""/>
        <p:cNvGrpSpPr/>
        <p:nvPr/>
      </p:nvGrpSpPr>
      <p:grpSpPr>
        <a:xfrm>
          <a:off x="0" y="0"/>
          <a:ext cx="0" cy="0"/>
          <a:chOff x="0" y="0"/>
          <a:chExt cx="0" cy="0"/>
        </a:xfrm>
      </p:grpSpPr>
      <p:sp>
        <p:nvSpPr>
          <p:cNvPr id="2" name="Text 0"/>
          <p:cNvSpPr/>
          <p:nvPr/>
        </p:nvSpPr>
        <p:spPr>
          <a:xfrm>
            <a:off x="777240" y="2148840"/>
            <a:ext cx="2011680" cy="1371600"/>
          </a:xfrm>
          <a:prstGeom prst="rect">
            <a:avLst/>
          </a:prstGeom>
          <a:noFill/>
          <a:ln/>
        </p:spPr>
        <p:txBody>
          <a:bodyPr wrap="square" lIns="0" tIns="0" rIns="0" bIns="0" rtlCol="0" anchor="ctr"/>
          <a:lstStyle/>
          <a:p>
            <a:pPr indent="0" marL="0">
              <a:buNone/>
            </a:pPr>
            <a:r>
              <a:rPr lang="en-US" sz="8400" b="1" dirty="0">
                <a:solidFill>
                  <a:srgbClr val="6FD8C9"/>
                </a:solidFill>
                <a:latin typeface="Cambria" pitchFamily="34" charset="0"/>
                <a:ea typeface="Cambria" pitchFamily="34" charset="-122"/>
                <a:cs typeface="Cambria" pitchFamily="34" charset="-120"/>
              </a:rPr>
              <a:t>01</a:t>
            </a:r>
            <a:endParaRPr lang="en-US" sz="8400" dirty="0"/>
          </a:p>
        </p:txBody>
      </p:sp>
      <p:sp>
        <p:nvSpPr>
          <p:cNvPr id="3" name="Text 1"/>
          <p:cNvSpPr/>
          <p:nvPr/>
        </p:nvSpPr>
        <p:spPr>
          <a:xfrm>
            <a:off x="2743200" y="2286000"/>
            <a:ext cx="8595360" cy="7772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Introduction</a:t>
            </a:r>
            <a:endParaRPr lang="en-US" sz="4000" dirty="0"/>
          </a:p>
        </p:txBody>
      </p:sp>
      <p:sp>
        <p:nvSpPr>
          <p:cNvPr id="4" name="Text 2"/>
          <p:cNvSpPr/>
          <p:nvPr/>
        </p:nvSpPr>
        <p:spPr>
          <a:xfrm>
            <a:off x="2788920" y="3063240"/>
            <a:ext cx="8595360" cy="365760"/>
          </a:xfrm>
          <a:prstGeom prst="rect">
            <a:avLst/>
          </a:prstGeom>
          <a:noFill/>
          <a:ln/>
        </p:spPr>
        <p:txBody>
          <a:bodyPr wrap="square" lIns="0" tIns="0" rIns="0" bIns="0" rtlCol="0" anchor="ctr"/>
          <a:lstStyle/>
          <a:p>
            <a:pPr indent="0" marL="0">
              <a:buNone/>
            </a:pPr>
            <a:r>
              <a:rPr lang="en-US" sz="1500" dirty="0">
                <a:solidFill>
                  <a:srgbClr val="A9B6CC"/>
                </a:solidFill>
                <a:latin typeface="Calibri" pitchFamily="34" charset="0"/>
                <a:ea typeface="Calibri" pitchFamily="34" charset="-122"/>
                <a:cs typeface="Calibri" pitchFamily="34" charset="-120"/>
              </a:rPr>
              <a:t>the problem and what we set out to do</a:t>
            </a:r>
            <a:endParaRPr lang="en-US" sz="1500" dirty="0"/>
          </a:p>
        </p:txBody>
      </p:sp>
      <p:sp>
        <p:nvSpPr>
          <p:cNvPr id="5" name="Shape 3"/>
          <p:cNvSpPr/>
          <p:nvPr/>
        </p:nvSpPr>
        <p:spPr>
          <a:xfrm>
            <a:off x="777240" y="5074920"/>
            <a:ext cx="2011680" cy="54864"/>
          </a:xfrm>
          <a:prstGeom prst="roundRect">
            <a:avLst>
              <a:gd name="adj" fmla="val 50000"/>
            </a:avLst>
          </a:prstGeom>
          <a:solidFill>
            <a:srgbClr val="6FD8C9"/>
          </a:solidFill>
          <a:ln w="12700">
            <a:solidFill>
              <a:srgbClr val="6FD8C9"/>
            </a:solidFill>
            <a:prstDash val="solid"/>
          </a:ln>
        </p:spPr>
      </p:sp>
      <p:sp>
        <p:nvSpPr>
          <p:cNvPr id="6" name="Text 4"/>
          <p:cNvSpPr/>
          <p:nvPr/>
        </p:nvSpPr>
        <p:spPr>
          <a:xfrm>
            <a:off x="777240" y="5230368"/>
            <a:ext cx="2103120" cy="274320"/>
          </a:xfrm>
          <a:prstGeom prst="rect">
            <a:avLst/>
          </a:prstGeom>
          <a:noFill/>
          <a:ln/>
        </p:spPr>
        <p:txBody>
          <a:bodyPr wrap="square" lIns="0" tIns="0" rIns="0" bIns="0" rtlCol="0" anchor="ctr"/>
          <a:lstStyle/>
          <a:p>
            <a:pPr indent="0" marL="0">
              <a:buNone/>
            </a:pPr>
            <a:r>
              <a:rPr lang="en-US" sz="950" b="1" dirty="0">
                <a:solidFill>
                  <a:srgbClr val="6FD8C9"/>
                </a:solidFill>
                <a:latin typeface="Calibri" pitchFamily="34" charset="0"/>
                <a:ea typeface="Calibri" pitchFamily="34" charset="-122"/>
                <a:cs typeface="Calibri" pitchFamily="34" charset="-120"/>
              </a:rPr>
              <a:t>01  Introduction</a:t>
            </a:r>
            <a:endParaRPr lang="en-US" sz="950" dirty="0"/>
          </a:p>
        </p:txBody>
      </p:sp>
      <p:sp>
        <p:nvSpPr>
          <p:cNvPr id="7" name="Shape 5"/>
          <p:cNvSpPr/>
          <p:nvPr/>
        </p:nvSpPr>
        <p:spPr>
          <a:xfrm>
            <a:off x="2990088" y="5074920"/>
            <a:ext cx="2011680" cy="54864"/>
          </a:xfrm>
          <a:prstGeom prst="roundRect">
            <a:avLst>
              <a:gd name="adj" fmla="val 50000"/>
            </a:avLst>
          </a:prstGeom>
          <a:solidFill>
            <a:srgbClr val="2E4160"/>
          </a:solidFill>
          <a:ln w="12700">
            <a:solidFill>
              <a:srgbClr val="2E4160"/>
            </a:solidFill>
            <a:prstDash val="solid"/>
          </a:ln>
        </p:spPr>
      </p:sp>
      <p:sp>
        <p:nvSpPr>
          <p:cNvPr id="8" name="Text 6"/>
          <p:cNvSpPr/>
          <p:nvPr/>
        </p:nvSpPr>
        <p:spPr>
          <a:xfrm>
            <a:off x="2990088" y="5230368"/>
            <a:ext cx="2103120" cy="274320"/>
          </a:xfrm>
          <a:prstGeom prst="rect">
            <a:avLst/>
          </a:prstGeom>
          <a:noFill/>
          <a:ln/>
        </p:spPr>
        <p:txBody>
          <a:bodyPr wrap="square" lIns="0" tIns="0" rIns="0" bIns="0" rtlCol="0" anchor="ctr"/>
          <a:lstStyle/>
          <a:p>
            <a:pPr indent="0" marL="0">
              <a:buNone/>
            </a:pPr>
            <a:r>
              <a:rPr lang="en-US" sz="950" dirty="0">
                <a:solidFill>
                  <a:srgbClr val="5A6B87"/>
                </a:solidFill>
                <a:latin typeface="Calibri" pitchFamily="34" charset="0"/>
                <a:ea typeface="Calibri" pitchFamily="34" charset="-122"/>
                <a:cs typeface="Calibri" pitchFamily="34" charset="-120"/>
              </a:rPr>
              <a:t>02  Background</a:t>
            </a:r>
            <a:endParaRPr lang="en-US" sz="950" dirty="0"/>
          </a:p>
        </p:txBody>
      </p:sp>
      <p:sp>
        <p:nvSpPr>
          <p:cNvPr id="9" name="Shape 7"/>
          <p:cNvSpPr/>
          <p:nvPr/>
        </p:nvSpPr>
        <p:spPr>
          <a:xfrm>
            <a:off x="5202936" y="5074920"/>
            <a:ext cx="2011680" cy="54864"/>
          </a:xfrm>
          <a:prstGeom prst="roundRect">
            <a:avLst>
              <a:gd name="adj" fmla="val 50000"/>
            </a:avLst>
          </a:prstGeom>
          <a:solidFill>
            <a:srgbClr val="2E4160"/>
          </a:solidFill>
          <a:ln w="12700">
            <a:solidFill>
              <a:srgbClr val="2E4160"/>
            </a:solidFill>
            <a:prstDash val="solid"/>
          </a:ln>
        </p:spPr>
      </p:sp>
      <p:sp>
        <p:nvSpPr>
          <p:cNvPr id="10" name="Text 8"/>
          <p:cNvSpPr/>
          <p:nvPr/>
        </p:nvSpPr>
        <p:spPr>
          <a:xfrm>
            <a:off x="5202936" y="5230368"/>
            <a:ext cx="2103120" cy="274320"/>
          </a:xfrm>
          <a:prstGeom prst="rect">
            <a:avLst/>
          </a:prstGeom>
          <a:noFill/>
          <a:ln/>
        </p:spPr>
        <p:txBody>
          <a:bodyPr wrap="square" lIns="0" tIns="0" rIns="0" bIns="0" rtlCol="0" anchor="ctr"/>
          <a:lstStyle/>
          <a:p>
            <a:pPr indent="0" marL="0">
              <a:buNone/>
            </a:pPr>
            <a:r>
              <a:rPr lang="en-US" sz="950" dirty="0">
                <a:solidFill>
                  <a:srgbClr val="5A6B87"/>
                </a:solidFill>
                <a:latin typeface="Calibri" pitchFamily="34" charset="0"/>
                <a:ea typeface="Calibri" pitchFamily="34" charset="-122"/>
                <a:cs typeface="Calibri" pitchFamily="34" charset="-120"/>
              </a:rPr>
              <a:t>03  Methodology</a:t>
            </a:r>
            <a:endParaRPr lang="en-US" sz="950" dirty="0"/>
          </a:p>
        </p:txBody>
      </p:sp>
      <p:sp>
        <p:nvSpPr>
          <p:cNvPr id="11" name="Shape 9"/>
          <p:cNvSpPr/>
          <p:nvPr/>
        </p:nvSpPr>
        <p:spPr>
          <a:xfrm>
            <a:off x="7415784" y="5074920"/>
            <a:ext cx="2011680" cy="54864"/>
          </a:xfrm>
          <a:prstGeom prst="roundRect">
            <a:avLst>
              <a:gd name="adj" fmla="val 50000"/>
            </a:avLst>
          </a:prstGeom>
          <a:solidFill>
            <a:srgbClr val="2E4160"/>
          </a:solidFill>
          <a:ln w="12700">
            <a:solidFill>
              <a:srgbClr val="2E4160"/>
            </a:solidFill>
            <a:prstDash val="solid"/>
          </a:ln>
        </p:spPr>
      </p:sp>
      <p:sp>
        <p:nvSpPr>
          <p:cNvPr id="12" name="Text 10"/>
          <p:cNvSpPr/>
          <p:nvPr/>
        </p:nvSpPr>
        <p:spPr>
          <a:xfrm>
            <a:off x="7415784" y="5230368"/>
            <a:ext cx="2103120" cy="274320"/>
          </a:xfrm>
          <a:prstGeom prst="rect">
            <a:avLst/>
          </a:prstGeom>
          <a:noFill/>
          <a:ln/>
        </p:spPr>
        <p:txBody>
          <a:bodyPr wrap="square" lIns="0" tIns="0" rIns="0" bIns="0" rtlCol="0" anchor="ctr"/>
          <a:lstStyle/>
          <a:p>
            <a:pPr indent="0" marL="0">
              <a:buNone/>
            </a:pPr>
            <a:r>
              <a:rPr lang="en-US" sz="950" dirty="0">
                <a:solidFill>
                  <a:srgbClr val="5A6B87"/>
                </a:solidFill>
                <a:latin typeface="Calibri" pitchFamily="34" charset="0"/>
                <a:ea typeface="Calibri" pitchFamily="34" charset="-122"/>
                <a:cs typeface="Calibri" pitchFamily="34" charset="-120"/>
              </a:rPr>
              <a:t>04  Experimentation</a:t>
            </a:r>
            <a:endParaRPr lang="en-US" sz="950" dirty="0"/>
          </a:p>
        </p:txBody>
      </p:sp>
      <p:sp>
        <p:nvSpPr>
          <p:cNvPr id="13" name="Shape 11"/>
          <p:cNvSpPr/>
          <p:nvPr/>
        </p:nvSpPr>
        <p:spPr>
          <a:xfrm>
            <a:off x="9628632" y="5074920"/>
            <a:ext cx="2011680" cy="54864"/>
          </a:xfrm>
          <a:prstGeom prst="roundRect">
            <a:avLst>
              <a:gd name="adj" fmla="val 50000"/>
            </a:avLst>
          </a:prstGeom>
          <a:solidFill>
            <a:srgbClr val="2E4160"/>
          </a:solidFill>
          <a:ln w="12700">
            <a:solidFill>
              <a:srgbClr val="2E4160"/>
            </a:solidFill>
            <a:prstDash val="solid"/>
          </a:ln>
        </p:spPr>
      </p:sp>
      <p:sp>
        <p:nvSpPr>
          <p:cNvPr id="14" name="Text 12"/>
          <p:cNvSpPr/>
          <p:nvPr/>
        </p:nvSpPr>
        <p:spPr>
          <a:xfrm>
            <a:off x="9628632" y="5230368"/>
            <a:ext cx="2103120" cy="274320"/>
          </a:xfrm>
          <a:prstGeom prst="rect">
            <a:avLst/>
          </a:prstGeom>
          <a:noFill/>
          <a:ln/>
        </p:spPr>
        <p:txBody>
          <a:bodyPr wrap="square" lIns="0" tIns="0" rIns="0" bIns="0" rtlCol="0" anchor="ctr"/>
          <a:lstStyle/>
          <a:p>
            <a:pPr indent="0" marL="0">
              <a:buNone/>
            </a:pPr>
            <a:r>
              <a:rPr lang="en-US" sz="950" dirty="0">
                <a:solidFill>
                  <a:srgbClr val="5A6B87"/>
                </a:solidFill>
                <a:latin typeface="Calibri" pitchFamily="34" charset="0"/>
                <a:ea typeface="Calibri" pitchFamily="34" charset="-122"/>
                <a:cs typeface="Calibri" pitchFamily="34" charset="-120"/>
              </a:rPr>
              <a:t>05  Results &amp; Demonstration</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64240" cy="256032"/>
          </a:xfrm>
          <a:prstGeom prst="rect">
            <a:avLst/>
          </a:prstGeom>
          <a:noFill/>
          <a:ln/>
        </p:spPr>
        <p:txBody>
          <a:bodyPr wrap="square" lIns="0" tIns="0" rIns="0" bIns="0" rtlCol="0" anchor="ctr"/>
          <a:lstStyle/>
          <a:p>
            <a:pPr indent="0" marL="0">
              <a:buNone/>
            </a:pPr>
            <a:r>
              <a:rPr lang="en-US" sz="1200" b="1" spc="200" kern="0" dirty="0">
                <a:solidFill>
                  <a:srgbClr val="12897B"/>
                </a:solidFill>
                <a:latin typeface="Calibri" pitchFamily="34" charset="0"/>
                <a:ea typeface="Calibri" pitchFamily="34" charset="-122"/>
                <a:cs typeface="Calibri" pitchFamily="34" charset="-120"/>
              </a:rPr>
              <a:t>AGENDA</a:t>
            </a:r>
            <a:endParaRPr lang="en-US" sz="1200" dirty="0"/>
          </a:p>
        </p:txBody>
      </p:sp>
      <p:sp>
        <p:nvSpPr>
          <p:cNvPr id="3" name="Text 1"/>
          <p:cNvSpPr/>
          <p:nvPr/>
        </p:nvSpPr>
        <p:spPr>
          <a:xfrm>
            <a:off x="548640" y="603504"/>
            <a:ext cx="11064240" cy="685800"/>
          </a:xfrm>
          <a:prstGeom prst="rect">
            <a:avLst/>
          </a:prstGeom>
          <a:noFill/>
          <a:ln/>
        </p:spPr>
        <p:txBody>
          <a:bodyPr wrap="square" lIns="0" tIns="0" rIns="0" bIns="0" rtlCol="0" anchor="t"/>
          <a:lstStyle/>
          <a:p>
            <a:pPr indent="0" marL="0">
              <a:buNone/>
            </a:pPr>
            <a:r>
              <a:rPr lang="en-US" sz="3200" b="1" dirty="0">
                <a:solidFill>
                  <a:srgbClr val="152238"/>
                </a:solidFill>
                <a:latin typeface="Cambria" pitchFamily="34" charset="0"/>
                <a:ea typeface="Cambria" pitchFamily="34" charset="-122"/>
                <a:cs typeface="Cambria" pitchFamily="34" charset="-120"/>
              </a:rPr>
              <a:t>What I will cover</a:t>
            </a:r>
            <a:endParaRPr lang="en-US" sz="3200" dirty="0"/>
          </a:p>
        </p:txBody>
      </p:sp>
      <p:sp>
        <p:nvSpPr>
          <p:cNvPr id="4" name="Shape 2"/>
          <p:cNvSpPr/>
          <p:nvPr/>
        </p:nvSpPr>
        <p:spPr>
          <a:xfrm>
            <a:off x="548640" y="1481328"/>
            <a:ext cx="11064240" cy="804672"/>
          </a:xfrm>
          <a:prstGeom prst="roundRect">
            <a:avLst>
              <a:gd name="adj" fmla="val 11364"/>
            </a:avLst>
          </a:prstGeom>
          <a:solidFill>
            <a:srgbClr val="FFFFFF"/>
          </a:solidFill>
          <a:ln w="12700">
            <a:solidFill>
              <a:srgbClr val="D8E0EA"/>
            </a:solidFill>
            <a:prstDash val="solid"/>
          </a:ln>
          <a:effectLst>
            <a:outerShdw sx="100000" sy="100000" kx="0" ky="0" algn="bl" rotWithShape="0" blurRad="63500" dist="25400" dir="5400000">
              <a:srgbClr val="9AA6B8">
                <a:alpha val="15000"/>
              </a:srgbClr>
            </a:outerShdw>
          </a:effectLst>
        </p:spPr>
      </p:sp>
      <p:sp>
        <p:nvSpPr>
          <p:cNvPr id="5" name="Shape 3"/>
          <p:cNvSpPr/>
          <p:nvPr/>
        </p:nvSpPr>
        <p:spPr>
          <a:xfrm>
            <a:off x="841248" y="1655064"/>
            <a:ext cx="457200" cy="457200"/>
          </a:xfrm>
          <a:prstGeom prst="ellipse">
            <a:avLst/>
          </a:prstGeom>
          <a:solidFill>
            <a:srgbClr val="152238"/>
          </a:solidFill>
          <a:ln w="12700">
            <a:solidFill>
              <a:srgbClr val="152238"/>
            </a:solidFill>
            <a:prstDash val="solid"/>
          </a:ln>
        </p:spPr>
      </p:sp>
      <p:sp>
        <p:nvSpPr>
          <p:cNvPr id="6" name="Text 4"/>
          <p:cNvSpPr/>
          <p:nvPr/>
        </p:nvSpPr>
        <p:spPr>
          <a:xfrm>
            <a:off x="841248" y="165506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7" name="Text 5"/>
          <p:cNvSpPr/>
          <p:nvPr/>
        </p:nvSpPr>
        <p:spPr>
          <a:xfrm>
            <a:off x="1444752" y="1572768"/>
            <a:ext cx="3657600" cy="320040"/>
          </a:xfrm>
          <a:prstGeom prst="rect">
            <a:avLst/>
          </a:prstGeom>
          <a:noFill/>
          <a:ln/>
        </p:spPr>
        <p:txBody>
          <a:bodyPr wrap="square" lIns="0" tIns="0" rIns="0" bIns="0" rtlCol="0" anchor="ctr"/>
          <a:lstStyle/>
          <a:p>
            <a:pPr indent="0" marL="0">
              <a:buNone/>
            </a:pPr>
            <a:r>
              <a:rPr lang="en-US" sz="1700" b="1" dirty="0">
                <a:solidFill>
                  <a:srgbClr val="152238"/>
                </a:solidFill>
                <a:latin typeface="Cambria" pitchFamily="34" charset="0"/>
                <a:ea typeface="Cambria" pitchFamily="34" charset="-122"/>
                <a:cs typeface="Cambria" pitchFamily="34" charset="-120"/>
              </a:rPr>
              <a:t>Introduction</a:t>
            </a:r>
            <a:endParaRPr lang="en-US" sz="1700" dirty="0"/>
          </a:p>
        </p:txBody>
      </p:sp>
      <p:sp>
        <p:nvSpPr>
          <p:cNvPr id="8" name="Text 6"/>
          <p:cNvSpPr/>
          <p:nvPr/>
        </p:nvSpPr>
        <p:spPr>
          <a:xfrm>
            <a:off x="1444752" y="1892808"/>
            <a:ext cx="9692640" cy="292608"/>
          </a:xfrm>
          <a:prstGeom prst="rect">
            <a:avLst/>
          </a:prstGeom>
          <a:noFill/>
          <a:ln/>
        </p:spPr>
        <p:txBody>
          <a:bodyPr wrap="square" lIns="0" tIns="0" rIns="0" bIns="0" rtlCol="0" anchor="ctr"/>
          <a:lstStyle/>
          <a:p>
            <a:pPr indent="0" marL="0">
              <a:buNone/>
            </a:pPr>
            <a:r>
              <a:rPr lang="en-US" sz="1250" dirty="0">
                <a:solidFill>
                  <a:srgbClr val="44506A"/>
                </a:solidFill>
                <a:latin typeface="Calibri" pitchFamily="34" charset="0"/>
                <a:ea typeface="Calibri" pitchFamily="34" charset="-122"/>
                <a:cs typeface="Calibri" pitchFamily="34" charset="-120"/>
              </a:rPr>
              <a:t>Why a classifier's training objective is asking for the wrong thing</a:t>
            </a:r>
            <a:endParaRPr lang="en-US" sz="1250" dirty="0"/>
          </a:p>
        </p:txBody>
      </p:sp>
      <p:sp>
        <p:nvSpPr>
          <p:cNvPr id="9" name="Shape 7"/>
          <p:cNvSpPr/>
          <p:nvPr/>
        </p:nvSpPr>
        <p:spPr>
          <a:xfrm>
            <a:off x="548640" y="2414016"/>
            <a:ext cx="11064240" cy="804672"/>
          </a:xfrm>
          <a:prstGeom prst="roundRect">
            <a:avLst>
              <a:gd name="adj" fmla="val 11364"/>
            </a:avLst>
          </a:prstGeom>
          <a:solidFill>
            <a:srgbClr val="FFFFFF"/>
          </a:solidFill>
          <a:ln w="12700">
            <a:solidFill>
              <a:srgbClr val="D8E0EA"/>
            </a:solidFill>
            <a:prstDash val="solid"/>
          </a:ln>
          <a:effectLst>
            <a:outerShdw sx="100000" sy="100000" kx="0" ky="0" algn="bl" rotWithShape="0" blurRad="63500" dist="25400" dir="5400000">
              <a:srgbClr val="9AA6B8">
                <a:alpha val="15000"/>
              </a:srgbClr>
            </a:outerShdw>
          </a:effectLst>
        </p:spPr>
      </p:sp>
      <p:sp>
        <p:nvSpPr>
          <p:cNvPr id="10" name="Shape 8"/>
          <p:cNvSpPr/>
          <p:nvPr/>
        </p:nvSpPr>
        <p:spPr>
          <a:xfrm>
            <a:off x="841248" y="2587752"/>
            <a:ext cx="457200" cy="457200"/>
          </a:xfrm>
          <a:prstGeom prst="ellipse">
            <a:avLst/>
          </a:prstGeom>
          <a:solidFill>
            <a:srgbClr val="152238"/>
          </a:solidFill>
          <a:ln w="12700">
            <a:solidFill>
              <a:srgbClr val="152238"/>
            </a:solidFill>
            <a:prstDash val="solid"/>
          </a:ln>
        </p:spPr>
      </p:sp>
      <p:sp>
        <p:nvSpPr>
          <p:cNvPr id="11" name="Text 9"/>
          <p:cNvSpPr/>
          <p:nvPr/>
        </p:nvSpPr>
        <p:spPr>
          <a:xfrm>
            <a:off x="841248" y="258775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12" name="Text 10"/>
          <p:cNvSpPr/>
          <p:nvPr/>
        </p:nvSpPr>
        <p:spPr>
          <a:xfrm>
            <a:off x="1444752" y="2505456"/>
            <a:ext cx="3657600" cy="320040"/>
          </a:xfrm>
          <a:prstGeom prst="rect">
            <a:avLst/>
          </a:prstGeom>
          <a:noFill/>
          <a:ln/>
        </p:spPr>
        <p:txBody>
          <a:bodyPr wrap="square" lIns="0" tIns="0" rIns="0" bIns="0" rtlCol="0" anchor="ctr"/>
          <a:lstStyle/>
          <a:p>
            <a:pPr indent="0" marL="0">
              <a:buNone/>
            </a:pPr>
            <a:r>
              <a:rPr lang="en-US" sz="1700" b="1" dirty="0">
                <a:solidFill>
                  <a:srgbClr val="152238"/>
                </a:solidFill>
                <a:latin typeface="Cambria" pitchFamily="34" charset="0"/>
                <a:ea typeface="Cambria" pitchFamily="34" charset="-122"/>
                <a:cs typeface="Cambria" pitchFamily="34" charset="-120"/>
              </a:rPr>
              <a:t>Background</a:t>
            </a:r>
            <a:endParaRPr lang="en-US" sz="1700" dirty="0"/>
          </a:p>
        </p:txBody>
      </p:sp>
      <p:sp>
        <p:nvSpPr>
          <p:cNvPr id="13" name="Text 11"/>
          <p:cNvSpPr/>
          <p:nvPr/>
        </p:nvSpPr>
        <p:spPr>
          <a:xfrm>
            <a:off x="1444752" y="2825496"/>
            <a:ext cx="9692640" cy="292608"/>
          </a:xfrm>
          <a:prstGeom prst="rect">
            <a:avLst/>
          </a:prstGeom>
          <a:noFill/>
          <a:ln/>
        </p:spPr>
        <p:txBody>
          <a:bodyPr wrap="square" lIns="0" tIns="0" rIns="0" bIns="0" rtlCol="0" anchor="ctr"/>
          <a:lstStyle/>
          <a:p>
            <a:pPr indent="0" marL="0">
              <a:buNone/>
            </a:pPr>
            <a:r>
              <a:rPr lang="en-US" sz="1250" dirty="0">
                <a:solidFill>
                  <a:srgbClr val="44506A"/>
                </a:solidFill>
                <a:latin typeface="Calibri" pitchFamily="34" charset="0"/>
                <a:ea typeface="Calibri" pitchFamily="34" charset="-122"/>
                <a:cs typeface="Calibri" pitchFamily="34" charset="-120"/>
              </a:rPr>
              <a:t>Softmax, cross-entropy, and AS-Softmax — the method we extend</a:t>
            </a:r>
            <a:endParaRPr lang="en-US" sz="1250" dirty="0"/>
          </a:p>
        </p:txBody>
      </p:sp>
      <p:sp>
        <p:nvSpPr>
          <p:cNvPr id="14" name="Shape 12"/>
          <p:cNvSpPr/>
          <p:nvPr/>
        </p:nvSpPr>
        <p:spPr>
          <a:xfrm>
            <a:off x="548640" y="3346704"/>
            <a:ext cx="11064240" cy="804672"/>
          </a:xfrm>
          <a:prstGeom prst="roundRect">
            <a:avLst>
              <a:gd name="adj" fmla="val 11364"/>
            </a:avLst>
          </a:prstGeom>
          <a:solidFill>
            <a:srgbClr val="FFFFFF"/>
          </a:solidFill>
          <a:ln w="12700">
            <a:solidFill>
              <a:srgbClr val="D8E0EA"/>
            </a:solidFill>
            <a:prstDash val="solid"/>
          </a:ln>
          <a:effectLst>
            <a:outerShdw sx="100000" sy="100000" kx="0" ky="0" algn="bl" rotWithShape="0" blurRad="63500" dist="25400" dir="5400000">
              <a:srgbClr val="9AA6B8">
                <a:alpha val="15000"/>
              </a:srgbClr>
            </a:outerShdw>
          </a:effectLst>
        </p:spPr>
      </p:sp>
      <p:sp>
        <p:nvSpPr>
          <p:cNvPr id="15" name="Shape 13"/>
          <p:cNvSpPr/>
          <p:nvPr/>
        </p:nvSpPr>
        <p:spPr>
          <a:xfrm>
            <a:off x="841248" y="3520440"/>
            <a:ext cx="457200" cy="457200"/>
          </a:xfrm>
          <a:prstGeom prst="ellipse">
            <a:avLst/>
          </a:prstGeom>
          <a:solidFill>
            <a:srgbClr val="152238"/>
          </a:solidFill>
          <a:ln w="12700">
            <a:solidFill>
              <a:srgbClr val="152238"/>
            </a:solidFill>
            <a:prstDash val="solid"/>
          </a:ln>
        </p:spPr>
      </p:sp>
      <p:sp>
        <p:nvSpPr>
          <p:cNvPr id="16" name="Text 14"/>
          <p:cNvSpPr/>
          <p:nvPr/>
        </p:nvSpPr>
        <p:spPr>
          <a:xfrm>
            <a:off x="841248" y="35204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17" name="Text 15"/>
          <p:cNvSpPr/>
          <p:nvPr/>
        </p:nvSpPr>
        <p:spPr>
          <a:xfrm>
            <a:off x="1444752" y="3438144"/>
            <a:ext cx="3657600" cy="320040"/>
          </a:xfrm>
          <a:prstGeom prst="rect">
            <a:avLst/>
          </a:prstGeom>
          <a:noFill/>
          <a:ln/>
        </p:spPr>
        <p:txBody>
          <a:bodyPr wrap="square" lIns="0" tIns="0" rIns="0" bIns="0" rtlCol="0" anchor="ctr"/>
          <a:lstStyle/>
          <a:p>
            <a:pPr indent="0" marL="0">
              <a:buNone/>
            </a:pPr>
            <a:r>
              <a:rPr lang="en-US" sz="1700" b="1" dirty="0">
                <a:solidFill>
                  <a:srgbClr val="152238"/>
                </a:solidFill>
                <a:latin typeface="Cambria" pitchFamily="34" charset="0"/>
                <a:ea typeface="Cambria" pitchFamily="34" charset="-122"/>
                <a:cs typeface="Cambria" pitchFamily="34" charset="-120"/>
              </a:rPr>
              <a:t>Methodology</a:t>
            </a:r>
            <a:endParaRPr lang="en-US" sz="1700" dirty="0"/>
          </a:p>
        </p:txBody>
      </p:sp>
      <p:sp>
        <p:nvSpPr>
          <p:cNvPr id="18" name="Text 16"/>
          <p:cNvSpPr/>
          <p:nvPr/>
        </p:nvSpPr>
        <p:spPr>
          <a:xfrm>
            <a:off x="1444752" y="3758184"/>
            <a:ext cx="9692640" cy="292608"/>
          </a:xfrm>
          <a:prstGeom prst="rect">
            <a:avLst/>
          </a:prstGeom>
          <a:noFill/>
          <a:ln/>
        </p:spPr>
        <p:txBody>
          <a:bodyPr wrap="square" lIns="0" tIns="0" rIns="0" bIns="0" rtlCol="0" anchor="ctr"/>
          <a:lstStyle/>
          <a:p>
            <a:pPr indent="0" marL="0">
              <a:buNone/>
            </a:pPr>
            <a:r>
              <a:rPr lang="en-US" sz="1250" dirty="0">
                <a:solidFill>
                  <a:srgbClr val="44506A"/>
                </a:solidFill>
                <a:latin typeface="Calibri" pitchFamily="34" charset="0"/>
                <a:ea typeface="Calibri" pitchFamily="34" charset="-122"/>
                <a:cs typeface="Calibri" pitchFamily="34" charset="-120"/>
              </a:rPr>
              <a:t>GAM-Softmax: making the margin adapt, and letting it go negative</a:t>
            </a:r>
            <a:endParaRPr lang="en-US" sz="1250" dirty="0"/>
          </a:p>
        </p:txBody>
      </p:sp>
      <p:sp>
        <p:nvSpPr>
          <p:cNvPr id="19" name="Shape 17"/>
          <p:cNvSpPr/>
          <p:nvPr/>
        </p:nvSpPr>
        <p:spPr>
          <a:xfrm>
            <a:off x="548640" y="4279392"/>
            <a:ext cx="11064240" cy="804672"/>
          </a:xfrm>
          <a:prstGeom prst="roundRect">
            <a:avLst>
              <a:gd name="adj" fmla="val 11364"/>
            </a:avLst>
          </a:prstGeom>
          <a:solidFill>
            <a:srgbClr val="FFFFFF"/>
          </a:solidFill>
          <a:ln w="12700">
            <a:solidFill>
              <a:srgbClr val="D8E0EA"/>
            </a:solidFill>
            <a:prstDash val="solid"/>
          </a:ln>
          <a:effectLst>
            <a:outerShdw sx="100000" sy="100000" kx="0" ky="0" algn="bl" rotWithShape="0" blurRad="63500" dist="25400" dir="5400000">
              <a:srgbClr val="9AA6B8">
                <a:alpha val="15000"/>
              </a:srgbClr>
            </a:outerShdw>
          </a:effectLst>
        </p:spPr>
      </p:sp>
      <p:sp>
        <p:nvSpPr>
          <p:cNvPr id="20" name="Shape 18"/>
          <p:cNvSpPr/>
          <p:nvPr/>
        </p:nvSpPr>
        <p:spPr>
          <a:xfrm>
            <a:off x="841248" y="4453128"/>
            <a:ext cx="457200" cy="457200"/>
          </a:xfrm>
          <a:prstGeom prst="ellipse">
            <a:avLst/>
          </a:prstGeom>
          <a:solidFill>
            <a:srgbClr val="152238"/>
          </a:solidFill>
          <a:ln w="12700">
            <a:solidFill>
              <a:srgbClr val="152238"/>
            </a:solidFill>
            <a:prstDash val="solid"/>
          </a:ln>
        </p:spPr>
      </p:sp>
      <p:sp>
        <p:nvSpPr>
          <p:cNvPr id="21" name="Text 19"/>
          <p:cNvSpPr/>
          <p:nvPr/>
        </p:nvSpPr>
        <p:spPr>
          <a:xfrm>
            <a:off x="841248" y="445312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22" name="Text 20"/>
          <p:cNvSpPr/>
          <p:nvPr/>
        </p:nvSpPr>
        <p:spPr>
          <a:xfrm>
            <a:off x="1444752" y="4370832"/>
            <a:ext cx="3657600" cy="320040"/>
          </a:xfrm>
          <a:prstGeom prst="rect">
            <a:avLst/>
          </a:prstGeom>
          <a:noFill/>
          <a:ln/>
        </p:spPr>
        <p:txBody>
          <a:bodyPr wrap="square" lIns="0" tIns="0" rIns="0" bIns="0" rtlCol="0" anchor="ctr"/>
          <a:lstStyle/>
          <a:p>
            <a:pPr indent="0" marL="0">
              <a:buNone/>
            </a:pPr>
            <a:r>
              <a:rPr lang="en-US" sz="1700" b="1" dirty="0">
                <a:solidFill>
                  <a:srgbClr val="152238"/>
                </a:solidFill>
                <a:latin typeface="Cambria" pitchFamily="34" charset="0"/>
                <a:ea typeface="Cambria" pitchFamily="34" charset="-122"/>
                <a:cs typeface="Cambria" pitchFamily="34" charset="-120"/>
              </a:rPr>
              <a:t>Experimentation</a:t>
            </a:r>
            <a:endParaRPr lang="en-US" sz="1700" dirty="0"/>
          </a:p>
        </p:txBody>
      </p:sp>
      <p:sp>
        <p:nvSpPr>
          <p:cNvPr id="23" name="Text 21"/>
          <p:cNvSpPr/>
          <p:nvPr/>
        </p:nvSpPr>
        <p:spPr>
          <a:xfrm>
            <a:off x="1444752" y="4690872"/>
            <a:ext cx="9692640" cy="292608"/>
          </a:xfrm>
          <a:prstGeom prst="rect">
            <a:avLst/>
          </a:prstGeom>
          <a:noFill/>
          <a:ln/>
        </p:spPr>
        <p:txBody>
          <a:bodyPr wrap="square" lIns="0" tIns="0" rIns="0" bIns="0" rtlCol="0" anchor="ctr"/>
          <a:lstStyle/>
          <a:p>
            <a:pPr indent="0" marL="0">
              <a:buNone/>
            </a:pPr>
            <a:r>
              <a:rPr lang="en-US" sz="1250" dirty="0">
                <a:solidFill>
                  <a:srgbClr val="44506A"/>
                </a:solidFill>
                <a:latin typeface="Calibri" pitchFamily="34" charset="0"/>
                <a:ea typeface="Calibri" pitchFamily="34" charset="-122"/>
                <a:cs typeface="Calibri" pitchFamily="34" charset="-120"/>
              </a:rPr>
              <a:t>Four clean testbeds, then one under 40% wrong labels</a:t>
            </a:r>
            <a:endParaRPr lang="en-US" sz="1250" dirty="0"/>
          </a:p>
        </p:txBody>
      </p:sp>
      <p:sp>
        <p:nvSpPr>
          <p:cNvPr id="24" name="Shape 22"/>
          <p:cNvSpPr/>
          <p:nvPr/>
        </p:nvSpPr>
        <p:spPr>
          <a:xfrm>
            <a:off x="548640" y="5212080"/>
            <a:ext cx="11064240" cy="804672"/>
          </a:xfrm>
          <a:prstGeom prst="roundRect">
            <a:avLst>
              <a:gd name="adj" fmla="val 11364"/>
            </a:avLst>
          </a:prstGeom>
          <a:solidFill>
            <a:srgbClr val="E9F5F3"/>
          </a:solidFill>
          <a:ln w="12700">
            <a:solidFill>
              <a:srgbClr val="BFE0DA"/>
            </a:solidFill>
            <a:prstDash val="solid"/>
          </a:ln>
          <a:effectLst>
            <a:outerShdw sx="100000" sy="100000" kx="0" ky="0" algn="bl" rotWithShape="0" blurRad="63500" dist="25400" dir="5400000">
              <a:srgbClr val="9AA6B8">
                <a:alpha val="15000"/>
              </a:srgbClr>
            </a:outerShdw>
          </a:effectLst>
        </p:spPr>
      </p:sp>
      <p:sp>
        <p:nvSpPr>
          <p:cNvPr id="25" name="Shape 23"/>
          <p:cNvSpPr/>
          <p:nvPr/>
        </p:nvSpPr>
        <p:spPr>
          <a:xfrm>
            <a:off x="841248" y="5385816"/>
            <a:ext cx="457200" cy="457200"/>
          </a:xfrm>
          <a:prstGeom prst="ellipse">
            <a:avLst/>
          </a:prstGeom>
          <a:solidFill>
            <a:srgbClr val="12897B"/>
          </a:solidFill>
          <a:ln w="12700">
            <a:solidFill>
              <a:srgbClr val="12897B"/>
            </a:solidFill>
            <a:prstDash val="solid"/>
          </a:ln>
        </p:spPr>
      </p:sp>
      <p:sp>
        <p:nvSpPr>
          <p:cNvPr id="26" name="Text 24"/>
          <p:cNvSpPr/>
          <p:nvPr/>
        </p:nvSpPr>
        <p:spPr>
          <a:xfrm>
            <a:off x="841248" y="538581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05</a:t>
            </a:r>
            <a:endParaRPr lang="en-US" sz="1400" dirty="0"/>
          </a:p>
        </p:txBody>
      </p:sp>
      <p:sp>
        <p:nvSpPr>
          <p:cNvPr id="27" name="Text 25"/>
          <p:cNvSpPr/>
          <p:nvPr/>
        </p:nvSpPr>
        <p:spPr>
          <a:xfrm>
            <a:off x="1444752" y="5303520"/>
            <a:ext cx="3657600" cy="320040"/>
          </a:xfrm>
          <a:prstGeom prst="rect">
            <a:avLst/>
          </a:prstGeom>
          <a:noFill/>
          <a:ln/>
        </p:spPr>
        <p:txBody>
          <a:bodyPr wrap="square" lIns="0" tIns="0" rIns="0" bIns="0" rtlCol="0" anchor="ctr"/>
          <a:lstStyle/>
          <a:p>
            <a:pPr indent="0" marL="0">
              <a:buNone/>
            </a:pPr>
            <a:r>
              <a:rPr lang="en-US" sz="1700" b="1" dirty="0">
                <a:solidFill>
                  <a:srgbClr val="152238"/>
                </a:solidFill>
                <a:latin typeface="Cambria" pitchFamily="34" charset="0"/>
                <a:ea typeface="Cambria" pitchFamily="34" charset="-122"/>
                <a:cs typeface="Cambria" pitchFamily="34" charset="-120"/>
              </a:rPr>
              <a:t>Results &amp; Demonstration</a:t>
            </a:r>
            <a:endParaRPr lang="en-US" sz="1700" dirty="0"/>
          </a:p>
        </p:txBody>
      </p:sp>
      <p:sp>
        <p:nvSpPr>
          <p:cNvPr id="28" name="Text 26"/>
          <p:cNvSpPr/>
          <p:nvPr/>
        </p:nvSpPr>
        <p:spPr>
          <a:xfrm>
            <a:off x="1444752" y="5623560"/>
            <a:ext cx="9692640" cy="292608"/>
          </a:xfrm>
          <a:prstGeom prst="rect">
            <a:avLst/>
          </a:prstGeom>
          <a:noFill/>
          <a:ln/>
        </p:spPr>
        <p:txBody>
          <a:bodyPr wrap="square" lIns="0" tIns="0" rIns="0" bIns="0" rtlCol="0" anchor="ctr"/>
          <a:lstStyle/>
          <a:p>
            <a:pPr indent="0" marL="0">
              <a:buNone/>
            </a:pPr>
            <a:r>
              <a:rPr lang="en-US" sz="1250" dirty="0">
                <a:solidFill>
                  <a:srgbClr val="44506A"/>
                </a:solidFill>
                <a:latin typeface="Calibri" pitchFamily="34" charset="0"/>
                <a:ea typeface="Calibri" pitchFamily="34" charset="-122"/>
                <a:cs typeface="Calibri" pitchFamily="34" charset="-120"/>
              </a:rPr>
              <a:t>What failed, what worked, and what we are willing to claim</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64240" cy="256032"/>
          </a:xfrm>
          <a:prstGeom prst="rect">
            <a:avLst/>
          </a:prstGeom>
          <a:noFill/>
          <a:ln/>
        </p:spPr>
        <p:txBody>
          <a:bodyPr wrap="square" lIns="0" tIns="0" rIns="0" bIns="0" rtlCol="0" anchor="ctr"/>
          <a:lstStyle/>
          <a:p>
            <a:pPr indent="0" marL="0">
              <a:buNone/>
            </a:pPr>
            <a:r>
              <a:rPr lang="en-US" sz="1200" b="1" spc="200" kern="0" dirty="0">
                <a:solidFill>
                  <a:srgbClr val="12897B"/>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03504"/>
            <a:ext cx="11064240" cy="685800"/>
          </a:xfrm>
          <a:prstGeom prst="rect">
            <a:avLst/>
          </a:prstGeom>
          <a:noFill/>
          <a:ln/>
        </p:spPr>
        <p:txBody>
          <a:bodyPr wrap="square" lIns="0" tIns="0" rIns="0" bIns="0" rtlCol="0" anchor="t"/>
          <a:lstStyle/>
          <a:p>
            <a:pPr indent="0" marL="0">
              <a:buNone/>
            </a:pPr>
            <a:r>
              <a:rPr lang="en-US" sz="3200" b="1" dirty="0">
                <a:solidFill>
                  <a:srgbClr val="152238"/>
                </a:solidFill>
                <a:latin typeface="Cambria" pitchFamily="34" charset="0"/>
                <a:ea typeface="Cambria" pitchFamily="34" charset="-122"/>
                <a:cs typeface="Cambria" pitchFamily="34" charset="-120"/>
              </a:rPr>
              <a:t>The problem, and what we set out to do</a:t>
            </a:r>
            <a:endParaRPr lang="en-US" sz="3200" dirty="0"/>
          </a:p>
        </p:txBody>
      </p:sp>
      <p:sp>
        <p:nvSpPr>
          <p:cNvPr id="4" name="Shape 2"/>
          <p:cNvSpPr/>
          <p:nvPr/>
        </p:nvSpPr>
        <p:spPr>
          <a:xfrm>
            <a:off x="548640" y="1417320"/>
            <a:ext cx="11064240" cy="1024128"/>
          </a:xfrm>
          <a:prstGeom prst="roundRect">
            <a:avLst>
              <a:gd name="adj" fmla="val 10714"/>
            </a:avLst>
          </a:prstGeom>
          <a:solidFill>
            <a:srgbClr val="FBEDEE"/>
          </a:solidFill>
          <a:ln w="12700">
            <a:solidFill>
              <a:srgbClr val="F0CFD2"/>
            </a:solidFill>
            <a:prstDash val="solid"/>
          </a:ln>
          <a:effectLst>
            <a:outerShdw sx="100000" sy="100000" kx="0" ky="0" algn="bl" rotWithShape="0" blurRad="127000" dist="25400" dir="5400000">
              <a:srgbClr val="9AA6B8">
                <a:alpha val="28000"/>
              </a:srgbClr>
            </a:outerShdw>
          </a:effectLst>
        </p:spPr>
      </p:sp>
      <p:sp>
        <p:nvSpPr>
          <p:cNvPr id="5" name="Text 3"/>
          <p:cNvSpPr/>
          <p:nvPr/>
        </p:nvSpPr>
        <p:spPr>
          <a:xfrm>
            <a:off x="868680" y="1554480"/>
            <a:ext cx="10424160" cy="274320"/>
          </a:xfrm>
          <a:prstGeom prst="rect">
            <a:avLst/>
          </a:prstGeom>
          <a:noFill/>
          <a:ln/>
        </p:spPr>
        <p:txBody>
          <a:bodyPr wrap="square" lIns="0" tIns="0" rIns="0" bIns="0" rtlCol="0" anchor="ctr"/>
          <a:lstStyle/>
          <a:p>
            <a:pPr indent="0" marL="0">
              <a:buNone/>
            </a:pPr>
            <a:r>
              <a:rPr lang="en-US" sz="1150" b="1" dirty="0">
                <a:solidFill>
                  <a:srgbClr val="C1121F"/>
                </a:solidFill>
                <a:latin typeface="Calibri" pitchFamily="34" charset="0"/>
                <a:ea typeface="Calibri" pitchFamily="34" charset="-122"/>
                <a:cs typeface="Calibri" pitchFamily="34" charset="-120"/>
              </a:rPr>
              <a:t>The observation this project starts from</a:t>
            </a:r>
            <a:endParaRPr lang="en-US" sz="1150" dirty="0"/>
          </a:p>
        </p:txBody>
      </p:sp>
      <p:sp>
        <p:nvSpPr>
          <p:cNvPr id="6" name="Text 4"/>
          <p:cNvSpPr/>
          <p:nvPr/>
        </p:nvSpPr>
        <p:spPr>
          <a:xfrm>
            <a:off x="868680" y="1847088"/>
            <a:ext cx="10424160" cy="457200"/>
          </a:xfrm>
          <a:prstGeom prst="rect">
            <a:avLst/>
          </a:prstGeom>
          <a:noFill/>
          <a:ln/>
        </p:spPr>
        <p:txBody>
          <a:bodyPr wrap="square" lIns="0" tIns="0" rIns="0" bIns="0" rtlCol="0" anchor="ctr"/>
          <a:lstStyle/>
          <a:p>
            <a:pPr indent="0" marL="0">
              <a:buNone/>
            </a:pPr>
            <a:r>
              <a:rPr lang="en-US" sz="1700" b="1" dirty="0">
                <a:solidFill>
                  <a:srgbClr val="152238"/>
                </a:solidFill>
                <a:latin typeface="Cambria" pitchFamily="34" charset="0"/>
                <a:ea typeface="Cambria" pitchFamily="34" charset="-122"/>
                <a:cs typeface="Cambria" pitchFamily="34" charset="-120"/>
              </a:rPr>
              <a:t>We train classifiers to be 100% certain on every example — but at test time we only ever ask whether the right answer came first.</a:t>
            </a:r>
            <a:endParaRPr lang="en-US" sz="1700" dirty="0"/>
          </a:p>
        </p:txBody>
      </p:sp>
      <p:sp>
        <p:nvSpPr>
          <p:cNvPr id="7" name="Shape 5"/>
          <p:cNvSpPr/>
          <p:nvPr/>
        </p:nvSpPr>
        <p:spPr>
          <a:xfrm>
            <a:off x="548640" y="2697480"/>
            <a:ext cx="3401568" cy="1965960"/>
          </a:xfrm>
          <a:prstGeom prst="roundRect">
            <a:avLst>
              <a:gd name="adj" fmla="val 5581"/>
            </a:avLst>
          </a:prstGeom>
          <a:solidFill>
            <a:srgbClr val="FFFFFF"/>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8" name="Shape 6"/>
          <p:cNvSpPr/>
          <p:nvPr/>
        </p:nvSpPr>
        <p:spPr>
          <a:xfrm>
            <a:off x="822960" y="2907792"/>
            <a:ext cx="402336" cy="402336"/>
          </a:xfrm>
          <a:prstGeom prst="ellipse">
            <a:avLst/>
          </a:prstGeom>
          <a:solidFill>
            <a:srgbClr val="12897B"/>
          </a:solidFill>
          <a:ln w="12700">
            <a:solidFill>
              <a:srgbClr val="12897B"/>
            </a:solidFill>
            <a:prstDash val="solid"/>
          </a:ln>
        </p:spPr>
      </p:sp>
      <p:sp>
        <p:nvSpPr>
          <p:cNvPr id="9" name="Text 7"/>
          <p:cNvSpPr/>
          <p:nvPr/>
        </p:nvSpPr>
        <p:spPr>
          <a:xfrm>
            <a:off x="822960" y="29077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8"/>
          <p:cNvSpPr/>
          <p:nvPr/>
        </p:nvSpPr>
        <p:spPr>
          <a:xfrm>
            <a:off x="1353312" y="2907792"/>
            <a:ext cx="2468880" cy="402336"/>
          </a:xfrm>
          <a:prstGeom prst="rect">
            <a:avLst/>
          </a:prstGeom>
          <a:noFill/>
          <a:ln/>
        </p:spPr>
        <p:txBody>
          <a:bodyPr wrap="square" lIns="0" tIns="0" rIns="0" bIns="0" rtlCol="0" anchor="ctr"/>
          <a:lstStyle/>
          <a:p>
            <a:pPr indent="0" marL="0">
              <a:buNone/>
            </a:pPr>
            <a:r>
              <a:rPr lang="en-US" sz="1550" b="1" dirty="0">
                <a:solidFill>
                  <a:srgbClr val="152238"/>
                </a:solidFill>
                <a:latin typeface="Cambria" pitchFamily="34" charset="0"/>
                <a:ea typeface="Cambria" pitchFamily="34" charset="-122"/>
                <a:cs typeface="Cambria" pitchFamily="34" charset="-120"/>
              </a:rPr>
              <a:t>Research question</a:t>
            </a:r>
            <a:endParaRPr lang="en-US" sz="1550" dirty="0"/>
          </a:p>
        </p:txBody>
      </p:sp>
      <p:sp>
        <p:nvSpPr>
          <p:cNvPr id="11" name="Text 9"/>
          <p:cNvSpPr/>
          <p:nvPr/>
        </p:nvSpPr>
        <p:spPr>
          <a:xfrm>
            <a:off x="822960" y="3456432"/>
            <a:ext cx="2852928" cy="1051560"/>
          </a:xfrm>
          <a:prstGeom prst="rect">
            <a:avLst/>
          </a:prstGeom>
          <a:noFill/>
          <a:ln/>
        </p:spPr>
        <p:txBody>
          <a:bodyPr wrap="square" lIns="0" tIns="0" rIns="0" bIns="0" rtlCol="0" anchor="ctr"/>
          <a:lstStyle/>
          <a:p>
            <a:pPr indent="0" marL="0">
              <a:lnSpc>
                <a:spcPts val="1700"/>
              </a:lnSpc>
              <a:buNone/>
            </a:pPr>
            <a:r>
              <a:rPr lang="en-US" sz="1250" dirty="0">
                <a:solidFill>
                  <a:srgbClr val="44506A"/>
                </a:solidFill>
                <a:latin typeface="Calibri" pitchFamily="34" charset="0"/>
                <a:ea typeface="Calibri" pitchFamily="34" charset="-122"/>
                <a:cs typeface="Calibri" pitchFamily="34" charset="-120"/>
              </a:rPr>
              <a:t>If a fixed margin beats “aim for 100%”, does a margin that adapts beat a fixed one?</a:t>
            </a:r>
            <a:endParaRPr lang="en-US" sz="1250" dirty="0"/>
          </a:p>
        </p:txBody>
      </p:sp>
      <p:sp>
        <p:nvSpPr>
          <p:cNvPr id="12" name="Shape 10"/>
          <p:cNvSpPr/>
          <p:nvPr/>
        </p:nvSpPr>
        <p:spPr>
          <a:xfrm>
            <a:off x="4261104" y="2697480"/>
            <a:ext cx="3401568" cy="1965960"/>
          </a:xfrm>
          <a:prstGeom prst="roundRect">
            <a:avLst>
              <a:gd name="adj" fmla="val 5581"/>
            </a:avLst>
          </a:prstGeom>
          <a:solidFill>
            <a:srgbClr val="FFFFFF"/>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13" name="Shape 11"/>
          <p:cNvSpPr/>
          <p:nvPr/>
        </p:nvSpPr>
        <p:spPr>
          <a:xfrm>
            <a:off x="4535424" y="2907792"/>
            <a:ext cx="402336" cy="402336"/>
          </a:xfrm>
          <a:prstGeom prst="ellipse">
            <a:avLst/>
          </a:prstGeom>
          <a:solidFill>
            <a:srgbClr val="3E6FA8"/>
          </a:solidFill>
          <a:ln w="12700">
            <a:solidFill>
              <a:srgbClr val="3E6FA8"/>
            </a:solidFill>
            <a:prstDash val="solid"/>
          </a:ln>
        </p:spPr>
      </p:sp>
      <p:sp>
        <p:nvSpPr>
          <p:cNvPr id="14" name="Text 12"/>
          <p:cNvSpPr/>
          <p:nvPr/>
        </p:nvSpPr>
        <p:spPr>
          <a:xfrm>
            <a:off x="4535424" y="29077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p:nvPr/>
        </p:nvSpPr>
        <p:spPr>
          <a:xfrm>
            <a:off x="5065776" y="2907792"/>
            <a:ext cx="2468880" cy="402336"/>
          </a:xfrm>
          <a:prstGeom prst="rect">
            <a:avLst/>
          </a:prstGeom>
          <a:noFill/>
          <a:ln/>
        </p:spPr>
        <p:txBody>
          <a:bodyPr wrap="square" lIns="0" tIns="0" rIns="0" bIns="0" rtlCol="0" anchor="ctr"/>
          <a:lstStyle/>
          <a:p>
            <a:pPr indent="0" marL="0">
              <a:buNone/>
            </a:pPr>
            <a:r>
              <a:rPr lang="en-US" sz="1550" b="1" dirty="0">
                <a:solidFill>
                  <a:srgbClr val="152238"/>
                </a:solidFill>
                <a:latin typeface="Cambria" pitchFamily="34" charset="0"/>
                <a:ea typeface="Cambria" pitchFamily="34" charset="-122"/>
                <a:cs typeface="Cambria" pitchFamily="34" charset="-120"/>
              </a:rPr>
              <a:t>Our approach</a:t>
            </a:r>
            <a:endParaRPr lang="en-US" sz="1550" dirty="0"/>
          </a:p>
        </p:txBody>
      </p:sp>
      <p:sp>
        <p:nvSpPr>
          <p:cNvPr id="16" name="Text 14"/>
          <p:cNvSpPr/>
          <p:nvPr/>
        </p:nvSpPr>
        <p:spPr>
          <a:xfrm>
            <a:off x="4535424" y="3456432"/>
            <a:ext cx="2852928" cy="1051560"/>
          </a:xfrm>
          <a:prstGeom prst="rect">
            <a:avLst/>
          </a:prstGeom>
          <a:noFill/>
          <a:ln/>
        </p:spPr>
        <p:txBody>
          <a:bodyPr wrap="square" lIns="0" tIns="0" rIns="0" bIns="0" rtlCol="0" anchor="ctr"/>
          <a:lstStyle/>
          <a:p>
            <a:pPr indent="0" marL="0">
              <a:lnSpc>
                <a:spcPts val="1700"/>
              </a:lnSpc>
              <a:buNone/>
            </a:pPr>
            <a:r>
              <a:rPr lang="en-US" sz="1250" dirty="0">
                <a:solidFill>
                  <a:srgbClr val="44506A"/>
                </a:solidFill>
                <a:latin typeface="Calibri" pitchFamily="34" charset="0"/>
                <a:ea typeface="Calibri" pitchFamily="34" charset="-122"/>
                <a:cs typeface="Calibri" pitchFamily="34" charset="-120"/>
              </a:rPr>
              <a:t>Let the margin vary by class pair, by example, and over training — and allow it to go negative.</a:t>
            </a:r>
            <a:endParaRPr lang="en-US" sz="1250" dirty="0"/>
          </a:p>
        </p:txBody>
      </p:sp>
      <p:sp>
        <p:nvSpPr>
          <p:cNvPr id="17" name="Shape 15"/>
          <p:cNvSpPr/>
          <p:nvPr/>
        </p:nvSpPr>
        <p:spPr>
          <a:xfrm>
            <a:off x="7973568" y="2697480"/>
            <a:ext cx="3401568" cy="1965960"/>
          </a:xfrm>
          <a:prstGeom prst="roundRect">
            <a:avLst>
              <a:gd name="adj" fmla="val 5581"/>
            </a:avLst>
          </a:prstGeom>
          <a:solidFill>
            <a:srgbClr val="FFFFFF"/>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18" name="Shape 16"/>
          <p:cNvSpPr/>
          <p:nvPr/>
        </p:nvSpPr>
        <p:spPr>
          <a:xfrm>
            <a:off x="8247888" y="2907792"/>
            <a:ext cx="402336" cy="402336"/>
          </a:xfrm>
          <a:prstGeom prst="ellipse">
            <a:avLst/>
          </a:prstGeom>
          <a:solidFill>
            <a:srgbClr val="C97B1E"/>
          </a:solidFill>
          <a:ln w="12700">
            <a:solidFill>
              <a:srgbClr val="C97B1E"/>
            </a:solidFill>
            <a:prstDash val="solid"/>
          </a:ln>
        </p:spPr>
      </p:sp>
      <p:sp>
        <p:nvSpPr>
          <p:cNvPr id="19" name="Text 17"/>
          <p:cNvSpPr/>
          <p:nvPr/>
        </p:nvSpPr>
        <p:spPr>
          <a:xfrm>
            <a:off x="8247888" y="29077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p:nvPr/>
        </p:nvSpPr>
        <p:spPr>
          <a:xfrm>
            <a:off x="8778240" y="2907792"/>
            <a:ext cx="2468880" cy="402336"/>
          </a:xfrm>
          <a:prstGeom prst="rect">
            <a:avLst/>
          </a:prstGeom>
          <a:noFill/>
          <a:ln/>
        </p:spPr>
        <p:txBody>
          <a:bodyPr wrap="square" lIns="0" tIns="0" rIns="0" bIns="0" rtlCol="0" anchor="ctr"/>
          <a:lstStyle/>
          <a:p>
            <a:pPr indent="0" marL="0">
              <a:buNone/>
            </a:pPr>
            <a:r>
              <a:rPr lang="en-US" sz="1550" b="1" dirty="0">
                <a:solidFill>
                  <a:srgbClr val="152238"/>
                </a:solidFill>
                <a:latin typeface="Cambria" pitchFamily="34" charset="0"/>
                <a:ea typeface="Cambria" pitchFamily="34" charset="-122"/>
                <a:cs typeface="Cambria" pitchFamily="34" charset="-120"/>
              </a:rPr>
              <a:t>What we deliver</a:t>
            </a:r>
            <a:endParaRPr lang="en-US" sz="1550" dirty="0"/>
          </a:p>
        </p:txBody>
      </p:sp>
      <p:sp>
        <p:nvSpPr>
          <p:cNvPr id="21" name="Text 19"/>
          <p:cNvSpPr/>
          <p:nvPr/>
        </p:nvSpPr>
        <p:spPr>
          <a:xfrm>
            <a:off x="8247888" y="3456432"/>
            <a:ext cx="2852928" cy="1051560"/>
          </a:xfrm>
          <a:prstGeom prst="rect">
            <a:avLst/>
          </a:prstGeom>
          <a:noFill/>
          <a:ln/>
        </p:spPr>
        <p:txBody>
          <a:bodyPr wrap="square" lIns="0" tIns="0" rIns="0" bIns="0" rtlCol="0" anchor="ctr"/>
          <a:lstStyle/>
          <a:p>
            <a:pPr indent="0" marL="0">
              <a:lnSpc>
                <a:spcPts val="1700"/>
              </a:lnSpc>
              <a:buNone/>
            </a:pPr>
            <a:r>
              <a:rPr lang="en-US" sz="1250" dirty="0">
                <a:solidFill>
                  <a:srgbClr val="44506A"/>
                </a:solidFill>
                <a:latin typeface="Calibri" pitchFamily="34" charset="0"/>
                <a:ea typeface="Calibri" pitchFamily="34" charset="-122"/>
                <a:cs typeface="Calibri" pitchFamily="34" charset="-120"/>
              </a:rPr>
              <a:t>A tested implementation, five testbeds, and one replicated finding — reported with its limits.</a:t>
            </a:r>
            <a:endParaRPr lang="en-US" sz="1250" dirty="0"/>
          </a:p>
        </p:txBody>
      </p:sp>
      <p:sp>
        <p:nvSpPr>
          <p:cNvPr id="22" name="Shape 20"/>
          <p:cNvSpPr/>
          <p:nvPr/>
        </p:nvSpPr>
        <p:spPr>
          <a:xfrm>
            <a:off x="548640" y="4937760"/>
            <a:ext cx="11064240" cy="1005840"/>
          </a:xfrm>
          <a:prstGeom prst="roundRect">
            <a:avLst>
              <a:gd name="adj" fmla="val 10909"/>
            </a:avLst>
          </a:prstGeom>
          <a:solidFill>
            <a:srgbClr val="152238"/>
          </a:solidFill>
          <a:ln w="12700">
            <a:solidFill>
              <a:srgbClr val="152238"/>
            </a:solidFill>
            <a:prstDash val="solid"/>
          </a:ln>
        </p:spPr>
      </p:sp>
      <p:sp>
        <p:nvSpPr>
          <p:cNvPr id="23" name="Text 21"/>
          <p:cNvSpPr/>
          <p:nvPr/>
        </p:nvSpPr>
        <p:spPr>
          <a:xfrm>
            <a:off x="868680" y="5047488"/>
            <a:ext cx="10424160" cy="274320"/>
          </a:xfrm>
          <a:prstGeom prst="rect">
            <a:avLst/>
          </a:prstGeom>
          <a:noFill/>
          <a:ln/>
        </p:spPr>
        <p:txBody>
          <a:bodyPr wrap="square" lIns="0" tIns="0" rIns="0" bIns="0" rtlCol="0" anchor="ctr"/>
          <a:lstStyle/>
          <a:p>
            <a:pPr indent="0" marL="0">
              <a:buNone/>
            </a:pPr>
            <a:r>
              <a:rPr lang="en-US" sz="1150" b="1" dirty="0">
                <a:solidFill>
                  <a:srgbClr val="6FD8C9"/>
                </a:solidFill>
                <a:latin typeface="Calibri" pitchFamily="34" charset="0"/>
                <a:ea typeface="Calibri" pitchFamily="34" charset="-122"/>
                <a:cs typeface="Calibri" pitchFamily="34" charset="-120"/>
              </a:rPr>
              <a:t>Where this ends up, so you know where I am going</a:t>
            </a:r>
            <a:endParaRPr lang="en-US" sz="1150" dirty="0"/>
          </a:p>
        </p:txBody>
      </p:sp>
      <p:sp>
        <p:nvSpPr>
          <p:cNvPr id="24" name="Text 22"/>
          <p:cNvSpPr/>
          <p:nvPr/>
        </p:nvSpPr>
        <p:spPr>
          <a:xfrm>
            <a:off x="868680" y="5340096"/>
            <a:ext cx="1042416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The accuracy hypothesis failed. The same idea turned out to be a strong defence against wrong labels — which is a different, and smaller, claim.</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52238"/>
        </a:solidFill>
      </p:bgPr>
    </p:bg>
    <p:spTree>
      <p:nvGrpSpPr>
        <p:cNvPr id="1" name=""/>
        <p:cNvGrpSpPr/>
        <p:nvPr/>
      </p:nvGrpSpPr>
      <p:grpSpPr>
        <a:xfrm>
          <a:off x="0" y="0"/>
          <a:ext cx="0" cy="0"/>
          <a:chOff x="0" y="0"/>
          <a:chExt cx="0" cy="0"/>
        </a:xfrm>
      </p:grpSpPr>
      <p:sp>
        <p:nvSpPr>
          <p:cNvPr id="2" name="Text 0"/>
          <p:cNvSpPr/>
          <p:nvPr/>
        </p:nvSpPr>
        <p:spPr>
          <a:xfrm>
            <a:off x="777240" y="2148840"/>
            <a:ext cx="2011680" cy="1371600"/>
          </a:xfrm>
          <a:prstGeom prst="rect">
            <a:avLst/>
          </a:prstGeom>
          <a:noFill/>
          <a:ln/>
        </p:spPr>
        <p:txBody>
          <a:bodyPr wrap="square" lIns="0" tIns="0" rIns="0" bIns="0" rtlCol="0" anchor="ctr"/>
          <a:lstStyle/>
          <a:p>
            <a:pPr indent="0" marL="0">
              <a:buNone/>
            </a:pPr>
            <a:r>
              <a:rPr lang="en-US" sz="8400" b="1" dirty="0">
                <a:solidFill>
                  <a:srgbClr val="6FD8C9"/>
                </a:solidFill>
                <a:latin typeface="Cambria" pitchFamily="34" charset="0"/>
                <a:ea typeface="Cambria" pitchFamily="34" charset="-122"/>
                <a:cs typeface="Cambria" pitchFamily="34" charset="-120"/>
              </a:rPr>
              <a:t>02</a:t>
            </a:r>
            <a:endParaRPr lang="en-US" sz="8400" dirty="0"/>
          </a:p>
        </p:txBody>
      </p:sp>
      <p:sp>
        <p:nvSpPr>
          <p:cNvPr id="3" name="Text 1"/>
          <p:cNvSpPr/>
          <p:nvPr/>
        </p:nvSpPr>
        <p:spPr>
          <a:xfrm>
            <a:off x="2743200" y="2286000"/>
            <a:ext cx="8595360" cy="7772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Background</a:t>
            </a:r>
            <a:endParaRPr lang="en-US" sz="4000" dirty="0"/>
          </a:p>
        </p:txBody>
      </p:sp>
      <p:sp>
        <p:nvSpPr>
          <p:cNvPr id="4" name="Text 2"/>
          <p:cNvSpPr/>
          <p:nvPr/>
        </p:nvSpPr>
        <p:spPr>
          <a:xfrm>
            <a:off x="2788920" y="3063240"/>
            <a:ext cx="8595360" cy="365760"/>
          </a:xfrm>
          <a:prstGeom prst="rect">
            <a:avLst/>
          </a:prstGeom>
          <a:noFill/>
          <a:ln/>
        </p:spPr>
        <p:txBody>
          <a:bodyPr wrap="square" lIns="0" tIns="0" rIns="0" bIns="0" rtlCol="0" anchor="ctr"/>
          <a:lstStyle/>
          <a:p>
            <a:pPr indent="0" marL="0">
              <a:buNone/>
            </a:pPr>
            <a:r>
              <a:rPr lang="en-US" sz="1500" dirty="0">
                <a:solidFill>
                  <a:srgbClr val="A9B6CC"/>
                </a:solidFill>
                <a:latin typeface="Calibri" pitchFamily="34" charset="0"/>
                <a:ea typeface="Calibri" pitchFamily="34" charset="-122"/>
                <a:cs typeface="Calibri" pitchFamily="34" charset="-120"/>
              </a:rPr>
              <a:t>softmax, cross-entropy and the paper we build on</a:t>
            </a:r>
            <a:endParaRPr lang="en-US" sz="1500" dirty="0"/>
          </a:p>
        </p:txBody>
      </p:sp>
      <p:sp>
        <p:nvSpPr>
          <p:cNvPr id="5" name="Shape 3"/>
          <p:cNvSpPr/>
          <p:nvPr/>
        </p:nvSpPr>
        <p:spPr>
          <a:xfrm>
            <a:off x="777240" y="5074920"/>
            <a:ext cx="2011680" cy="54864"/>
          </a:xfrm>
          <a:prstGeom prst="roundRect">
            <a:avLst>
              <a:gd name="adj" fmla="val 50000"/>
            </a:avLst>
          </a:prstGeom>
          <a:solidFill>
            <a:srgbClr val="2E4160"/>
          </a:solidFill>
          <a:ln w="12700">
            <a:solidFill>
              <a:srgbClr val="2E4160"/>
            </a:solidFill>
            <a:prstDash val="solid"/>
          </a:ln>
        </p:spPr>
      </p:sp>
      <p:sp>
        <p:nvSpPr>
          <p:cNvPr id="6" name="Text 4"/>
          <p:cNvSpPr/>
          <p:nvPr/>
        </p:nvSpPr>
        <p:spPr>
          <a:xfrm>
            <a:off x="777240" y="5230368"/>
            <a:ext cx="2103120" cy="274320"/>
          </a:xfrm>
          <a:prstGeom prst="rect">
            <a:avLst/>
          </a:prstGeom>
          <a:noFill/>
          <a:ln/>
        </p:spPr>
        <p:txBody>
          <a:bodyPr wrap="square" lIns="0" tIns="0" rIns="0" bIns="0" rtlCol="0" anchor="ctr"/>
          <a:lstStyle/>
          <a:p>
            <a:pPr indent="0" marL="0">
              <a:buNone/>
            </a:pPr>
            <a:r>
              <a:rPr lang="en-US" sz="950" dirty="0">
                <a:solidFill>
                  <a:srgbClr val="5A6B87"/>
                </a:solidFill>
                <a:latin typeface="Calibri" pitchFamily="34" charset="0"/>
                <a:ea typeface="Calibri" pitchFamily="34" charset="-122"/>
                <a:cs typeface="Calibri" pitchFamily="34" charset="-120"/>
              </a:rPr>
              <a:t>01  Introduction</a:t>
            </a:r>
            <a:endParaRPr lang="en-US" sz="950" dirty="0"/>
          </a:p>
        </p:txBody>
      </p:sp>
      <p:sp>
        <p:nvSpPr>
          <p:cNvPr id="7" name="Shape 5"/>
          <p:cNvSpPr/>
          <p:nvPr/>
        </p:nvSpPr>
        <p:spPr>
          <a:xfrm>
            <a:off x="2990088" y="5074920"/>
            <a:ext cx="2011680" cy="54864"/>
          </a:xfrm>
          <a:prstGeom prst="roundRect">
            <a:avLst>
              <a:gd name="adj" fmla="val 50000"/>
            </a:avLst>
          </a:prstGeom>
          <a:solidFill>
            <a:srgbClr val="6FD8C9"/>
          </a:solidFill>
          <a:ln w="12700">
            <a:solidFill>
              <a:srgbClr val="6FD8C9"/>
            </a:solidFill>
            <a:prstDash val="solid"/>
          </a:ln>
        </p:spPr>
      </p:sp>
      <p:sp>
        <p:nvSpPr>
          <p:cNvPr id="8" name="Text 6"/>
          <p:cNvSpPr/>
          <p:nvPr/>
        </p:nvSpPr>
        <p:spPr>
          <a:xfrm>
            <a:off x="2990088" y="5230368"/>
            <a:ext cx="2103120" cy="274320"/>
          </a:xfrm>
          <a:prstGeom prst="rect">
            <a:avLst/>
          </a:prstGeom>
          <a:noFill/>
          <a:ln/>
        </p:spPr>
        <p:txBody>
          <a:bodyPr wrap="square" lIns="0" tIns="0" rIns="0" bIns="0" rtlCol="0" anchor="ctr"/>
          <a:lstStyle/>
          <a:p>
            <a:pPr indent="0" marL="0">
              <a:buNone/>
            </a:pPr>
            <a:r>
              <a:rPr lang="en-US" sz="950" b="1" dirty="0">
                <a:solidFill>
                  <a:srgbClr val="6FD8C9"/>
                </a:solidFill>
                <a:latin typeface="Calibri" pitchFamily="34" charset="0"/>
                <a:ea typeface="Calibri" pitchFamily="34" charset="-122"/>
                <a:cs typeface="Calibri" pitchFamily="34" charset="-120"/>
              </a:rPr>
              <a:t>02  Background</a:t>
            </a:r>
            <a:endParaRPr lang="en-US" sz="950" dirty="0"/>
          </a:p>
        </p:txBody>
      </p:sp>
      <p:sp>
        <p:nvSpPr>
          <p:cNvPr id="9" name="Shape 7"/>
          <p:cNvSpPr/>
          <p:nvPr/>
        </p:nvSpPr>
        <p:spPr>
          <a:xfrm>
            <a:off x="5202936" y="5074920"/>
            <a:ext cx="2011680" cy="54864"/>
          </a:xfrm>
          <a:prstGeom prst="roundRect">
            <a:avLst>
              <a:gd name="adj" fmla="val 50000"/>
            </a:avLst>
          </a:prstGeom>
          <a:solidFill>
            <a:srgbClr val="2E4160"/>
          </a:solidFill>
          <a:ln w="12700">
            <a:solidFill>
              <a:srgbClr val="2E4160"/>
            </a:solidFill>
            <a:prstDash val="solid"/>
          </a:ln>
        </p:spPr>
      </p:sp>
      <p:sp>
        <p:nvSpPr>
          <p:cNvPr id="10" name="Text 8"/>
          <p:cNvSpPr/>
          <p:nvPr/>
        </p:nvSpPr>
        <p:spPr>
          <a:xfrm>
            <a:off x="5202936" y="5230368"/>
            <a:ext cx="2103120" cy="274320"/>
          </a:xfrm>
          <a:prstGeom prst="rect">
            <a:avLst/>
          </a:prstGeom>
          <a:noFill/>
          <a:ln/>
        </p:spPr>
        <p:txBody>
          <a:bodyPr wrap="square" lIns="0" tIns="0" rIns="0" bIns="0" rtlCol="0" anchor="ctr"/>
          <a:lstStyle/>
          <a:p>
            <a:pPr indent="0" marL="0">
              <a:buNone/>
            </a:pPr>
            <a:r>
              <a:rPr lang="en-US" sz="950" dirty="0">
                <a:solidFill>
                  <a:srgbClr val="5A6B87"/>
                </a:solidFill>
                <a:latin typeface="Calibri" pitchFamily="34" charset="0"/>
                <a:ea typeface="Calibri" pitchFamily="34" charset="-122"/>
                <a:cs typeface="Calibri" pitchFamily="34" charset="-120"/>
              </a:rPr>
              <a:t>03  Methodology</a:t>
            </a:r>
            <a:endParaRPr lang="en-US" sz="950" dirty="0"/>
          </a:p>
        </p:txBody>
      </p:sp>
      <p:sp>
        <p:nvSpPr>
          <p:cNvPr id="11" name="Shape 9"/>
          <p:cNvSpPr/>
          <p:nvPr/>
        </p:nvSpPr>
        <p:spPr>
          <a:xfrm>
            <a:off x="7415784" y="5074920"/>
            <a:ext cx="2011680" cy="54864"/>
          </a:xfrm>
          <a:prstGeom prst="roundRect">
            <a:avLst>
              <a:gd name="adj" fmla="val 50000"/>
            </a:avLst>
          </a:prstGeom>
          <a:solidFill>
            <a:srgbClr val="2E4160"/>
          </a:solidFill>
          <a:ln w="12700">
            <a:solidFill>
              <a:srgbClr val="2E4160"/>
            </a:solidFill>
            <a:prstDash val="solid"/>
          </a:ln>
        </p:spPr>
      </p:sp>
      <p:sp>
        <p:nvSpPr>
          <p:cNvPr id="12" name="Text 10"/>
          <p:cNvSpPr/>
          <p:nvPr/>
        </p:nvSpPr>
        <p:spPr>
          <a:xfrm>
            <a:off x="7415784" y="5230368"/>
            <a:ext cx="2103120" cy="274320"/>
          </a:xfrm>
          <a:prstGeom prst="rect">
            <a:avLst/>
          </a:prstGeom>
          <a:noFill/>
          <a:ln/>
        </p:spPr>
        <p:txBody>
          <a:bodyPr wrap="square" lIns="0" tIns="0" rIns="0" bIns="0" rtlCol="0" anchor="ctr"/>
          <a:lstStyle/>
          <a:p>
            <a:pPr indent="0" marL="0">
              <a:buNone/>
            </a:pPr>
            <a:r>
              <a:rPr lang="en-US" sz="950" dirty="0">
                <a:solidFill>
                  <a:srgbClr val="5A6B87"/>
                </a:solidFill>
                <a:latin typeface="Calibri" pitchFamily="34" charset="0"/>
                <a:ea typeface="Calibri" pitchFamily="34" charset="-122"/>
                <a:cs typeface="Calibri" pitchFamily="34" charset="-120"/>
              </a:rPr>
              <a:t>04  Experimentation</a:t>
            </a:r>
            <a:endParaRPr lang="en-US" sz="950" dirty="0"/>
          </a:p>
        </p:txBody>
      </p:sp>
      <p:sp>
        <p:nvSpPr>
          <p:cNvPr id="13" name="Shape 11"/>
          <p:cNvSpPr/>
          <p:nvPr/>
        </p:nvSpPr>
        <p:spPr>
          <a:xfrm>
            <a:off x="9628632" y="5074920"/>
            <a:ext cx="2011680" cy="54864"/>
          </a:xfrm>
          <a:prstGeom prst="roundRect">
            <a:avLst>
              <a:gd name="adj" fmla="val 50000"/>
            </a:avLst>
          </a:prstGeom>
          <a:solidFill>
            <a:srgbClr val="2E4160"/>
          </a:solidFill>
          <a:ln w="12700">
            <a:solidFill>
              <a:srgbClr val="2E4160"/>
            </a:solidFill>
            <a:prstDash val="solid"/>
          </a:ln>
        </p:spPr>
      </p:sp>
      <p:sp>
        <p:nvSpPr>
          <p:cNvPr id="14" name="Text 12"/>
          <p:cNvSpPr/>
          <p:nvPr/>
        </p:nvSpPr>
        <p:spPr>
          <a:xfrm>
            <a:off x="9628632" y="5230368"/>
            <a:ext cx="2103120" cy="274320"/>
          </a:xfrm>
          <a:prstGeom prst="rect">
            <a:avLst/>
          </a:prstGeom>
          <a:noFill/>
          <a:ln/>
        </p:spPr>
        <p:txBody>
          <a:bodyPr wrap="square" lIns="0" tIns="0" rIns="0" bIns="0" rtlCol="0" anchor="ctr"/>
          <a:lstStyle/>
          <a:p>
            <a:pPr indent="0" marL="0">
              <a:buNone/>
            </a:pPr>
            <a:r>
              <a:rPr lang="en-US" sz="950" dirty="0">
                <a:solidFill>
                  <a:srgbClr val="5A6B87"/>
                </a:solidFill>
                <a:latin typeface="Calibri" pitchFamily="34" charset="0"/>
                <a:ea typeface="Calibri" pitchFamily="34" charset="-122"/>
                <a:cs typeface="Calibri" pitchFamily="34" charset="-120"/>
              </a:rPr>
              <a:t>05  Results &amp; Demonstration</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64240" cy="256032"/>
          </a:xfrm>
          <a:prstGeom prst="rect">
            <a:avLst/>
          </a:prstGeom>
          <a:noFill/>
          <a:ln/>
        </p:spPr>
        <p:txBody>
          <a:bodyPr wrap="square" lIns="0" tIns="0" rIns="0" bIns="0" rtlCol="0" anchor="ctr"/>
          <a:lstStyle/>
          <a:p>
            <a:pPr indent="0" marL="0">
              <a:buNone/>
            </a:pPr>
            <a:r>
              <a:rPr lang="en-US" sz="1200" b="1" spc="200" kern="0" dirty="0">
                <a:solidFill>
                  <a:srgbClr val="12897B"/>
                </a:solidFill>
                <a:latin typeface="Calibri" pitchFamily="34" charset="0"/>
                <a:ea typeface="Calibri" pitchFamily="34" charset="-122"/>
                <a:cs typeface="Calibri" pitchFamily="34" charset="-120"/>
              </a:rPr>
              <a:t>BACKGROUND · THE BASICS</a:t>
            </a:r>
            <a:endParaRPr lang="en-US" sz="1200" dirty="0"/>
          </a:p>
        </p:txBody>
      </p:sp>
      <p:sp>
        <p:nvSpPr>
          <p:cNvPr id="3" name="Text 1"/>
          <p:cNvSpPr/>
          <p:nvPr/>
        </p:nvSpPr>
        <p:spPr>
          <a:xfrm>
            <a:off x="548640" y="603504"/>
            <a:ext cx="11064240" cy="685800"/>
          </a:xfrm>
          <a:prstGeom prst="rect">
            <a:avLst/>
          </a:prstGeom>
          <a:noFill/>
          <a:ln/>
        </p:spPr>
        <p:txBody>
          <a:bodyPr wrap="square" lIns="0" tIns="0" rIns="0" bIns="0" rtlCol="0" anchor="t"/>
          <a:lstStyle/>
          <a:p>
            <a:pPr indent="0" marL="0">
              <a:buNone/>
            </a:pPr>
            <a:r>
              <a:rPr lang="en-US" sz="3200" b="1" dirty="0">
                <a:solidFill>
                  <a:srgbClr val="152238"/>
                </a:solidFill>
                <a:latin typeface="Cambria" pitchFamily="34" charset="0"/>
                <a:ea typeface="Cambria" pitchFamily="34" charset="-122"/>
                <a:cs typeface="Cambria" pitchFamily="34" charset="-120"/>
              </a:rPr>
              <a:t>A classifier is a student taking a multiple-choice test</a:t>
            </a:r>
            <a:endParaRPr lang="en-US" sz="3200" dirty="0"/>
          </a:p>
        </p:txBody>
      </p:sp>
      <p:sp>
        <p:nvSpPr>
          <p:cNvPr id="4" name="Text 2"/>
          <p:cNvSpPr/>
          <p:nvPr/>
        </p:nvSpPr>
        <p:spPr>
          <a:xfrm>
            <a:off x="548640" y="1463040"/>
            <a:ext cx="5577840" cy="822960"/>
          </a:xfrm>
          <a:prstGeom prst="rect">
            <a:avLst/>
          </a:prstGeom>
          <a:noFill/>
          <a:ln/>
        </p:spPr>
        <p:txBody>
          <a:bodyPr wrap="square" lIns="0" tIns="0" rIns="0" bIns="0" rtlCol="0" anchor="ctr"/>
          <a:lstStyle/>
          <a:p>
            <a:pPr indent="0" marL="0">
              <a:lnSpc>
                <a:spcPts val="2200"/>
              </a:lnSpc>
              <a:buNone/>
            </a:pPr>
            <a:r>
              <a:rPr lang="en-US" sz="1550" dirty="0">
                <a:solidFill>
                  <a:srgbClr val="44506A"/>
                </a:solidFill>
                <a:latin typeface="Calibri" pitchFamily="34" charset="0"/>
                <a:ea typeface="Calibri" pitchFamily="34" charset="-122"/>
                <a:cs typeface="Calibri" pitchFamily="34" charset="-120"/>
              </a:rPr>
              <a:t>For every input, the model gives each possible answer a score. Softmax turns those raw scores into probabilities that add up to 100%.</a:t>
            </a:r>
            <a:endParaRPr lang="en-US" sz="1550" dirty="0"/>
          </a:p>
        </p:txBody>
      </p:sp>
      <p:sp>
        <p:nvSpPr>
          <p:cNvPr id="5" name="Shape 3"/>
          <p:cNvSpPr/>
          <p:nvPr/>
        </p:nvSpPr>
        <p:spPr>
          <a:xfrm>
            <a:off x="548640" y="2651760"/>
            <a:ext cx="5577840" cy="1828800"/>
          </a:xfrm>
          <a:prstGeom prst="roundRect">
            <a:avLst>
              <a:gd name="adj" fmla="val 6000"/>
            </a:avLst>
          </a:prstGeom>
          <a:solidFill>
            <a:srgbClr val="EEF2F7"/>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6" name="Text 4"/>
          <p:cNvSpPr/>
          <p:nvPr/>
        </p:nvSpPr>
        <p:spPr>
          <a:xfrm>
            <a:off x="822960" y="2926080"/>
            <a:ext cx="5029200" cy="274320"/>
          </a:xfrm>
          <a:prstGeom prst="rect">
            <a:avLst/>
          </a:prstGeom>
          <a:noFill/>
          <a:ln/>
        </p:spPr>
        <p:txBody>
          <a:bodyPr wrap="square" lIns="0" tIns="0" rIns="0" bIns="0" rtlCol="0" anchor="ctr"/>
          <a:lstStyle/>
          <a:p>
            <a:pPr indent="0" marL="0">
              <a:buNone/>
            </a:pPr>
            <a:r>
              <a:rPr lang="en-US" sz="1300" dirty="0">
                <a:solidFill>
                  <a:srgbClr val="8A93A6"/>
                </a:solidFill>
                <a:latin typeface="Calibri" pitchFamily="34" charset="0"/>
                <a:ea typeface="Calibri" pitchFamily="34" charset="-122"/>
                <a:cs typeface="Calibri" pitchFamily="34" charset="-120"/>
              </a:rPr>
              <a:t>The question we actually care about at test time:</a:t>
            </a:r>
            <a:endParaRPr lang="en-US" sz="1300" dirty="0"/>
          </a:p>
        </p:txBody>
      </p:sp>
      <p:sp>
        <p:nvSpPr>
          <p:cNvPr id="7" name="Text 5"/>
          <p:cNvSpPr/>
          <p:nvPr/>
        </p:nvSpPr>
        <p:spPr>
          <a:xfrm>
            <a:off x="822960" y="3337560"/>
            <a:ext cx="5029200" cy="365760"/>
          </a:xfrm>
          <a:prstGeom prst="rect">
            <a:avLst/>
          </a:prstGeom>
          <a:noFill/>
          <a:ln/>
        </p:spPr>
        <p:txBody>
          <a:bodyPr wrap="square" lIns="0" tIns="0" rIns="0" bIns="0" rtlCol="0" anchor="ctr"/>
          <a:lstStyle/>
          <a:p>
            <a:pPr indent="0" marL="0">
              <a:buNone/>
            </a:pPr>
            <a:r>
              <a:rPr lang="en-US" sz="1800" b="1" dirty="0">
                <a:solidFill>
                  <a:srgbClr val="152238"/>
                </a:solidFill>
                <a:latin typeface="Cambria" pitchFamily="34" charset="0"/>
                <a:ea typeface="Cambria" pitchFamily="34" charset="-122"/>
                <a:cs typeface="Cambria" pitchFamily="34" charset="-120"/>
              </a:rPr>
              <a:t>Is the right answer simply AHEAD of the others?</a:t>
            </a:r>
            <a:endParaRPr lang="en-US" sz="1800" dirty="0"/>
          </a:p>
        </p:txBody>
      </p:sp>
      <p:sp>
        <p:nvSpPr>
          <p:cNvPr id="8" name="Text 6"/>
          <p:cNvSpPr/>
          <p:nvPr/>
        </p:nvSpPr>
        <p:spPr>
          <a:xfrm>
            <a:off x="822960" y="3840480"/>
            <a:ext cx="5029200" cy="320040"/>
          </a:xfrm>
          <a:prstGeom prst="rect">
            <a:avLst/>
          </a:prstGeom>
          <a:noFill/>
          <a:ln/>
        </p:spPr>
        <p:txBody>
          <a:bodyPr wrap="square" lIns="0" tIns="0" rIns="0" bIns="0" rtlCol="0" anchor="ctr"/>
          <a:lstStyle/>
          <a:p>
            <a:pPr indent="0" marL="0">
              <a:buNone/>
            </a:pPr>
            <a:r>
              <a:rPr lang="en-US" sz="1500" i="1" dirty="0">
                <a:solidFill>
                  <a:srgbClr val="C1121F"/>
                </a:solidFill>
                <a:latin typeface="Calibri" pitchFamily="34" charset="0"/>
                <a:ea typeface="Calibri" pitchFamily="34" charset="-122"/>
                <a:cs typeface="Calibri" pitchFamily="34" charset="-120"/>
              </a:rPr>
              <a:t>Not: is it at 100%?</a:t>
            </a:r>
            <a:endParaRPr lang="en-US" sz="1500" dirty="0"/>
          </a:p>
        </p:txBody>
      </p:sp>
      <p:sp>
        <p:nvSpPr>
          <p:cNvPr id="9" name="Text 7"/>
          <p:cNvSpPr/>
          <p:nvPr/>
        </p:nvSpPr>
        <p:spPr>
          <a:xfrm>
            <a:off x="548640" y="4800600"/>
            <a:ext cx="5577840" cy="365760"/>
          </a:xfrm>
          <a:prstGeom prst="rect">
            <a:avLst/>
          </a:prstGeom>
          <a:noFill/>
          <a:ln/>
        </p:spPr>
        <p:txBody>
          <a:bodyPr wrap="square" lIns="0" tIns="0" rIns="0" bIns="0" rtlCol="0" anchor="ctr"/>
          <a:lstStyle/>
          <a:p>
            <a:pPr indent="0" marL="0">
              <a:buNone/>
            </a:pPr>
            <a:r>
              <a:rPr lang="en-US" sz="1350" i="1" dirty="0">
                <a:solidFill>
                  <a:srgbClr val="8A93A6"/>
                </a:solidFill>
                <a:latin typeface="Calibri" pitchFamily="34" charset="0"/>
                <a:ea typeface="Calibri" pitchFamily="34" charset="-122"/>
                <a:cs typeface="Calibri" pitchFamily="34" charset="-120"/>
              </a:rPr>
              <a:t>Remember that gap — the whole project lives there.</a:t>
            </a:r>
            <a:endParaRPr lang="en-US" sz="1350" dirty="0"/>
          </a:p>
        </p:txBody>
      </p:sp>
      <p:sp>
        <p:nvSpPr>
          <p:cNvPr id="10" name="Shape 8"/>
          <p:cNvSpPr/>
          <p:nvPr/>
        </p:nvSpPr>
        <p:spPr>
          <a:xfrm>
            <a:off x="6492240" y="1463040"/>
            <a:ext cx="5120640" cy="4069080"/>
          </a:xfrm>
          <a:prstGeom prst="roundRect">
            <a:avLst>
              <a:gd name="adj" fmla="val 2697"/>
            </a:avLst>
          </a:prstGeom>
          <a:solidFill>
            <a:srgbClr val="FFFFFF"/>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11" name="Text 9"/>
          <p:cNvSpPr/>
          <p:nvPr/>
        </p:nvSpPr>
        <p:spPr>
          <a:xfrm>
            <a:off x="6812280" y="1783080"/>
            <a:ext cx="4480560" cy="320040"/>
          </a:xfrm>
          <a:prstGeom prst="rect">
            <a:avLst/>
          </a:prstGeom>
          <a:noFill/>
          <a:ln/>
        </p:spPr>
        <p:txBody>
          <a:bodyPr wrap="square" lIns="0" tIns="0" rIns="0" bIns="0" rtlCol="0" anchor="ctr"/>
          <a:lstStyle/>
          <a:p>
            <a:pPr indent="0" marL="0">
              <a:buNone/>
            </a:pPr>
            <a:r>
              <a:rPr lang="en-US" sz="1350" i="1" dirty="0">
                <a:solidFill>
                  <a:srgbClr val="152238"/>
                </a:solidFill>
                <a:latin typeface="Calibri" pitchFamily="34" charset="0"/>
                <a:ea typeface="Calibri" pitchFamily="34" charset="-122"/>
                <a:cs typeface="Calibri" pitchFamily="34" charset="-120"/>
              </a:rPr>
              <a:t>Review: "a dull, lifeless film"</a:t>
            </a:r>
            <a:endParaRPr lang="en-US" sz="1350" dirty="0"/>
          </a:p>
        </p:txBody>
      </p:sp>
      <p:sp>
        <p:nvSpPr>
          <p:cNvPr id="12" name="Text 10"/>
          <p:cNvSpPr/>
          <p:nvPr/>
        </p:nvSpPr>
        <p:spPr>
          <a:xfrm>
            <a:off x="6812280" y="2148840"/>
            <a:ext cx="4480560" cy="274320"/>
          </a:xfrm>
          <a:prstGeom prst="rect">
            <a:avLst/>
          </a:prstGeom>
          <a:noFill/>
          <a:ln/>
        </p:spPr>
        <p:txBody>
          <a:bodyPr wrap="square" lIns="0" tIns="0" rIns="0" bIns="0" rtlCol="0" anchor="ctr"/>
          <a:lstStyle/>
          <a:p>
            <a:pPr indent="0" marL="0">
              <a:buNone/>
            </a:pPr>
            <a:r>
              <a:rPr lang="en-US" sz="1150" dirty="0">
                <a:solidFill>
                  <a:srgbClr val="8A93A6"/>
                </a:solidFill>
                <a:latin typeface="Calibri" pitchFamily="34" charset="0"/>
                <a:ea typeface="Calibri" pitchFamily="34" charset="-122"/>
                <a:cs typeface="Calibri" pitchFamily="34" charset="-120"/>
              </a:rPr>
              <a:t>The model's answer, as probabilities</a:t>
            </a:r>
            <a:endParaRPr lang="en-US" sz="1150" dirty="0"/>
          </a:p>
        </p:txBody>
      </p:sp>
      <p:sp>
        <p:nvSpPr>
          <p:cNvPr id="13" name="Text 11"/>
          <p:cNvSpPr/>
          <p:nvPr/>
        </p:nvSpPr>
        <p:spPr>
          <a:xfrm>
            <a:off x="6812280" y="2606040"/>
            <a:ext cx="1325880" cy="274320"/>
          </a:xfrm>
          <a:prstGeom prst="rect">
            <a:avLst/>
          </a:prstGeom>
          <a:noFill/>
          <a:ln/>
        </p:spPr>
        <p:txBody>
          <a:bodyPr wrap="square" lIns="0" tIns="0" rIns="0" bIns="0" rtlCol="0" anchor="ctr"/>
          <a:lstStyle/>
          <a:p>
            <a:pPr indent="0" marL="0">
              <a:buNone/>
            </a:pPr>
            <a:r>
              <a:rPr lang="en-US" sz="1200" dirty="0">
                <a:solidFill>
                  <a:srgbClr val="44506A"/>
                </a:solidFill>
                <a:latin typeface="Calibri" pitchFamily="34" charset="0"/>
                <a:ea typeface="Calibri" pitchFamily="34" charset="-122"/>
                <a:cs typeface="Calibri" pitchFamily="34" charset="-120"/>
              </a:rPr>
              <a:t>very negative</a:t>
            </a:r>
            <a:endParaRPr lang="en-US" sz="1200" dirty="0"/>
          </a:p>
        </p:txBody>
      </p:sp>
      <p:sp>
        <p:nvSpPr>
          <p:cNvPr id="14" name="Shape 12"/>
          <p:cNvSpPr/>
          <p:nvPr/>
        </p:nvSpPr>
        <p:spPr>
          <a:xfrm>
            <a:off x="8183880" y="2651760"/>
            <a:ext cx="2423160" cy="201168"/>
          </a:xfrm>
          <a:prstGeom prst="roundRect">
            <a:avLst>
              <a:gd name="adj" fmla="val 50000"/>
            </a:avLst>
          </a:prstGeom>
          <a:solidFill>
            <a:srgbClr val="E3E8EF"/>
          </a:solidFill>
          <a:ln w="12700">
            <a:solidFill>
              <a:srgbClr val="E3E8EF"/>
            </a:solidFill>
            <a:prstDash val="solid"/>
          </a:ln>
        </p:spPr>
      </p:sp>
      <p:sp>
        <p:nvSpPr>
          <p:cNvPr id="15" name="Shape 13"/>
          <p:cNvSpPr/>
          <p:nvPr/>
        </p:nvSpPr>
        <p:spPr>
          <a:xfrm>
            <a:off x="8183880" y="2651760"/>
            <a:ext cx="2221230" cy="201168"/>
          </a:xfrm>
          <a:prstGeom prst="roundRect">
            <a:avLst>
              <a:gd name="adj" fmla="val 50000"/>
            </a:avLst>
          </a:prstGeom>
          <a:solidFill>
            <a:srgbClr val="12897B"/>
          </a:solidFill>
          <a:ln w="12700">
            <a:solidFill>
              <a:srgbClr val="12897B"/>
            </a:solidFill>
            <a:prstDash val="solid"/>
          </a:ln>
        </p:spPr>
      </p:sp>
      <p:sp>
        <p:nvSpPr>
          <p:cNvPr id="16" name="Text 14"/>
          <p:cNvSpPr/>
          <p:nvPr/>
        </p:nvSpPr>
        <p:spPr>
          <a:xfrm>
            <a:off x="10661904" y="2606040"/>
            <a:ext cx="640080" cy="274320"/>
          </a:xfrm>
          <a:prstGeom prst="rect">
            <a:avLst/>
          </a:prstGeom>
          <a:noFill/>
          <a:ln/>
        </p:spPr>
        <p:txBody>
          <a:bodyPr wrap="square" lIns="0" tIns="0" rIns="0" bIns="0" rtlCol="0" anchor="ctr"/>
          <a:lstStyle/>
          <a:p>
            <a:pPr indent="0" marL="0">
              <a:buNone/>
            </a:pPr>
            <a:r>
              <a:rPr lang="en-US" sz="1150" b="1" dirty="0">
                <a:solidFill>
                  <a:srgbClr val="44506A"/>
                </a:solidFill>
                <a:latin typeface="Calibri" pitchFamily="34" charset="0"/>
                <a:ea typeface="Calibri" pitchFamily="34" charset="-122"/>
                <a:cs typeface="Calibri" pitchFamily="34" charset="-120"/>
              </a:rPr>
              <a:t>55%</a:t>
            </a:r>
            <a:endParaRPr lang="en-US" sz="1150" dirty="0"/>
          </a:p>
        </p:txBody>
      </p:sp>
      <p:sp>
        <p:nvSpPr>
          <p:cNvPr id="17" name="Text 15"/>
          <p:cNvSpPr/>
          <p:nvPr/>
        </p:nvSpPr>
        <p:spPr>
          <a:xfrm>
            <a:off x="6812280" y="3118104"/>
            <a:ext cx="1325880" cy="274320"/>
          </a:xfrm>
          <a:prstGeom prst="rect">
            <a:avLst/>
          </a:prstGeom>
          <a:noFill/>
          <a:ln/>
        </p:spPr>
        <p:txBody>
          <a:bodyPr wrap="square" lIns="0" tIns="0" rIns="0" bIns="0" rtlCol="0" anchor="ctr"/>
          <a:lstStyle/>
          <a:p>
            <a:pPr indent="0" marL="0">
              <a:buNone/>
            </a:pPr>
            <a:r>
              <a:rPr lang="en-US" sz="1200" dirty="0">
                <a:solidFill>
                  <a:srgbClr val="44506A"/>
                </a:solidFill>
                <a:latin typeface="Calibri" pitchFamily="34" charset="0"/>
                <a:ea typeface="Calibri" pitchFamily="34" charset="-122"/>
                <a:cs typeface="Calibri" pitchFamily="34" charset="-120"/>
              </a:rPr>
              <a:t>negative</a:t>
            </a:r>
            <a:endParaRPr lang="en-US" sz="1200" dirty="0"/>
          </a:p>
        </p:txBody>
      </p:sp>
      <p:sp>
        <p:nvSpPr>
          <p:cNvPr id="18" name="Shape 16"/>
          <p:cNvSpPr/>
          <p:nvPr/>
        </p:nvSpPr>
        <p:spPr>
          <a:xfrm>
            <a:off x="8183880" y="3163824"/>
            <a:ext cx="2423160" cy="201168"/>
          </a:xfrm>
          <a:prstGeom prst="roundRect">
            <a:avLst>
              <a:gd name="adj" fmla="val 50000"/>
            </a:avLst>
          </a:prstGeom>
          <a:solidFill>
            <a:srgbClr val="E3E8EF"/>
          </a:solidFill>
          <a:ln w="12700">
            <a:solidFill>
              <a:srgbClr val="E3E8EF"/>
            </a:solidFill>
            <a:prstDash val="solid"/>
          </a:ln>
        </p:spPr>
      </p:sp>
      <p:sp>
        <p:nvSpPr>
          <p:cNvPr id="19" name="Shape 17"/>
          <p:cNvSpPr/>
          <p:nvPr/>
        </p:nvSpPr>
        <p:spPr>
          <a:xfrm>
            <a:off x="8183880" y="3163824"/>
            <a:ext cx="1130808" cy="201168"/>
          </a:xfrm>
          <a:prstGeom prst="roundRect">
            <a:avLst>
              <a:gd name="adj" fmla="val 50000"/>
            </a:avLst>
          </a:prstGeom>
          <a:solidFill>
            <a:srgbClr val="9AA6B8"/>
          </a:solidFill>
          <a:ln w="12700">
            <a:solidFill>
              <a:srgbClr val="9AA6B8"/>
            </a:solidFill>
            <a:prstDash val="solid"/>
          </a:ln>
        </p:spPr>
      </p:sp>
      <p:sp>
        <p:nvSpPr>
          <p:cNvPr id="20" name="Text 18"/>
          <p:cNvSpPr/>
          <p:nvPr/>
        </p:nvSpPr>
        <p:spPr>
          <a:xfrm>
            <a:off x="10661904" y="3118104"/>
            <a:ext cx="640080" cy="274320"/>
          </a:xfrm>
          <a:prstGeom prst="rect">
            <a:avLst/>
          </a:prstGeom>
          <a:noFill/>
          <a:ln/>
        </p:spPr>
        <p:txBody>
          <a:bodyPr wrap="square" lIns="0" tIns="0" rIns="0" bIns="0" rtlCol="0" anchor="ctr"/>
          <a:lstStyle/>
          <a:p>
            <a:pPr indent="0" marL="0">
              <a:buNone/>
            </a:pPr>
            <a:r>
              <a:rPr lang="en-US" sz="1150" b="1" dirty="0">
                <a:solidFill>
                  <a:srgbClr val="44506A"/>
                </a:solidFill>
                <a:latin typeface="Calibri" pitchFamily="34" charset="0"/>
                <a:ea typeface="Calibri" pitchFamily="34" charset="-122"/>
                <a:cs typeface="Calibri" pitchFamily="34" charset="-120"/>
              </a:rPr>
              <a:t>28%</a:t>
            </a:r>
            <a:endParaRPr lang="en-US" sz="1150" dirty="0"/>
          </a:p>
        </p:txBody>
      </p:sp>
      <p:sp>
        <p:nvSpPr>
          <p:cNvPr id="21" name="Text 19"/>
          <p:cNvSpPr/>
          <p:nvPr/>
        </p:nvSpPr>
        <p:spPr>
          <a:xfrm>
            <a:off x="6812280" y="3630168"/>
            <a:ext cx="1325880" cy="274320"/>
          </a:xfrm>
          <a:prstGeom prst="rect">
            <a:avLst/>
          </a:prstGeom>
          <a:noFill/>
          <a:ln/>
        </p:spPr>
        <p:txBody>
          <a:bodyPr wrap="square" lIns="0" tIns="0" rIns="0" bIns="0" rtlCol="0" anchor="ctr"/>
          <a:lstStyle/>
          <a:p>
            <a:pPr indent="0" marL="0">
              <a:buNone/>
            </a:pPr>
            <a:r>
              <a:rPr lang="en-US" sz="1200" dirty="0">
                <a:solidFill>
                  <a:srgbClr val="44506A"/>
                </a:solidFill>
                <a:latin typeface="Calibri" pitchFamily="34" charset="0"/>
                <a:ea typeface="Calibri" pitchFamily="34" charset="-122"/>
                <a:cs typeface="Calibri" pitchFamily="34" charset="-120"/>
              </a:rPr>
              <a:t>neutral</a:t>
            </a:r>
            <a:endParaRPr lang="en-US" sz="1200" dirty="0"/>
          </a:p>
        </p:txBody>
      </p:sp>
      <p:sp>
        <p:nvSpPr>
          <p:cNvPr id="22" name="Shape 20"/>
          <p:cNvSpPr/>
          <p:nvPr/>
        </p:nvSpPr>
        <p:spPr>
          <a:xfrm>
            <a:off x="8183880" y="3675888"/>
            <a:ext cx="2423160" cy="201168"/>
          </a:xfrm>
          <a:prstGeom prst="roundRect">
            <a:avLst>
              <a:gd name="adj" fmla="val 50000"/>
            </a:avLst>
          </a:prstGeom>
          <a:solidFill>
            <a:srgbClr val="E3E8EF"/>
          </a:solidFill>
          <a:ln w="12700">
            <a:solidFill>
              <a:srgbClr val="E3E8EF"/>
            </a:solidFill>
            <a:prstDash val="solid"/>
          </a:ln>
        </p:spPr>
      </p:sp>
      <p:sp>
        <p:nvSpPr>
          <p:cNvPr id="23" name="Shape 21"/>
          <p:cNvSpPr/>
          <p:nvPr/>
        </p:nvSpPr>
        <p:spPr>
          <a:xfrm>
            <a:off x="8183880" y="3675888"/>
            <a:ext cx="444246" cy="201168"/>
          </a:xfrm>
          <a:prstGeom prst="roundRect">
            <a:avLst>
              <a:gd name="adj" fmla="val 50000"/>
            </a:avLst>
          </a:prstGeom>
          <a:solidFill>
            <a:srgbClr val="9AA6B8"/>
          </a:solidFill>
          <a:ln w="12700">
            <a:solidFill>
              <a:srgbClr val="9AA6B8"/>
            </a:solidFill>
            <a:prstDash val="solid"/>
          </a:ln>
        </p:spPr>
      </p:sp>
      <p:sp>
        <p:nvSpPr>
          <p:cNvPr id="24" name="Text 22"/>
          <p:cNvSpPr/>
          <p:nvPr/>
        </p:nvSpPr>
        <p:spPr>
          <a:xfrm>
            <a:off x="10661904" y="3630168"/>
            <a:ext cx="640080" cy="274320"/>
          </a:xfrm>
          <a:prstGeom prst="rect">
            <a:avLst/>
          </a:prstGeom>
          <a:noFill/>
          <a:ln/>
        </p:spPr>
        <p:txBody>
          <a:bodyPr wrap="square" lIns="0" tIns="0" rIns="0" bIns="0" rtlCol="0" anchor="ctr"/>
          <a:lstStyle/>
          <a:p>
            <a:pPr indent="0" marL="0">
              <a:buNone/>
            </a:pPr>
            <a:r>
              <a:rPr lang="en-US" sz="1150" b="1" dirty="0">
                <a:solidFill>
                  <a:srgbClr val="44506A"/>
                </a:solidFill>
                <a:latin typeface="Calibri" pitchFamily="34" charset="0"/>
                <a:ea typeface="Calibri" pitchFamily="34" charset="-122"/>
                <a:cs typeface="Calibri" pitchFamily="34" charset="-120"/>
              </a:rPr>
              <a:t>11%</a:t>
            </a:r>
            <a:endParaRPr lang="en-US" sz="1150" dirty="0"/>
          </a:p>
        </p:txBody>
      </p:sp>
      <p:sp>
        <p:nvSpPr>
          <p:cNvPr id="25" name="Text 23"/>
          <p:cNvSpPr/>
          <p:nvPr/>
        </p:nvSpPr>
        <p:spPr>
          <a:xfrm>
            <a:off x="6812280" y="4142232"/>
            <a:ext cx="1325880" cy="274320"/>
          </a:xfrm>
          <a:prstGeom prst="rect">
            <a:avLst/>
          </a:prstGeom>
          <a:noFill/>
          <a:ln/>
        </p:spPr>
        <p:txBody>
          <a:bodyPr wrap="square" lIns="0" tIns="0" rIns="0" bIns="0" rtlCol="0" anchor="ctr"/>
          <a:lstStyle/>
          <a:p>
            <a:pPr indent="0" marL="0">
              <a:buNone/>
            </a:pPr>
            <a:r>
              <a:rPr lang="en-US" sz="1200" dirty="0">
                <a:solidFill>
                  <a:srgbClr val="44506A"/>
                </a:solidFill>
                <a:latin typeface="Calibri" pitchFamily="34" charset="0"/>
                <a:ea typeface="Calibri" pitchFamily="34" charset="-122"/>
                <a:cs typeface="Calibri" pitchFamily="34" charset="-120"/>
              </a:rPr>
              <a:t>positive</a:t>
            </a:r>
            <a:endParaRPr lang="en-US" sz="1200" dirty="0"/>
          </a:p>
        </p:txBody>
      </p:sp>
      <p:sp>
        <p:nvSpPr>
          <p:cNvPr id="26" name="Shape 24"/>
          <p:cNvSpPr/>
          <p:nvPr/>
        </p:nvSpPr>
        <p:spPr>
          <a:xfrm>
            <a:off x="8183880" y="4187952"/>
            <a:ext cx="2423160" cy="201168"/>
          </a:xfrm>
          <a:prstGeom prst="roundRect">
            <a:avLst>
              <a:gd name="adj" fmla="val 50000"/>
            </a:avLst>
          </a:prstGeom>
          <a:solidFill>
            <a:srgbClr val="E3E8EF"/>
          </a:solidFill>
          <a:ln w="12700">
            <a:solidFill>
              <a:srgbClr val="E3E8EF"/>
            </a:solidFill>
            <a:prstDash val="solid"/>
          </a:ln>
        </p:spPr>
      </p:sp>
      <p:sp>
        <p:nvSpPr>
          <p:cNvPr id="27" name="Shape 25"/>
          <p:cNvSpPr/>
          <p:nvPr/>
        </p:nvSpPr>
        <p:spPr>
          <a:xfrm>
            <a:off x="8183880" y="4187952"/>
            <a:ext cx="161544" cy="201168"/>
          </a:xfrm>
          <a:prstGeom prst="roundRect">
            <a:avLst>
              <a:gd name="adj" fmla="val 62264"/>
            </a:avLst>
          </a:prstGeom>
          <a:solidFill>
            <a:srgbClr val="9AA6B8"/>
          </a:solidFill>
          <a:ln w="12700">
            <a:solidFill>
              <a:srgbClr val="9AA6B8"/>
            </a:solidFill>
            <a:prstDash val="solid"/>
          </a:ln>
        </p:spPr>
      </p:sp>
      <p:sp>
        <p:nvSpPr>
          <p:cNvPr id="28" name="Text 26"/>
          <p:cNvSpPr/>
          <p:nvPr/>
        </p:nvSpPr>
        <p:spPr>
          <a:xfrm>
            <a:off x="10661904" y="4142232"/>
            <a:ext cx="640080" cy="274320"/>
          </a:xfrm>
          <a:prstGeom prst="rect">
            <a:avLst/>
          </a:prstGeom>
          <a:noFill/>
          <a:ln/>
        </p:spPr>
        <p:txBody>
          <a:bodyPr wrap="square" lIns="0" tIns="0" rIns="0" bIns="0" rtlCol="0" anchor="ctr"/>
          <a:lstStyle/>
          <a:p>
            <a:pPr indent="0" marL="0">
              <a:buNone/>
            </a:pPr>
            <a:r>
              <a:rPr lang="en-US" sz="1150" b="1" dirty="0">
                <a:solidFill>
                  <a:srgbClr val="44506A"/>
                </a:solidFill>
                <a:latin typeface="Calibri" pitchFamily="34" charset="0"/>
                <a:ea typeface="Calibri" pitchFamily="34" charset="-122"/>
                <a:cs typeface="Calibri" pitchFamily="34" charset="-120"/>
              </a:rPr>
              <a:t>4%</a:t>
            </a:r>
            <a:endParaRPr lang="en-US" sz="1150" dirty="0"/>
          </a:p>
        </p:txBody>
      </p:sp>
      <p:sp>
        <p:nvSpPr>
          <p:cNvPr id="29" name="Text 27"/>
          <p:cNvSpPr/>
          <p:nvPr/>
        </p:nvSpPr>
        <p:spPr>
          <a:xfrm>
            <a:off x="6812280" y="4654296"/>
            <a:ext cx="1325880" cy="274320"/>
          </a:xfrm>
          <a:prstGeom prst="rect">
            <a:avLst/>
          </a:prstGeom>
          <a:noFill/>
          <a:ln/>
        </p:spPr>
        <p:txBody>
          <a:bodyPr wrap="square" lIns="0" tIns="0" rIns="0" bIns="0" rtlCol="0" anchor="ctr"/>
          <a:lstStyle/>
          <a:p>
            <a:pPr indent="0" marL="0">
              <a:buNone/>
            </a:pPr>
            <a:r>
              <a:rPr lang="en-US" sz="1200" dirty="0">
                <a:solidFill>
                  <a:srgbClr val="44506A"/>
                </a:solidFill>
                <a:latin typeface="Calibri" pitchFamily="34" charset="0"/>
                <a:ea typeface="Calibri" pitchFamily="34" charset="-122"/>
                <a:cs typeface="Calibri" pitchFamily="34" charset="-120"/>
              </a:rPr>
              <a:t>very positive</a:t>
            </a:r>
            <a:endParaRPr lang="en-US" sz="1200" dirty="0"/>
          </a:p>
        </p:txBody>
      </p:sp>
      <p:sp>
        <p:nvSpPr>
          <p:cNvPr id="30" name="Shape 28"/>
          <p:cNvSpPr/>
          <p:nvPr/>
        </p:nvSpPr>
        <p:spPr>
          <a:xfrm>
            <a:off x="8183880" y="4700016"/>
            <a:ext cx="2423160" cy="201168"/>
          </a:xfrm>
          <a:prstGeom prst="roundRect">
            <a:avLst>
              <a:gd name="adj" fmla="val 50000"/>
            </a:avLst>
          </a:prstGeom>
          <a:solidFill>
            <a:srgbClr val="E3E8EF"/>
          </a:solidFill>
          <a:ln w="12700">
            <a:solidFill>
              <a:srgbClr val="E3E8EF"/>
            </a:solidFill>
            <a:prstDash val="solid"/>
          </a:ln>
        </p:spPr>
      </p:sp>
      <p:sp>
        <p:nvSpPr>
          <p:cNvPr id="31" name="Shape 29"/>
          <p:cNvSpPr/>
          <p:nvPr/>
        </p:nvSpPr>
        <p:spPr>
          <a:xfrm>
            <a:off x="8183880" y="4700016"/>
            <a:ext cx="80772" cy="201168"/>
          </a:xfrm>
          <a:prstGeom prst="roundRect">
            <a:avLst>
              <a:gd name="adj" fmla="val 124528"/>
            </a:avLst>
          </a:prstGeom>
          <a:solidFill>
            <a:srgbClr val="9AA6B8"/>
          </a:solidFill>
          <a:ln w="12700">
            <a:solidFill>
              <a:srgbClr val="9AA6B8"/>
            </a:solidFill>
            <a:prstDash val="solid"/>
          </a:ln>
        </p:spPr>
      </p:sp>
      <p:sp>
        <p:nvSpPr>
          <p:cNvPr id="32" name="Text 30"/>
          <p:cNvSpPr/>
          <p:nvPr/>
        </p:nvSpPr>
        <p:spPr>
          <a:xfrm>
            <a:off x="10661904" y="4654296"/>
            <a:ext cx="640080" cy="274320"/>
          </a:xfrm>
          <a:prstGeom prst="rect">
            <a:avLst/>
          </a:prstGeom>
          <a:noFill/>
          <a:ln/>
        </p:spPr>
        <p:txBody>
          <a:bodyPr wrap="square" lIns="0" tIns="0" rIns="0" bIns="0" rtlCol="0" anchor="ctr"/>
          <a:lstStyle/>
          <a:p>
            <a:pPr indent="0" marL="0">
              <a:buNone/>
            </a:pPr>
            <a:r>
              <a:rPr lang="en-US" sz="1150" b="1" dirty="0">
                <a:solidFill>
                  <a:srgbClr val="44506A"/>
                </a:solidFill>
                <a:latin typeface="Calibri" pitchFamily="34" charset="0"/>
                <a:ea typeface="Calibri" pitchFamily="34" charset="-122"/>
                <a:cs typeface="Calibri" pitchFamily="34" charset="-120"/>
              </a:rPr>
              <a:t>2%</a:t>
            </a:r>
            <a:endParaRPr lang="en-US" sz="1150" dirty="0"/>
          </a:p>
        </p:txBody>
      </p:sp>
      <p:sp>
        <p:nvSpPr>
          <p:cNvPr id="33" name="Text 31"/>
          <p:cNvSpPr/>
          <p:nvPr/>
        </p:nvSpPr>
        <p:spPr>
          <a:xfrm>
            <a:off x="6812280" y="5120640"/>
            <a:ext cx="4480560" cy="274320"/>
          </a:xfrm>
          <a:prstGeom prst="rect">
            <a:avLst/>
          </a:prstGeom>
          <a:noFill/>
          <a:ln/>
        </p:spPr>
        <p:txBody>
          <a:bodyPr wrap="square" lIns="0" tIns="0" rIns="0" bIns="0" rtlCol="0" anchor="ctr"/>
          <a:lstStyle/>
          <a:p>
            <a:pPr indent="0" marL="0">
              <a:buNone/>
            </a:pPr>
            <a:r>
              <a:rPr lang="en-US" sz="1200" b="1" dirty="0">
                <a:solidFill>
                  <a:srgbClr val="12897B"/>
                </a:solidFill>
                <a:latin typeface="Calibri" pitchFamily="34" charset="0"/>
                <a:ea typeface="Calibri" pitchFamily="34" charset="-122"/>
                <a:cs typeface="Calibri" pitchFamily="34" charset="-120"/>
              </a:rPr>
              <a:t>It is already right — the top answer is ahead.</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64240" cy="256032"/>
          </a:xfrm>
          <a:prstGeom prst="rect">
            <a:avLst/>
          </a:prstGeom>
          <a:noFill/>
          <a:ln/>
        </p:spPr>
        <p:txBody>
          <a:bodyPr wrap="square" lIns="0" tIns="0" rIns="0" bIns="0" rtlCol="0" anchor="ctr"/>
          <a:lstStyle/>
          <a:p>
            <a:pPr indent="0" marL="0">
              <a:buNone/>
            </a:pPr>
            <a:r>
              <a:rPr lang="en-US" sz="1200" b="1" spc="200" kern="0" dirty="0">
                <a:solidFill>
                  <a:srgbClr val="12897B"/>
                </a:solidFill>
                <a:latin typeface="Calibri" pitchFamily="34" charset="0"/>
                <a:ea typeface="Calibri" pitchFamily="34" charset="-122"/>
                <a:cs typeface="Calibri" pitchFamily="34" charset="-120"/>
              </a:rPr>
              <a:t>BACKGROUND · THE PROBLEM</a:t>
            </a:r>
            <a:endParaRPr lang="en-US" sz="1200" dirty="0"/>
          </a:p>
        </p:txBody>
      </p:sp>
      <p:sp>
        <p:nvSpPr>
          <p:cNvPr id="3" name="Text 1"/>
          <p:cNvSpPr/>
          <p:nvPr/>
        </p:nvSpPr>
        <p:spPr>
          <a:xfrm>
            <a:off x="548640" y="603504"/>
            <a:ext cx="11064240" cy="685800"/>
          </a:xfrm>
          <a:prstGeom prst="rect">
            <a:avLst/>
          </a:prstGeom>
          <a:noFill/>
          <a:ln/>
        </p:spPr>
        <p:txBody>
          <a:bodyPr wrap="square" lIns="0" tIns="0" rIns="0" bIns="0" rtlCol="0" anchor="t"/>
          <a:lstStyle/>
          <a:p>
            <a:pPr indent="0" marL="0">
              <a:buNone/>
            </a:pPr>
            <a:r>
              <a:rPr lang="en-US" sz="3200" b="1" dirty="0">
                <a:solidFill>
                  <a:srgbClr val="152238"/>
                </a:solidFill>
                <a:latin typeface="Cambria" pitchFamily="34" charset="0"/>
                <a:ea typeface="Cambria" pitchFamily="34" charset="-122"/>
                <a:cs typeface="Cambria" pitchFamily="34" charset="-120"/>
              </a:rPr>
              <a:t>But normal training demands 100% — forever</a:t>
            </a:r>
            <a:endParaRPr lang="en-US" sz="3200" dirty="0"/>
          </a:p>
        </p:txBody>
      </p:sp>
      <p:sp>
        <p:nvSpPr>
          <p:cNvPr id="4" name="Text 2"/>
          <p:cNvSpPr/>
          <p:nvPr/>
        </p:nvSpPr>
        <p:spPr>
          <a:xfrm>
            <a:off x="548640" y="1463040"/>
            <a:ext cx="11064240" cy="685800"/>
          </a:xfrm>
          <a:prstGeom prst="rect">
            <a:avLst/>
          </a:prstGeom>
          <a:noFill/>
          <a:ln/>
        </p:spPr>
        <p:txBody>
          <a:bodyPr wrap="square" lIns="0" tIns="0" rIns="0" bIns="0" rtlCol="0" anchor="ctr"/>
          <a:lstStyle/>
          <a:p>
            <a:pPr indent="0" marL="0">
              <a:lnSpc>
                <a:spcPts val="2200"/>
              </a:lnSpc>
              <a:buNone/>
            </a:pPr>
            <a:r>
              <a:rPr lang="en-US" sz="1550" dirty="0">
                <a:solidFill>
                  <a:srgbClr val="44506A"/>
                </a:solidFill>
                <a:latin typeface="Calibri" pitchFamily="34" charset="0"/>
                <a:ea typeface="Calibri" pitchFamily="34" charset="-122"/>
                <a:cs typeface="Calibri" pitchFamily="34" charset="-120"/>
              </a:rPr>
              <a:t>Cross-entropy, the standard training objective, keeps pushing the correct answer toward 100% and every wrong answer toward 0% — even on examples the model already gets right.</a:t>
            </a:r>
            <a:endParaRPr lang="en-US" sz="1550" dirty="0"/>
          </a:p>
        </p:txBody>
      </p:sp>
      <p:sp>
        <p:nvSpPr>
          <p:cNvPr id="5" name="Shape 3"/>
          <p:cNvSpPr/>
          <p:nvPr/>
        </p:nvSpPr>
        <p:spPr>
          <a:xfrm>
            <a:off x="548640" y="2377440"/>
            <a:ext cx="5394960" cy="2697480"/>
          </a:xfrm>
          <a:prstGeom prst="roundRect">
            <a:avLst>
              <a:gd name="adj" fmla="val 4068"/>
            </a:avLst>
          </a:prstGeom>
          <a:solidFill>
            <a:srgbClr val="FFFFFF"/>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6" name="Text 4"/>
          <p:cNvSpPr/>
          <p:nvPr/>
        </p:nvSpPr>
        <p:spPr>
          <a:xfrm>
            <a:off x="868680" y="2606040"/>
            <a:ext cx="4754880" cy="274320"/>
          </a:xfrm>
          <a:prstGeom prst="rect">
            <a:avLst/>
          </a:prstGeom>
          <a:noFill/>
          <a:ln/>
        </p:spPr>
        <p:txBody>
          <a:bodyPr wrap="square" lIns="0" tIns="0" rIns="0" bIns="0" rtlCol="0" anchor="ctr"/>
          <a:lstStyle/>
          <a:p>
            <a:pPr indent="0" marL="0">
              <a:buNone/>
            </a:pPr>
            <a:r>
              <a:rPr lang="en-US" sz="1250" b="1" dirty="0">
                <a:solidFill>
                  <a:srgbClr val="8A93A6"/>
                </a:solidFill>
                <a:latin typeface="Calibri" pitchFamily="34" charset="0"/>
                <a:ea typeface="Calibri" pitchFamily="34" charset="-122"/>
                <a:cs typeface="Calibri" pitchFamily="34" charset="-120"/>
              </a:rPr>
              <a:t>Already correct at epoch 1</a:t>
            </a:r>
            <a:endParaRPr lang="en-US" sz="1250" dirty="0"/>
          </a:p>
        </p:txBody>
      </p:sp>
      <p:sp>
        <p:nvSpPr>
          <p:cNvPr id="7" name="Text 5"/>
          <p:cNvSpPr/>
          <p:nvPr/>
        </p:nvSpPr>
        <p:spPr>
          <a:xfrm>
            <a:off x="868680" y="3063240"/>
            <a:ext cx="1325880" cy="274320"/>
          </a:xfrm>
          <a:prstGeom prst="rect">
            <a:avLst/>
          </a:prstGeom>
          <a:noFill/>
          <a:ln/>
        </p:spPr>
        <p:txBody>
          <a:bodyPr wrap="square" lIns="0" tIns="0" rIns="0" bIns="0" rtlCol="0" anchor="ctr"/>
          <a:lstStyle/>
          <a:p>
            <a:pPr indent="0" marL="0">
              <a:buNone/>
            </a:pPr>
            <a:r>
              <a:rPr lang="en-US" sz="1200" dirty="0">
                <a:solidFill>
                  <a:srgbClr val="44506A"/>
                </a:solidFill>
                <a:latin typeface="Calibri" pitchFamily="34" charset="0"/>
                <a:ea typeface="Calibri" pitchFamily="34" charset="-122"/>
                <a:cs typeface="Calibri" pitchFamily="34" charset="-120"/>
              </a:rPr>
              <a:t>very negative</a:t>
            </a:r>
            <a:endParaRPr lang="en-US" sz="1200" dirty="0"/>
          </a:p>
        </p:txBody>
      </p:sp>
      <p:sp>
        <p:nvSpPr>
          <p:cNvPr id="8" name="Shape 6"/>
          <p:cNvSpPr/>
          <p:nvPr/>
        </p:nvSpPr>
        <p:spPr>
          <a:xfrm>
            <a:off x="2240280" y="3108960"/>
            <a:ext cx="2697480" cy="201168"/>
          </a:xfrm>
          <a:prstGeom prst="roundRect">
            <a:avLst>
              <a:gd name="adj" fmla="val 50000"/>
            </a:avLst>
          </a:prstGeom>
          <a:solidFill>
            <a:srgbClr val="E3E8EF"/>
          </a:solidFill>
          <a:ln w="12700">
            <a:solidFill>
              <a:srgbClr val="E3E8EF"/>
            </a:solidFill>
            <a:prstDash val="solid"/>
          </a:ln>
        </p:spPr>
      </p:sp>
      <p:sp>
        <p:nvSpPr>
          <p:cNvPr id="9" name="Shape 7"/>
          <p:cNvSpPr/>
          <p:nvPr/>
        </p:nvSpPr>
        <p:spPr>
          <a:xfrm>
            <a:off x="2240280" y="3108960"/>
            <a:ext cx="1483614" cy="201168"/>
          </a:xfrm>
          <a:prstGeom prst="roundRect">
            <a:avLst>
              <a:gd name="adj" fmla="val 50000"/>
            </a:avLst>
          </a:prstGeom>
          <a:solidFill>
            <a:srgbClr val="12897B"/>
          </a:solidFill>
          <a:ln w="12700">
            <a:solidFill>
              <a:srgbClr val="12897B"/>
            </a:solidFill>
            <a:prstDash val="solid"/>
          </a:ln>
        </p:spPr>
      </p:sp>
      <p:sp>
        <p:nvSpPr>
          <p:cNvPr id="10" name="Text 8"/>
          <p:cNvSpPr/>
          <p:nvPr/>
        </p:nvSpPr>
        <p:spPr>
          <a:xfrm>
            <a:off x="4992624" y="3063240"/>
            <a:ext cx="640080" cy="274320"/>
          </a:xfrm>
          <a:prstGeom prst="rect">
            <a:avLst/>
          </a:prstGeom>
          <a:noFill/>
          <a:ln/>
        </p:spPr>
        <p:txBody>
          <a:bodyPr wrap="square" lIns="0" tIns="0" rIns="0" bIns="0" rtlCol="0" anchor="ctr"/>
          <a:lstStyle/>
          <a:p>
            <a:pPr indent="0" marL="0">
              <a:buNone/>
            </a:pPr>
            <a:r>
              <a:rPr lang="en-US" sz="1150" b="1" dirty="0">
                <a:solidFill>
                  <a:srgbClr val="44506A"/>
                </a:solidFill>
                <a:latin typeface="Calibri" pitchFamily="34" charset="0"/>
                <a:ea typeface="Calibri" pitchFamily="34" charset="-122"/>
                <a:cs typeface="Calibri" pitchFamily="34" charset="-120"/>
              </a:rPr>
              <a:t>55%</a:t>
            </a:r>
            <a:endParaRPr lang="en-US" sz="1150" dirty="0"/>
          </a:p>
        </p:txBody>
      </p:sp>
      <p:sp>
        <p:nvSpPr>
          <p:cNvPr id="11" name="Text 9"/>
          <p:cNvSpPr/>
          <p:nvPr/>
        </p:nvSpPr>
        <p:spPr>
          <a:xfrm>
            <a:off x="868680" y="3611880"/>
            <a:ext cx="1325880" cy="274320"/>
          </a:xfrm>
          <a:prstGeom prst="rect">
            <a:avLst/>
          </a:prstGeom>
          <a:noFill/>
          <a:ln/>
        </p:spPr>
        <p:txBody>
          <a:bodyPr wrap="square" lIns="0" tIns="0" rIns="0" bIns="0" rtlCol="0" anchor="ctr"/>
          <a:lstStyle/>
          <a:p>
            <a:pPr indent="0" marL="0">
              <a:buNone/>
            </a:pPr>
            <a:r>
              <a:rPr lang="en-US" sz="1200" dirty="0">
                <a:solidFill>
                  <a:srgbClr val="44506A"/>
                </a:solidFill>
                <a:latin typeface="Calibri" pitchFamily="34" charset="0"/>
                <a:ea typeface="Calibri" pitchFamily="34" charset="-122"/>
                <a:cs typeface="Calibri" pitchFamily="34" charset="-120"/>
              </a:rPr>
              <a:t>negative</a:t>
            </a:r>
            <a:endParaRPr lang="en-US" sz="1200" dirty="0"/>
          </a:p>
        </p:txBody>
      </p:sp>
      <p:sp>
        <p:nvSpPr>
          <p:cNvPr id="12" name="Shape 10"/>
          <p:cNvSpPr/>
          <p:nvPr/>
        </p:nvSpPr>
        <p:spPr>
          <a:xfrm>
            <a:off x="2240280" y="3657600"/>
            <a:ext cx="2697480" cy="201168"/>
          </a:xfrm>
          <a:prstGeom prst="roundRect">
            <a:avLst>
              <a:gd name="adj" fmla="val 50000"/>
            </a:avLst>
          </a:prstGeom>
          <a:solidFill>
            <a:srgbClr val="E3E8EF"/>
          </a:solidFill>
          <a:ln w="12700">
            <a:solidFill>
              <a:srgbClr val="E3E8EF"/>
            </a:solidFill>
            <a:prstDash val="solid"/>
          </a:ln>
        </p:spPr>
      </p:sp>
      <p:sp>
        <p:nvSpPr>
          <p:cNvPr id="13" name="Shape 11"/>
          <p:cNvSpPr/>
          <p:nvPr/>
        </p:nvSpPr>
        <p:spPr>
          <a:xfrm>
            <a:off x="2240280" y="3657600"/>
            <a:ext cx="755294" cy="201168"/>
          </a:xfrm>
          <a:prstGeom prst="roundRect">
            <a:avLst>
              <a:gd name="adj" fmla="val 50000"/>
            </a:avLst>
          </a:prstGeom>
          <a:solidFill>
            <a:srgbClr val="9AA6B8"/>
          </a:solidFill>
          <a:ln w="12700">
            <a:solidFill>
              <a:srgbClr val="9AA6B8"/>
            </a:solidFill>
            <a:prstDash val="solid"/>
          </a:ln>
        </p:spPr>
      </p:sp>
      <p:sp>
        <p:nvSpPr>
          <p:cNvPr id="14" name="Text 12"/>
          <p:cNvSpPr/>
          <p:nvPr/>
        </p:nvSpPr>
        <p:spPr>
          <a:xfrm>
            <a:off x="4992624" y="3611880"/>
            <a:ext cx="640080" cy="274320"/>
          </a:xfrm>
          <a:prstGeom prst="rect">
            <a:avLst/>
          </a:prstGeom>
          <a:noFill/>
          <a:ln/>
        </p:spPr>
        <p:txBody>
          <a:bodyPr wrap="square" lIns="0" tIns="0" rIns="0" bIns="0" rtlCol="0" anchor="ctr"/>
          <a:lstStyle/>
          <a:p>
            <a:pPr indent="0" marL="0">
              <a:buNone/>
            </a:pPr>
            <a:r>
              <a:rPr lang="en-US" sz="1150" b="1" dirty="0">
                <a:solidFill>
                  <a:srgbClr val="44506A"/>
                </a:solidFill>
                <a:latin typeface="Calibri" pitchFamily="34" charset="0"/>
                <a:ea typeface="Calibri" pitchFamily="34" charset="-122"/>
                <a:cs typeface="Calibri" pitchFamily="34" charset="-120"/>
              </a:rPr>
              <a:t>28%</a:t>
            </a:r>
            <a:endParaRPr lang="en-US" sz="1150" dirty="0"/>
          </a:p>
        </p:txBody>
      </p:sp>
      <p:sp>
        <p:nvSpPr>
          <p:cNvPr id="15" name="Text 13"/>
          <p:cNvSpPr/>
          <p:nvPr/>
        </p:nvSpPr>
        <p:spPr>
          <a:xfrm>
            <a:off x="868680" y="4343400"/>
            <a:ext cx="4754880" cy="502920"/>
          </a:xfrm>
          <a:prstGeom prst="rect">
            <a:avLst/>
          </a:prstGeom>
          <a:noFill/>
          <a:ln/>
        </p:spPr>
        <p:txBody>
          <a:bodyPr wrap="square" lIns="0" tIns="0" rIns="0" bIns="0" rtlCol="0" anchor="ctr"/>
          <a:lstStyle/>
          <a:p>
            <a:pPr indent="0" marL="0">
              <a:buNone/>
            </a:pPr>
            <a:r>
              <a:rPr lang="en-US" sz="1250" dirty="0">
                <a:solidFill>
                  <a:srgbClr val="44506A"/>
                </a:solidFill>
                <a:latin typeface="Calibri" pitchFamily="34" charset="0"/>
                <a:ea typeface="Calibri" pitchFamily="34" charset="-122"/>
                <a:cs typeface="Calibri" pitchFamily="34" charset="-120"/>
              </a:rPr>
              <a:t>Test would already score this correct.</a:t>
            </a:r>
            <a:endParaRPr lang="en-US" sz="1250" dirty="0"/>
          </a:p>
        </p:txBody>
      </p:sp>
      <p:sp>
        <p:nvSpPr>
          <p:cNvPr id="16" name="Shape 14"/>
          <p:cNvSpPr/>
          <p:nvPr/>
        </p:nvSpPr>
        <p:spPr>
          <a:xfrm>
            <a:off x="6217920" y="2377440"/>
            <a:ext cx="5394960" cy="2697480"/>
          </a:xfrm>
          <a:prstGeom prst="roundRect">
            <a:avLst>
              <a:gd name="adj" fmla="val 4068"/>
            </a:avLst>
          </a:prstGeom>
          <a:solidFill>
            <a:srgbClr val="FBEDEE"/>
          </a:solidFill>
          <a:ln w="12700">
            <a:solidFill>
              <a:srgbClr val="F0CFD2"/>
            </a:solidFill>
            <a:prstDash val="solid"/>
          </a:ln>
          <a:effectLst>
            <a:outerShdw sx="100000" sy="100000" kx="0" ky="0" algn="bl" rotWithShape="0" blurRad="127000" dist="25400" dir="5400000">
              <a:srgbClr val="9AA6B8">
                <a:alpha val="28000"/>
              </a:srgbClr>
            </a:outerShdw>
          </a:effectLst>
        </p:spPr>
      </p:sp>
      <p:sp>
        <p:nvSpPr>
          <p:cNvPr id="17" name="Text 15"/>
          <p:cNvSpPr/>
          <p:nvPr/>
        </p:nvSpPr>
        <p:spPr>
          <a:xfrm>
            <a:off x="6537960" y="2606040"/>
            <a:ext cx="4754880" cy="274320"/>
          </a:xfrm>
          <a:prstGeom prst="rect">
            <a:avLst/>
          </a:prstGeom>
          <a:noFill/>
          <a:ln/>
        </p:spPr>
        <p:txBody>
          <a:bodyPr wrap="square" lIns="0" tIns="0" rIns="0" bIns="0" rtlCol="0" anchor="ctr"/>
          <a:lstStyle/>
          <a:p>
            <a:pPr indent="0" marL="0">
              <a:buNone/>
            </a:pPr>
            <a:r>
              <a:rPr lang="en-US" sz="1250" b="1" dirty="0">
                <a:solidFill>
                  <a:srgbClr val="C1121F"/>
                </a:solidFill>
                <a:latin typeface="Calibri" pitchFamily="34" charset="0"/>
                <a:ea typeface="Calibri" pitchFamily="34" charset="-122"/>
                <a:cs typeface="Calibri" pitchFamily="34" charset="-120"/>
              </a:rPr>
              <a:t>Cross-entropy keeps going anyway</a:t>
            </a:r>
            <a:endParaRPr lang="en-US" sz="1250" dirty="0"/>
          </a:p>
        </p:txBody>
      </p:sp>
      <p:sp>
        <p:nvSpPr>
          <p:cNvPr id="18" name="Text 16"/>
          <p:cNvSpPr/>
          <p:nvPr/>
        </p:nvSpPr>
        <p:spPr>
          <a:xfrm>
            <a:off x="6537960" y="3063240"/>
            <a:ext cx="1325880" cy="274320"/>
          </a:xfrm>
          <a:prstGeom prst="rect">
            <a:avLst/>
          </a:prstGeom>
          <a:noFill/>
          <a:ln/>
        </p:spPr>
        <p:txBody>
          <a:bodyPr wrap="square" lIns="0" tIns="0" rIns="0" bIns="0" rtlCol="0" anchor="ctr"/>
          <a:lstStyle/>
          <a:p>
            <a:pPr indent="0" marL="0">
              <a:buNone/>
            </a:pPr>
            <a:r>
              <a:rPr lang="en-US" sz="1200" dirty="0">
                <a:solidFill>
                  <a:srgbClr val="44506A"/>
                </a:solidFill>
                <a:latin typeface="Calibri" pitchFamily="34" charset="0"/>
                <a:ea typeface="Calibri" pitchFamily="34" charset="-122"/>
                <a:cs typeface="Calibri" pitchFamily="34" charset="-120"/>
              </a:rPr>
              <a:t>very negative</a:t>
            </a:r>
            <a:endParaRPr lang="en-US" sz="1200" dirty="0"/>
          </a:p>
        </p:txBody>
      </p:sp>
      <p:sp>
        <p:nvSpPr>
          <p:cNvPr id="19" name="Shape 17"/>
          <p:cNvSpPr/>
          <p:nvPr/>
        </p:nvSpPr>
        <p:spPr>
          <a:xfrm>
            <a:off x="7909560" y="3108960"/>
            <a:ext cx="2697480" cy="201168"/>
          </a:xfrm>
          <a:prstGeom prst="roundRect">
            <a:avLst>
              <a:gd name="adj" fmla="val 50000"/>
            </a:avLst>
          </a:prstGeom>
          <a:solidFill>
            <a:srgbClr val="E3E8EF"/>
          </a:solidFill>
          <a:ln w="12700">
            <a:solidFill>
              <a:srgbClr val="E3E8EF"/>
            </a:solidFill>
            <a:prstDash val="solid"/>
          </a:ln>
        </p:spPr>
      </p:sp>
      <p:sp>
        <p:nvSpPr>
          <p:cNvPr id="20" name="Shape 18"/>
          <p:cNvSpPr/>
          <p:nvPr/>
        </p:nvSpPr>
        <p:spPr>
          <a:xfrm>
            <a:off x="7909560" y="3108960"/>
            <a:ext cx="2670505" cy="201168"/>
          </a:xfrm>
          <a:prstGeom prst="roundRect">
            <a:avLst>
              <a:gd name="adj" fmla="val 50000"/>
            </a:avLst>
          </a:prstGeom>
          <a:solidFill>
            <a:srgbClr val="C1121F"/>
          </a:solidFill>
          <a:ln w="12700">
            <a:solidFill>
              <a:srgbClr val="C1121F"/>
            </a:solidFill>
            <a:prstDash val="solid"/>
          </a:ln>
        </p:spPr>
      </p:sp>
      <p:sp>
        <p:nvSpPr>
          <p:cNvPr id="21" name="Text 19"/>
          <p:cNvSpPr/>
          <p:nvPr/>
        </p:nvSpPr>
        <p:spPr>
          <a:xfrm>
            <a:off x="10661904" y="3063240"/>
            <a:ext cx="640080" cy="274320"/>
          </a:xfrm>
          <a:prstGeom prst="rect">
            <a:avLst/>
          </a:prstGeom>
          <a:noFill/>
          <a:ln/>
        </p:spPr>
        <p:txBody>
          <a:bodyPr wrap="square" lIns="0" tIns="0" rIns="0" bIns="0" rtlCol="0" anchor="ctr"/>
          <a:lstStyle/>
          <a:p>
            <a:pPr indent="0" marL="0">
              <a:buNone/>
            </a:pPr>
            <a:r>
              <a:rPr lang="en-US" sz="1150" b="1" dirty="0">
                <a:solidFill>
                  <a:srgbClr val="44506A"/>
                </a:solidFill>
                <a:latin typeface="Calibri" pitchFamily="34" charset="0"/>
                <a:ea typeface="Calibri" pitchFamily="34" charset="-122"/>
                <a:cs typeface="Calibri" pitchFamily="34" charset="-120"/>
              </a:rPr>
              <a:t>99%</a:t>
            </a:r>
            <a:endParaRPr lang="en-US" sz="1150" dirty="0"/>
          </a:p>
        </p:txBody>
      </p:sp>
      <p:sp>
        <p:nvSpPr>
          <p:cNvPr id="22" name="Text 20"/>
          <p:cNvSpPr/>
          <p:nvPr/>
        </p:nvSpPr>
        <p:spPr>
          <a:xfrm>
            <a:off x="6537960" y="3611880"/>
            <a:ext cx="1325880" cy="274320"/>
          </a:xfrm>
          <a:prstGeom prst="rect">
            <a:avLst/>
          </a:prstGeom>
          <a:noFill/>
          <a:ln/>
        </p:spPr>
        <p:txBody>
          <a:bodyPr wrap="square" lIns="0" tIns="0" rIns="0" bIns="0" rtlCol="0" anchor="ctr"/>
          <a:lstStyle/>
          <a:p>
            <a:pPr indent="0" marL="0">
              <a:buNone/>
            </a:pPr>
            <a:r>
              <a:rPr lang="en-US" sz="1200" dirty="0">
                <a:solidFill>
                  <a:srgbClr val="44506A"/>
                </a:solidFill>
                <a:latin typeface="Calibri" pitchFamily="34" charset="0"/>
                <a:ea typeface="Calibri" pitchFamily="34" charset="-122"/>
                <a:cs typeface="Calibri" pitchFamily="34" charset="-120"/>
              </a:rPr>
              <a:t>negative</a:t>
            </a:r>
            <a:endParaRPr lang="en-US" sz="1200" dirty="0"/>
          </a:p>
        </p:txBody>
      </p:sp>
      <p:sp>
        <p:nvSpPr>
          <p:cNvPr id="23" name="Shape 21"/>
          <p:cNvSpPr/>
          <p:nvPr/>
        </p:nvSpPr>
        <p:spPr>
          <a:xfrm>
            <a:off x="7909560" y="3657600"/>
            <a:ext cx="2697480" cy="201168"/>
          </a:xfrm>
          <a:prstGeom prst="roundRect">
            <a:avLst>
              <a:gd name="adj" fmla="val 50000"/>
            </a:avLst>
          </a:prstGeom>
          <a:solidFill>
            <a:srgbClr val="E3E8EF"/>
          </a:solidFill>
          <a:ln w="12700">
            <a:solidFill>
              <a:srgbClr val="E3E8EF"/>
            </a:solidFill>
            <a:prstDash val="solid"/>
          </a:ln>
        </p:spPr>
      </p:sp>
      <p:sp>
        <p:nvSpPr>
          <p:cNvPr id="24" name="Shape 22"/>
          <p:cNvSpPr/>
          <p:nvPr/>
        </p:nvSpPr>
        <p:spPr>
          <a:xfrm>
            <a:off x="7909560" y="3657600"/>
            <a:ext cx="54864" cy="201168"/>
          </a:xfrm>
          <a:prstGeom prst="roundRect">
            <a:avLst>
              <a:gd name="adj" fmla="val 183333"/>
            </a:avLst>
          </a:prstGeom>
          <a:solidFill>
            <a:srgbClr val="E3A3A8"/>
          </a:solidFill>
          <a:ln w="12700">
            <a:solidFill>
              <a:srgbClr val="E3A3A8"/>
            </a:solidFill>
            <a:prstDash val="solid"/>
          </a:ln>
        </p:spPr>
      </p:sp>
      <p:sp>
        <p:nvSpPr>
          <p:cNvPr id="25" name="Text 23"/>
          <p:cNvSpPr/>
          <p:nvPr/>
        </p:nvSpPr>
        <p:spPr>
          <a:xfrm>
            <a:off x="10661904" y="3611880"/>
            <a:ext cx="640080" cy="274320"/>
          </a:xfrm>
          <a:prstGeom prst="rect">
            <a:avLst/>
          </a:prstGeom>
          <a:noFill/>
          <a:ln/>
        </p:spPr>
        <p:txBody>
          <a:bodyPr wrap="square" lIns="0" tIns="0" rIns="0" bIns="0" rtlCol="0" anchor="ctr"/>
          <a:lstStyle/>
          <a:p>
            <a:pPr indent="0" marL="0">
              <a:buNone/>
            </a:pPr>
            <a:r>
              <a:rPr lang="en-US" sz="1150" b="1" dirty="0">
                <a:solidFill>
                  <a:srgbClr val="44506A"/>
                </a:solidFill>
                <a:latin typeface="Calibri" pitchFamily="34" charset="0"/>
                <a:ea typeface="Calibri" pitchFamily="34" charset="-122"/>
                <a:cs typeface="Calibri" pitchFamily="34" charset="-120"/>
              </a:rPr>
              <a:t>1%</a:t>
            </a:r>
            <a:endParaRPr lang="en-US" sz="1150" dirty="0"/>
          </a:p>
        </p:txBody>
      </p:sp>
      <p:sp>
        <p:nvSpPr>
          <p:cNvPr id="26" name="Text 24"/>
          <p:cNvSpPr/>
          <p:nvPr/>
        </p:nvSpPr>
        <p:spPr>
          <a:xfrm>
            <a:off x="6537960" y="4343400"/>
            <a:ext cx="4754880" cy="502920"/>
          </a:xfrm>
          <a:prstGeom prst="rect">
            <a:avLst/>
          </a:prstGeom>
          <a:noFill/>
          <a:ln/>
        </p:spPr>
        <p:txBody>
          <a:bodyPr wrap="square" lIns="0" tIns="0" rIns="0" bIns="0" rtlCol="0" anchor="ctr"/>
          <a:lstStyle/>
          <a:p>
            <a:pPr indent="0" marL="0">
              <a:buNone/>
            </a:pPr>
            <a:r>
              <a:rPr lang="en-US" sz="1250" dirty="0">
                <a:solidFill>
                  <a:srgbClr val="C1121F"/>
                </a:solidFill>
                <a:latin typeface="Calibri" pitchFamily="34" charset="0"/>
                <a:ea typeface="Calibri" pitchFamily="34" charset="-122"/>
                <a:cs typeface="Calibri" pitchFamily="34" charset="-120"/>
              </a:rPr>
              <a:t>All this extra work buys zero extra correctness.</a:t>
            </a:r>
            <a:endParaRPr lang="en-US" sz="1250" dirty="0"/>
          </a:p>
        </p:txBody>
      </p:sp>
      <p:sp>
        <p:nvSpPr>
          <p:cNvPr id="27" name="Shape 25"/>
          <p:cNvSpPr/>
          <p:nvPr/>
        </p:nvSpPr>
        <p:spPr>
          <a:xfrm>
            <a:off x="548640" y="5440680"/>
            <a:ext cx="475488" cy="475488"/>
          </a:xfrm>
          <a:prstGeom prst="ellipse">
            <a:avLst/>
          </a:prstGeom>
          <a:solidFill>
            <a:srgbClr val="C1121F"/>
          </a:solidFill>
          <a:ln w="12700">
            <a:solidFill>
              <a:srgbClr val="C1121F"/>
            </a:solidFill>
            <a:prstDash val="solid"/>
          </a:ln>
        </p:spPr>
      </p:sp>
      <p:sp>
        <p:nvSpPr>
          <p:cNvPr id="28" name="Text 26"/>
          <p:cNvSpPr/>
          <p:nvPr/>
        </p:nvSpPr>
        <p:spPr>
          <a:xfrm>
            <a:off x="548640" y="544068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29" name="Text 27"/>
          <p:cNvSpPr/>
          <p:nvPr/>
        </p:nvSpPr>
        <p:spPr>
          <a:xfrm>
            <a:off x="1152144" y="5440680"/>
            <a:ext cx="2971800" cy="274320"/>
          </a:xfrm>
          <a:prstGeom prst="rect">
            <a:avLst/>
          </a:prstGeom>
          <a:noFill/>
          <a:ln/>
        </p:spPr>
        <p:txBody>
          <a:bodyPr wrap="square" lIns="0" tIns="0" rIns="0" bIns="0" rtlCol="0" anchor="ctr"/>
          <a:lstStyle/>
          <a:p>
            <a:pPr indent="0" marL="0">
              <a:buNone/>
            </a:pPr>
            <a:r>
              <a:rPr lang="en-US" sz="1350" b="1" dirty="0">
                <a:solidFill>
                  <a:srgbClr val="152238"/>
                </a:solidFill>
                <a:latin typeface="Calibri" pitchFamily="34" charset="0"/>
                <a:ea typeface="Calibri" pitchFamily="34" charset="-122"/>
                <a:cs typeface="Calibri" pitchFamily="34" charset="-120"/>
              </a:rPr>
              <a:t>Wasted effort</a:t>
            </a:r>
            <a:endParaRPr lang="en-US" sz="1350" dirty="0"/>
          </a:p>
        </p:txBody>
      </p:sp>
      <p:sp>
        <p:nvSpPr>
          <p:cNvPr id="30" name="Text 28"/>
          <p:cNvSpPr/>
          <p:nvPr/>
        </p:nvSpPr>
        <p:spPr>
          <a:xfrm>
            <a:off x="1152144" y="5724144"/>
            <a:ext cx="2971800" cy="502920"/>
          </a:xfrm>
          <a:prstGeom prst="rect">
            <a:avLst/>
          </a:prstGeom>
          <a:noFill/>
          <a:ln/>
        </p:spPr>
        <p:txBody>
          <a:bodyPr wrap="square" lIns="0" tIns="0" rIns="0" bIns="0" rtlCol="0" anchor="ctr"/>
          <a:lstStyle/>
          <a:p>
            <a:pPr indent="0" marL="0">
              <a:buNone/>
            </a:pPr>
            <a:r>
              <a:rPr lang="en-US" sz="1150" dirty="0">
                <a:solidFill>
                  <a:srgbClr val="8A93A6"/>
                </a:solidFill>
                <a:latin typeface="Calibri" pitchFamily="34" charset="0"/>
                <a:ea typeface="Calibri" pitchFamily="34" charset="-122"/>
                <a:cs typeface="Calibri" pitchFamily="34" charset="-120"/>
              </a:rPr>
              <a:t>training on answers it already knows</a:t>
            </a:r>
            <a:endParaRPr lang="en-US" sz="1150" dirty="0"/>
          </a:p>
        </p:txBody>
      </p:sp>
      <p:sp>
        <p:nvSpPr>
          <p:cNvPr id="31" name="Shape 29"/>
          <p:cNvSpPr/>
          <p:nvPr/>
        </p:nvSpPr>
        <p:spPr>
          <a:xfrm>
            <a:off x="4261104" y="5440680"/>
            <a:ext cx="475488" cy="475488"/>
          </a:xfrm>
          <a:prstGeom prst="ellipse">
            <a:avLst/>
          </a:prstGeom>
          <a:solidFill>
            <a:srgbClr val="C1121F"/>
          </a:solidFill>
          <a:ln w="12700">
            <a:solidFill>
              <a:srgbClr val="C1121F"/>
            </a:solidFill>
            <a:prstDash val="solid"/>
          </a:ln>
        </p:spPr>
      </p:sp>
      <p:sp>
        <p:nvSpPr>
          <p:cNvPr id="32" name="Text 30"/>
          <p:cNvSpPr/>
          <p:nvPr/>
        </p:nvSpPr>
        <p:spPr>
          <a:xfrm>
            <a:off x="4261104" y="544068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33" name="Text 31"/>
          <p:cNvSpPr/>
          <p:nvPr/>
        </p:nvSpPr>
        <p:spPr>
          <a:xfrm>
            <a:off x="4864608" y="5440680"/>
            <a:ext cx="2971800" cy="274320"/>
          </a:xfrm>
          <a:prstGeom prst="rect">
            <a:avLst/>
          </a:prstGeom>
          <a:noFill/>
          <a:ln/>
        </p:spPr>
        <p:txBody>
          <a:bodyPr wrap="square" lIns="0" tIns="0" rIns="0" bIns="0" rtlCol="0" anchor="ctr"/>
          <a:lstStyle/>
          <a:p>
            <a:pPr indent="0" marL="0">
              <a:buNone/>
            </a:pPr>
            <a:r>
              <a:rPr lang="en-US" sz="1350" b="1" dirty="0">
                <a:solidFill>
                  <a:srgbClr val="152238"/>
                </a:solidFill>
                <a:latin typeface="Calibri" pitchFamily="34" charset="0"/>
                <a:ea typeface="Calibri" pitchFamily="34" charset="-122"/>
                <a:cs typeface="Calibri" pitchFamily="34" charset="-120"/>
              </a:rPr>
              <a:t>Overfitting</a:t>
            </a:r>
            <a:endParaRPr lang="en-US" sz="1350" dirty="0"/>
          </a:p>
        </p:txBody>
      </p:sp>
      <p:sp>
        <p:nvSpPr>
          <p:cNvPr id="34" name="Text 32"/>
          <p:cNvSpPr/>
          <p:nvPr/>
        </p:nvSpPr>
        <p:spPr>
          <a:xfrm>
            <a:off x="4864608" y="5724144"/>
            <a:ext cx="2971800" cy="502920"/>
          </a:xfrm>
          <a:prstGeom prst="rect">
            <a:avLst/>
          </a:prstGeom>
          <a:noFill/>
          <a:ln/>
        </p:spPr>
        <p:txBody>
          <a:bodyPr wrap="square" lIns="0" tIns="0" rIns="0" bIns="0" rtlCol="0" anchor="ctr"/>
          <a:lstStyle/>
          <a:p>
            <a:pPr indent="0" marL="0">
              <a:buNone/>
            </a:pPr>
            <a:r>
              <a:rPr lang="en-US" sz="1150" dirty="0">
                <a:solidFill>
                  <a:srgbClr val="8A93A6"/>
                </a:solidFill>
                <a:latin typeface="Calibri" pitchFamily="34" charset="0"/>
                <a:ea typeface="Calibri" pitchFamily="34" charset="-122"/>
                <a:cs typeface="Calibri" pitchFamily="34" charset="-120"/>
              </a:rPr>
              <a:t>it starts memorising instead of learning</a:t>
            </a:r>
            <a:endParaRPr lang="en-US" sz="1150" dirty="0"/>
          </a:p>
        </p:txBody>
      </p:sp>
      <p:sp>
        <p:nvSpPr>
          <p:cNvPr id="35" name="Shape 33"/>
          <p:cNvSpPr/>
          <p:nvPr/>
        </p:nvSpPr>
        <p:spPr>
          <a:xfrm>
            <a:off x="7973568" y="5440680"/>
            <a:ext cx="475488" cy="475488"/>
          </a:xfrm>
          <a:prstGeom prst="ellipse">
            <a:avLst/>
          </a:prstGeom>
          <a:solidFill>
            <a:srgbClr val="C1121F"/>
          </a:solidFill>
          <a:ln w="12700">
            <a:solidFill>
              <a:srgbClr val="C1121F"/>
            </a:solidFill>
            <a:prstDash val="solid"/>
          </a:ln>
        </p:spPr>
      </p:sp>
      <p:sp>
        <p:nvSpPr>
          <p:cNvPr id="36" name="Text 34"/>
          <p:cNvSpPr/>
          <p:nvPr/>
        </p:nvSpPr>
        <p:spPr>
          <a:xfrm>
            <a:off x="7973568" y="544068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37" name="Text 35"/>
          <p:cNvSpPr/>
          <p:nvPr/>
        </p:nvSpPr>
        <p:spPr>
          <a:xfrm>
            <a:off x="8577072" y="5440680"/>
            <a:ext cx="2971800" cy="274320"/>
          </a:xfrm>
          <a:prstGeom prst="rect">
            <a:avLst/>
          </a:prstGeom>
          <a:noFill/>
          <a:ln/>
        </p:spPr>
        <p:txBody>
          <a:bodyPr wrap="square" lIns="0" tIns="0" rIns="0" bIns="0" rtlCol="0" anchor="ctr"/>
          <a:lstStyle/>
          <a:p>
            <a:pPr indent="0" marL="0">
              <a:buNone/>
            </a:pPr>
            <a:r>
              <a:rPr lang="en-US" sz="1350" b="1" dirty="0">
                <a:solidFill>
                  <a:srgbClr val="152238"/>
                </a:solidFill>
                <a:latin typeface="Calibri" pitchFamily="34" charset="0"/>
                <a:ea typeface="Calibri" pitchFamily="34" charset="-122"/>
                <a:cs typeface="Calibri" pitchFamily="34" charset="-120"/>
              </a:rPr>
              <a:t>Loss stops tracking accuracy</a:t>
            </a:r>
            <a:endParaRPr lang="en-US" sz="1350" dirty="0"/>
          </a:p>
        </p:txBody>
      </p:sp>
      <p:sp>
        <p:nvSpPr>
          <p:cNvPr id="38" name="Text 36"/>
          <p:cNvSpPr/>
          <p:nvPr/>
        </p:nvSpPr>
        <p:spPr>
          <a:xfrm>
            <a:off x="8577072" y="5724144"/>
            <a:ext cx="2971800" cy="502920"/>
          </a:xfrm>
          <a:prstGeom prst="rect">
            <a:avLst/>
          </a:prstGeom>
          <a:noFill/>
          <a:ln/>
        </p:spPr>
        <p:txBody>
          <a:bodyPr wrap="square" lIns="0" tIns="0" rIns="0" bIns="0" rtlCol="0" anchor="ctr"/>
          <a:lstStyle/>
          <a:p>
            <a:pPr indent="0" marL="0">
              <a:buNone/>
            </a:pPr>
            <a:r>
              <a:rPr lang="en-US" sz="1150" dirty="0">
                <a:solidFill>
                  <a:srgbClr val="8A93A6"/>
                </a:solidFill>
                <a:latin typeface="Calibri" pitchFamily="34" charset="0"/>
                <a:ea typeface="Calibri" pitchFamily="34" charset="-122"/>
                <a:cs typeface="Calibri" pitchFamily="34" charset="-120"/>
              </a:rPr>
              <a:t>the number you watch stops meaning anything</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64240" cy="256032"/>
          </a:xfrm>
          <a:prstGeom prst="rect">
            <a:avLst/>
          </a:prstGeom>
          <a:noFill/>
          <a:ln/>
        </p:spPr>
        <p:txBody>
          <a:bodyPr wrap="square" lIns="0" tIns="0" rIns="0" bIns="0" rtlCol="0" anchor="ctr"/>
          <a:lstStyle/>
          <a:p>
            <a:pPr indent="0" marL="0">
              <a:buNone/>
            </a:pPr>
            <a:r>
              <a:rPr lang="en-US" sz="1200" b="1" spc="200" kern="0" dirty="0">
                <a:solidFill>
                  <a:srgbClr val="12897B"/>
                </a:solidFill>
                <a:latin typeface="Calibri" pitchFamily="34" charset="0"/>
                <a:ea typeface="Calibri" pitchFamily="34" charset="-122"/>
                <a:cs typeface="Calibri" pitchFamily="34" charset="-120"/>
              </a:rPr>
              <a:t>BACKGROUND · PRIOR WORK</a:t>
            </a:r>
            <a:endParaRPr lang="en-US" sz="1200" dirty="0"/>
          </a:p>
        </p:txBody>
      </p:sp>
      <p:sp>
        <p:nvSpPr>
          <p:cNvPr id="3" name="Text 1"/>
          <p:cNvSpPr/>
          <p:nvPr/>
        </p:nvSpPr>
        <p:spPr>
          <a:xfrm>
            <a:off x="548640" y="603504"/>
            <a:ext cx="11064240" cy="685800"/>
          </a:xfrm>
          <a:prstGeom prst="rect">
            <a:avLst/>
          </a:prstGeom>
          <a:noFill/>
          <a:ln/>
        </p:spPr>
        <p:txBody>
          <a:bodyPr wrap="square" lIns="0" tIns="0" rIns="0" bIns="0" rtlCol="0" anchor="t"/>
          <a:lstStyle/>
          <a:p>
            <a:pPr indent="0" marL="0">
              <a:buNone/>
            </a:pPr>
            <a:r>
              <a:rPr lang="en-US" sz="3200" b="1" dirty="0">
                <a:solidFill>
                  <a:srgbClr val="152238"/>
                </a:solidFill>
                <a:latin typeface="Cambria" pitchFamily="34" charset="0"/>
                <a:ea typeface="Cambria" pitchFamily="34" charset="-122"/>
                <a:cs typeface="Cambria" pitchFamily="34" charset="-120"/>
              </a:rPr>
              <a:t>The paper we build on: AS-Softmax (Lv et al., 2023)</a:t>
            </a:r>
            <a:endParaRPr lang="en-US" sz="3200" dirty="0"/>
          </a:p>
        </p:txBody>
      </p:sp>
      <p:sp>
        <p:nvSpPr>
          <p:cNvPr id="4" name="Shape 2"/>
          <p:cNvSpPr/>
          <p:nvPr/>
        </p:nvSpPr>
        <p:spPr>
          <a:xfrm>
            <a:off x="548640" y="1417320"/>
            <a:ext cx="11064240" cy="1371600"/>
          </a:xfrm>
          <a:prstGeom prst="roundRect">
            <a:avLst>
              <a:gd name="adj" fmla="val 8000"/>
            </a:avLst>
          </a:prstGeom>
          <a:solidFill>
            <a:srgbClr val="E9F5F3"/>
          </a:solidFill>
          <a:ln w="12700">
            <a:solidFill>
              <a:srgbClr val="BFE0DA"/>
            </a:solidFill>
            <a:prstDash val="solid"/>
          </a:ln>
          <a:effectLst>
            <a:outerShdw sx="100000" sy="100000" kx="0" ky="0" algn="bl" rotWithShape="0" blurRad="127000" dist="25400" dir="5400000">
              <a:srgbClr val="9AA6B8">
                <a:alpha val="28000"/>
              </a:srgbClr>
            </a:outerShdw>
          </a:effectLst>
        </p:spPr>
      </p:sp>
      <p:sp>
        <p:nvSpPr>
          <p:cNvPr id="5" name="Text 3"/>
          <p:cNvSpPr/>
          <p:nvPr/>
        </p:nvSpPr>
        <p:spPr>
          <a:xfrm>
            <a:off x="868680" y="1700784"/>
            <a:ext cx="1463040" cy="320040"/>
          </a:xfrm>
          <a:prstGeom prst="rect">
            <a:avLst/>
          </a:prstGeom>
          <a:noFill/>
          <a:ln/>
        </p:spPr>
        <p:txBody>
          <a:bodyPr wrap="square" lIns="0" tIns="0" rIns="0" bIns="0" rtlCol="0" anchor="ctr"/>
          <a:lstStyle/>
          <a:p>
            <a:pPr indent="0" marL="0">
              <a:buNone/>
            </a:pPr>
            <a:r>
              <a:rPr lang="en-US" sz="1400" b="1" dirty="0">
                <a:solidFill>
                  <a:srgbClr val="12897B"/>
                </a:solidFill>
                <a:latin typeface="Calibri" pitchFamily="34" charset="0"/>
                <a:ea typeface="Calibri" pitchFamily="34" charset="-122"/>
                <a:cs typeface="Calibri" pitchFamily="34" charset="-120"/>
              </a:rPr>
              <a:t>Their rule:</a:t>
            </a:r>
            <a:endParaRPr lang="en-US" sz="1400" dirty="0"/>
          </a:p>
        </p:txBody>
      </p:sp>
      <p:sp>
        <p:nvSpPr>
          <p:cNvPr id="6" name="Text 4"/>
          <p:cNvSpPr/>
          <p:nvPr/>
        </p:nvSpPr>
        <p:spPr>
          <a:xfrm>
            <a:off x="2194560" y="1645920"/>
            <a:ext cx="9052560" cy="411480"/>
          </a:xfrm>
          <a:prstGeom prst="rect">
            <a:avLst/>
          </a:prstGeom>
          <a:noFill/>
          <a:ln/>
        </p:spPr>
        <p:txBody>
          <a:bodyPr wrap="square" lIns="0" tIns="0" rIns="0" bIns="0" rtlCol="0" anchor="ctr"/>
          <a:lstStyle/>
          <a:p>
            <a:pPr indent="0" marL="0">
              <a:buNone/>
            </a:pPr>
            <a:r>
              <a:rPr lang="en-US" sz="1900" b="1" dirty="0">
                <a:solidFill>
                  <a:srgbClr val="152238"/>
                </a:solidFill>
                <a:latin typeface="Calibri" pitchFamily="34" charset="0"/>
                <a:ea typeface="Calibri" pitchFamily="34" charset="-122"/>
                <a:cs typeface="Calibri" pitchFamily="34" charset="-120"/>
              </a:rPr>
              <a:t>if   p_t  −  p_j   ≥   δ     →   stop training against wrong answer j</a:t>
            </a:r>
            <a:endParaRPr lang="en-US" sz="1900" dirty="0"/>
          </a:p>
        </p:txBody>
      </p:sp>
      <p:sp>
        <p:nvSpPr>
          <p:cNvPr id="7" name="Text 5"/>
          <p:cNvSpPr/>
          <p:nvPr/>
        </p:nvSpPr>
        <p:spPr>
          <a:xfrm>
            <a:off x="868680" y="2139696"/>
            <a:ext cx="10424160" cy="548640"/>
          </a:xfrm>
          <a:prstGeom prst="rect">
            <a:avLst/>
          </a:prstGeom>
          <a:noFill/>
          <a:ln/>
        </p:spPr>
        <p:txBody>
          <a:bodyPr wrap="square" lIns="0" tIns="0" rIns="0" bIns="0" rtlCol="0" anchor="ctr"/>
          <a:lstStyle/>
          <a:p>
            <a:pPr indent="0" marL="0">
              <a:lnSpc>
                <a:spcPts val="1800"/>
              </a:lnSpc>
              <a:buNone/>
            </a:pPr>
            <a:r>
              <a:rPr lang="en-US" sz="1350" dirty="0">
                <a:solidFill>
                  <a:srgbClr val="44506A"/>
                </a:solidFill>
                <a:latin typeface="Calibri" pitchFamily="34" charset="0"/>
                <a:ea typeface="Calibri" pitchFamily="34" charset="-122"/>
                <a:cs typeface="Calibri" pitchFamily="34" charset="-120"/>
              </a:rPr>
              <a:t>Once the right answer beats a wrong one by a fixed gap δ, that wrong answer is dropped from the loss. Like a student who only needs to pass comfortably — not score 100 on every question.</a:t>
            </a:r>
            <a:endParaRPr lang="en-US" sz="1350" dirty="0"/>
          </a:p>
        </p:txBody>
      </p:sp>
      <p:sp>
        <p:nvSpPr>
          <p:cNvPr id="8" name="Text 6"/>
          <p:cNvSpPr/>
          <p:nvPr/>
        </p:nvSpPr>
        <p:spPr>
          <a:xfrm>
            <a:off x="548640" y="3108960"/>
            <a:ext cx="5486400" cy="292608"/>
          </a:xfrm>
          <a:prstGeom prst="rect">
            <a:avLst/>
          </a:prstGeom>
          <a:noFill/>
          <a:ln/>
        </p:spPr>
        <p:txBody>
          <a:bodyPr wrap="square" lIns="0" tIns="0" rIns="0" bIns="0" rtlCol="0" anchor="ctr"/>
          <a:lstStyle/>
          <a:p>
            <a:pPr indent="0" marL="0">
              <a:buNone/>
            </a:pPr>
            <a:r>
              <a:rPr lang="en-US" sz="1300" b="1" dirty="0">
                <a:solidFill>
                  <a:srgbClr val="8A93A6"/>
                </a:solidFill>
                <a:latin typeface="Calibri" pitchFamily="34" charset="0"/>
                <a:ea typeface="Calibri" pitchFamily="34" charset="-122"/>
                <a:cs typeface="Calibri" pitchFamily="34" charset="-120"/>
              </a:rPr>
              <a:t>What they reported</a:t>
            </a:r>
            <a:endParaRPr lang="en-US" sz="1300" dirty="0"/>
          </a:p>
        </p:txBody>
      </p:sp>
      <p:sp>
        <p:nvSpPr>
          <p:cNvPr id="9" name="Shape 7"/>
          <p:cNvSpPr/>
          <p:nvPr/>
        </p:nvSpPr>
        <p:spPr>
          <a:xfrm>
            <a:off x="548640" y="3520440"/>
            <a:ext cx="329184" cy="329184"/>
          </a:xfrm>
          <a:prstGeom prst="ellipse">
            <a:avLst/>
          </a:prstGeom>
          <a:solidFill>
            <a:srgbClr val="12897B"/>
          </a:solidFill>
          <a:ln w="12700">
            <a:solidFill>
              <a:srgbClr val="12897B"/>
            </a:solidFill>
            <a:prstDash val="solid"/>
          </a:ln>
        </p:spPr>
      </p:sp>
      <p:sp>
        <p:nvSpPr>
          <p:cNvPr id="10" name="Text 8"/>
          <p:cNvSpPr/>
          <p:nvPr/>
        </p:nvSpPr>
        <p:spPr>
          <a:xfrm>
            <a:off x="548640" y="35204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1" name="Text 9"/>
          <p:cNvSpPr/>
          <p:nvPr/>
        </p:nvSpPr>
        <p:spPr>
          <a:xfrm>
            <a:off x="987552" y="3520440"/>
            <a:ext cx="5029200" cy="329184"/>
          </a:xfrm>
          <a:prstGeom prst="rect">
            <a:avLst/>
          </a:prstGeom>
          <a:noFill/>
          <a:ln/>
        </p:spPr>
        <p:txBody>
          <a:bodyPr wrap="square" lIns="0" tIns="0" rIns="0" bIns="0" rtlCol="0" anchor="ctr"/>
          <a:lstStyle/>
          <a:p>
            <a:pPr indent="0" marL="0">
              <a:buNone/>
            </a:pPr>
            <a:r>
              <a:rPr lang="en-US" sz="1350" dirty="0">
                <a:solidFill>
                  <a:srgbClr val="152238"/>
                </a:solidFill>
                <a:latin typeface="Calibri" pitchFamily="34" charset="0"/>
                <a:ea typeface="Calibri" pitchFamily="34" charset="-122"/>
                <a:cs typeface="Calibri" pitchFamily="34" charset="-120"/>
              </a:rPr>
              <a:t>Better accuracy &amp; F1 — across most tasks</a:t>
            </a:r>
            <a:endParaRPr lang="en-US" sz="1350" dirty="0"/>
          </a:p>
        </p:txBody>
      </p:sp>
      <p:sp>
        <p:nvSpPr>
          <p:cNvPr id="12" name="Shape 10"/>
          <p:cNvSpPr/>
          <p:nvPr/>
        </p:nvSpPr>
        <p:spPr>
          <a:xfrm>
            <a:off x="548640" y="4178808"/>
            <a:ext cx="329184" cy="329184"/>
          </a:xfrm>
          <a:prstGeom prst="ellipse">
            <a:avLst/>
          </a:prstGeom>
          <a:solidFill>
            <a:srgbClr val="12897B"/>
          </a:solidFill>
          <a:ln w="12700">
            <a:solidFill>
              <a:srgbClr val="12897B"/>
            </a:solidFill>
            <a:prstDash val="solid"/>
          </a:ln>
        </p:spPr>
      </p:sp>
      <p:sp>
        <p:nvSpPr>
          <p:cNvPr id="13" name="Text 11"/>
          <p:cNvSpPr/>
          <p:nvPr/>
        </p:nvSpPr>
        <p:spPr>
          <a:xfrm>
            <a:off x="548640" y="41788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4" name="Text 12"/>
          <p:cNvSpPr/>
          <p:nvPr/>
        </p:nvSpPr>
        <p:spPr>
          <a:xfrm>
            <a:off x="987552" y="4178808"/>
            <a:ext cx="5029200" cy="329184"/>
          </a:xfrm>
          <a:prstGeom prst="rect">
            <a:avLst/>
          </a:prstGeom>
          <a:noFill/>
          <a:ln/>
        </p:spPr>
        <p:txBody>
          <a:bodyPr wrap="square" lIns="0" tIns="0" rIns="0" bIns="0" rtlCol="0" anchor="ctr"/>
          <a:lstStyle/>
          <a:p>
            <a:pPr indent="0" marL="0">
              <a:buNone/>
            </a:pPr>
            <a:r>
              <a:rPr lang="en-US" sz="1350" dirty="0">
                <a:solidFill>
                  <a:srgbClr val="152238"/>
                </a:solidFill>
                <a:latin typeface="Calibri" pitchFamily="34" charset="0"/>
                <a:ea typeface="Calibri" pitchFamily="34" charset="-122"/>
                <a:cs typeface="Calibri" pitchFamily="34" charset="-120"/>
              </a:rPr>
              <a:t>Better calibration, less overfitting</a:t>
            </a:r>
            <a:endParaRPr lang="en-US" sz="1350" dirty="0"/>
          </a:p>
        </p:txBody>
      </p:sp>
      <p:sp>
        <p:nvSpPr>
          <p:cNvPr id="15" name="Shape 13"/>
          <p:cNvSpPr/>
          <p:nvPr/>
        </p:nvSpPr>
        <p:spPr>
          <a:xfrm>
            <a:off x="548640" y="4837176"/>
            <a:ext cx="329184" cy="329184"/>
          </a:xfrm>
          <a:prstGeom prst="ellipse">
            <a:avLst/>
          </a:prstGeom>
          <a:solidFill>
            <a:srgbClr val="12897B"/>
          </a:solidFill>
          <a:ln w="12700">
            <a:solidFill>
              <a:srgbClr val="12897B"/>
            </a:solidFill>
            <a:prstDash val="solid"/>
          </a:ln>
        </p:spPr>
      </p:sp>
      <p:sp>
        <p:nvSpPr>
          <p:cNvPr id="16" name="Text 14"/>
          <p:cNvSpPr/>
          <p:nvPr/>
        </p:nvSpPr>
        <p:spPr>
          <a:xfrm>
            <a:off x="548640" y="483717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7" name="Text 15"/>
          <p:cNvSpPr/>
          <p:nvPr/>
        </p:nvSpPr>
        <p:spPr>
          <a:xfrm>
            <a:off x="987552" y="4837176"/>
            <a:ext cx="5029200" cy="329184"/>
          </a:xfrm>
          <a:prstGeom prst="rect">
            <a:avLst/>
          </a:prstGeom>
          <a:noFill/>
          <a:ln/>
        </p:spPr>
        <p:txBody>
          <a:bodyPr wrap="square" lIns="0" tIns="0" rIns="0" bIns="0" rtlCol="0" anchor="ctr"/>
          <a:lstStyle/>
          <a:p>
            <a:pPr indent="0" marL="0">
              <a:buNone/>
            </a:pPr>
            <a:r>
              <a:rPr lang="en-US" sz="1350" dirty="0">
                <a:solidFill>
                  <a:srgbClr val="152238"/>
                </a:solidFill>
                <a:latin typeface="Calibri" pitchFamily="34" charset="0"/>
                <a:ea typeface="Calibri" pitchFamily="34" charset="-122"/>
                <a:cs typeface="Calibri" pitchFamily="34" charset="-120"/>
              </a:rPr>
              <a:t>≈1.2× faster training — via their AS-Speed trick</a:t>
            </a:r>
            <a:endParaRPr lang="en-US" sz="1350" dirty="0"/>
          </a:p>
        </p:txBody>
      </p:sp>
      <p:sp>
        <p:nvSpPr>
          <p:cNvPr id="18" name="Shape 16"/>
          <p:cNvSpPr/>
          <p:nvPr/>
        </p:nvSpPr>
        <p:spPr>
          <a:xfrm>
            <a:off x="6309360" y="3383280"/>
            <a:ext cx="5303520" cy="1645920"/>
          </a:xfrm>
          <a:prstGeom prst="roundRect">
            <a:avLst>
              <a:gd name="adj" fmla="val 6667"/>
            </a:avLst>
          </a:prstGeom>
          <a:solidFill>
            <a:srgbClr val="FFFFFF"/>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19" name="Text 17"/>
          <p:cNvSpPr/>
          <p:nvPr/>
        </p:nvSpPr>
        <p:spPr>
          <a:xfrm>
            <a:off x="6583680" y="3566160"/>
            <a:ext cx="4754880" cy="256032"/>
          </a:xfrm>
          <a:prstGeom prst="rect">
            <a:avLst/>
          </a:prstGeom>
          <a:noFill/>
          <a:ln/>
        </p:spPr>
        <p:txBody>
          <a:bodyPr wrap="square" lIns="0" tIns="0" rIns="0" bIns="0" rtlCol="0" anchor="ctr"/>
          <a:lstStyle/>
          <a:p>
            <a:pPr indent="0" marL="0">
              <a:buNone/>
            </a:pPr>
            <a:r>
              <a:rPr lang="en-US" sz="1150" dirty="0">
                <a:solidFill>
                  <a:srgbClr val="8A93A6"/>
                </a:solidFill>
                <a:latin typeface="Calibri" pitchFamily="34" charset="0"/>
                <a:ea typeface="Calibri" pitchFamily="34" charset="-122"/>
                <a:cs typeface="Calibri" pitchFamily="34" charset="-120"/>
              </a:rPr>
              <a:t>Their headline number (SST-5)</a:t>
            </a:r>
            <a:endParaRPr lang="en-US" sz="1150" dirty="0"/>
          </a:p>
        </p:txBody>
      </p:sp>
      <p:sp>
        <p:nvSpPr>
          <p:cNvPr id="20" name="Text 18"/>
          <p:cNvSpPr/>
          <p:nvPr/>
        </p:nvSpPr>
        <p:spPr>
          <a:xfrm>
            <a:off x="6583680" y="3840480"/>
            <a:ext cx="4754880" cy="457200"/>
          </a:xfrm>
          <a:prstGeom prst="rect">
            <a:avLst/>
          </a:prstGeom>
          <a:noFill/>
          <a:ln/>
        </p:spPr>
        <p:txBody>
          <a:bodyPr wrap="square" lIns="0" tIns="0" rIns="0" bIns="0" rtlCol="0" anchor="ctr"/>
          <a:lstStyle/>
          <a:p>
            <a:pPr indent="0" marL="0">
              <a:buNone/>
            </a:pPr>
            <a:r>
              <a:rPr lang="en-US" sz="2600" b="1" dirty="0">
                <a:solidFill>
                  <a:srgbClr val="12897B"/>
                </a:solidFill>
                <a:latin typeface="Cambria" pitchFamily="34" charset="0"/>
                <a:ea typeface="Cambria" pitchFamily="34" charset="-122"/>
                <a:cs typeface="Cambria" pitchFamily="34" charset="-120"/>
              </a:rPr>
              <a:t>0.038   →   −0.952</a:t>
            </a:r>
            <a:endParaRPr lang="en-US" sz="2600" dirty="0"/>
          </a:p>
        </p:txBody>
      </p:sp>
      <p:sp>
        <p:nvSpPr>
          <p:cNvPr id="21" name="Text 19"/>
          <p:cNvSpPr/>
          <p:nvPr/>
        </p:nvSpPr>
        <p:spPr>
          <a:xfrm>
            <a:off x="6583680" y="4325112"/>
            <a:ext cx="4754880" cy="502920"/>
          </a:xfrm>
          <a:prstGeom prst="rect">
            <a:avLst/>
          </a:prstGeom>
          <a:noFill/>
          <a:ln/>
        </p:spPr>
        <p:txBody>
          <a:bodyPr wrap="square" lIns="0" tIns="0" rIns="0" bIns="0" rtlCol="0" anchor="ctr"/>
          <a:lstStyle/>
          <a:p>
            <a:pPr indent="0" marL="0">
              <a:buNone/>
            </a:pPr>
            <a:r>
              <a:rPr lang="en-US" sz="1100" dirty="0">
                <a:solidFill>
                  <a:srgbClr val="44506A"/>
                </a:solidFill>
                <a:latin typeface="Calibri" pitchFamily="34" charset="0"/>
                <a:ea typeface="Calibri" pitchFamily="34" charset="-122"/>
                <a:cs typeface="Calibri" pitchFamily="34" charset="-120"/>
              </a:rPr>
              <a:t>correlation between loss and validation accuracy: the loss finally tracks what we care about</a:t>
            </a:r>
            <a:endParaRPr lang="en-US" sz="1100" dirty="0"/>
          </a:p>
        </p:txBody>
      </p:sp>
      <p:sp>
        <p:nvSpPr>
          <p:cNvPr id="22" name="Text 20"/>
          <p:cNvSpPr/>
          <p:nvPr/>
        </p:nvSpPr>
        <p:spPr>
          <a:xfrm>
            <a:off x="548640" y="5349240"/>
            <a:ext cx="11064240" cy="310896"/>
          </a:xfrm>
          <a:prstGeom prst="rect">
            <a:avLst/>
          </a:prstGeom>
          <a:noFill/>
          <a:ln/>
        </p:spPr>
        <p:txBody>
          <a:bodyPr wrap="square" lIns="0" tIns="0" rIns="0" bIns="0" rtlCol="0" anchor="ctr"/>
          <a:lstStyle/>
          <a:p>
            <a:pPr indent="0" marL="0">
              <a:buNone/>
            </a:pPr>
            <a:r>
              <a:rPr lang="en-US" sz="1200" dirty="0">
                <a:solidFill>
                  <a:srgbClr val="8A93A6"/>
                </a:solidFill>
                <a:latin typeface="Calibri" pitchFamily="34" charset="0"/>
                <a:ea typeface="Calibri" pitchFamily="34" charset="-122"/>
                <a:cs typeface="Calibri" pitchFamily="34" charset="-120"/>
              </a:rPr>
              <a:t>Tested on:   SST-5 · CLINC150 · CoNLL2003 · SIGHAN2015 · Eurlex · WOS-46985   (text)   ·   WikiArt   (images)   ·   Chest-falsetto   (audio)</a:t>
            </a:r>
            <a:endParaRPr lang="en-US" sz="1200" dirty="0"/>
          </a:p>
        </p:txBody>
      </p:sp>
      <p:sp>
        <p:nvSpPr>
          <p:cNvPr id="23" name="Text 21"/>
          <p:cNvSpPr/>
          <p:nvPr/>
        </p:nvSpPr>
        <p:spPr>
          <a:xfrm>
            <a:off x="548640" y="5779008"/>
            <a:ext cx="11064240" cy="329184"/>
          </a:xfrm>
          <a:prstGeom prst="rect">
            <a:avLst/>
          </a:prstGeom>
          <a:noFill/>
          <a:ln/>
        </p:spPr>
        <p:txBody>
          <a:bodyPr wrap="square" lIns="0" tIns="0" rIns="0" bIns="0" rtlCol="0" anchor="ctr"/>
          <a:lstStyle/>
          <a:p>
            <a:pPr indent="0" marL="0">
              <a:buNone/>
            </a:pPr>
            <a:r>
              <a:rPr lang="en-US" sz="1450" b="1" i="1" dirty="0">
                <a:solidFill>
                  <a:srgbClr val="C1121F"/>
                </a:solidFill>
                <a:latin typeface="Calibri" pitchFamily="34" charset="0"/>
                <a:ea typeface="Calibri" pitchFamily="34" charset="-122"/>
                <a:cs typeface="Calibri" pitchFamily="34" charset="-120"/>
              </a:rPr>
              <a:t>The opening they leave: δ is a single global number, hand-tuned per dataset.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52238"/>
        </a:solidFill>
      </p:bgPr>
    </p:bg>
    <p:spTree>
      <p:nvGrpSpPr>
        <p:cNvPr id="1" name=""/>
        <p:cNvGrpSpPr/>
        <p:nvPr/>
      </p:nvGrpSpPr>
      <p:grpSpPr>
        <a:xfrm>
          <a:off x="0" y="0"/>
          <a:ext cx="0" cy="0"/>
          <a:chOff x="0" y="0"/>
          <a:chExt cx="0" cy="0"/>
        </a:xfrm>
      </p:grpSpPr>
      <p:sp>
        <p:nvSpPr>
          <p:cNvPr id="2" name="Text 0"/>
          <p:cNvSpPr/>
          <p:nvPr/>
        </p:nvSpPr>
        <p:spPr>
          <a:xfrm>
            <a:off x="777240" y="2148840"/>
            <a:ext cx="2011680" cy="1371600"/>
          </a:xfrm>
          <a:prstGeom prst="rect">
            <a:avLst/>
          </a:prstGeom>
          <a:noFill/>
          <a:ln/>
        </p:spPr>
        <p:txBody>
          <a:bodyPr wrap="square" lIns="0" tIns="0" rIns="0" bIns="0" rtlCol="0" anchor="ctr"/>
          <a:lstStyle/>
          <a:p>
            <a:pPr indent="0" marL="0">
              <a:buNone/>
            </a:pPr>
            <a:r>
              <a:rPr lang="en-US" sz="8400" b="1" dirty="0">
                <a:solidFill>
                  <a:srgbClr val="6FD8C9"/>
                </a:solidFill>
                <a:latin typeface="Cambria" pitchFamily="34" charset="0"/>
                <a:ea typeface="Cambria" pitchFamily="34" charset="-122"/>
                <a:cs typeface="Cambria" pitchFamily="34" charset="-120"/>
              </a:rPr>
              <a:t>03</a:t>
            </a:r>
            <a:endParaRPr lang="en-US" sz="8400" dirty="0"/>
          </a:p>
        </p:txBody>
      </p:sp>
      <p:sp>
        <p:nvSpPr>
          <p:cNvPr id="3" name="Text 1"/>
          <p:cNvSpPr/>
          <p:nvPr/>
        </p:nvSpPr>
        <p:spPr>
          <a:xfrm>
            <a:off x="2743200" y="2286000"/>
            <a:ext cx="8595360" cy="7772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Methodology</a:t>
            </a:r>
            <a:endParaRPr lang="en-US" sz="4000" dirty="0"/>
          </a:p>
        </p:txBody>
      </p:sp>
      <p:sp>
        <p:nvSpPr>
          <p:cNvPr id="4" name="Text 2"/>
          <p:cNvSpPr/>
          <p:nvPr/>
        </p:nvSpPr>
        <p:spPr>
          <a:xfrm>
            <a:off x="2788920" y="3063240"/>
            <a:ext cx="8595360" cy="365760"/>
          </a:xfrm>
          <a:prstGeom prst="rect">
            <a:avLst/>
          </a:prstGeom>
          <a:noFill/>
          <a:ln/>
        </p:spPr>
        <p:txBody>
          <a:bodyPr wrap="square" lIns="0" tIns="0" rIns="0" bIns="0" rtlCol="0" anchor="ctr"/>
          <a:lstStyle/>
          <a:p>
            <a:pPr indent="0" marL="0">
              <a:buNone/>
            </a:pPr>
            <a:r>
              <a:rPr lang="en-US" sz="1500" dirty="0">
                <a:solidFill>
                  <a:srgbClr val="A9B6CC"/>
                </a:solidFill>
                <a:latin typeface="Calibri" pitchFamily="34" charset="0"/>
                <a:ea typeface="Calibri" pitchFamily="34" charset="-122"/>
                <a:cs typeface="Calibri" pitchFamily="34" charset="-120"/>
              </a:rPr>
              <a:t>how we generalise the margin</a:t>
            </a:r>
            <a:endParaRPr lang="en-US" sz="1500" dirty="0"/>
          </a:p>
        </p:txBody>
      </p:sp>
      <p:sp>
        <p:nvSpPr>
          <p:cNvPr id="5" name="Shape 3"/>
          <p:cNvSpPr/>
          <p:nvPr/>
        </p:nvSpPr>
        <p:spPr>
          <a:xfrm>
            <a:off x="777240" y="5074920"/>
            <a:ext cx="2011680" cy="54864"/>
          </a:xfrm>
          <a:prstGeom prst="roundRect">
            <a:avLst>
              <a:gd name="adj" fmla="val 50000"/>
            </a:avLst>
          </a:prstGeom>
          <a:solidFill>
            <a:srgbClr val="2E4160"/>
          </a:solidFill>
          <a:ln w="12700">
            <a:solidFill>
              <a:srgbClr val="2E4160"/>
            </a:solidFill>
            <a:prstDash val="solid"/>
          </a:ln>
        </p:spPr>
      </p:sp>
      <p:sp>
        <p:nvSpPr>
          <p:cNvPr id="6" name="Text 4"/>
          <p:cNvSpPr/>
          <p:nvPr/>
        </p:nvSpPr>
        <p:spPr>
          <a:xfrm>
            <a:off x="777240" y="5230368"/>
            <a:ext cx="2103120" cy="274320"/>
          </a:xfrm>
          <a:prstGeom prst="rect">
            <a:avLst/>
          </a:prstGeom>
          <a:noFill/>
          <a:ln/>
        </p:spPr>
        <p:txBody>
          <a:bodyPr wrap="square" lIns="0" tIns="0" rIns="0" bIns="0" rtlCol="0" anchor="ctr"/>
          <a:lstStyle/>
          <a:p>
            <a:pPr indent="0" marL="0">
              <a:buNone/>
            </a:pPr>
            <a:r>
              <a:rPr lang="en-US" sz="950" dirty="0">
                <a:solidFill>
                  <a:srgbClr val="5A6B87"/>
                </a:solidFill>
                <a:latin typeface="Calibri" pitchFamily="34" charset="0"/>
                <a:ea typeface="Calibri" pitchFamily="34" charset="-122"/>
                <a:cs typeface="Calibri" pitchFamily="34" charset="-120"/>
              </a:rPr>
              <a:t>01  Introduction</a:t>
            </a:r>
            <a:endParaRPr lang="en-US" sz="950" dirty="0"/>
          </a:p>
        </p:txBody>
      </p:sp>
      <p:sp>
        <p:nvSpPr>
          <p:cNvPr id="7" name="Shape 5"/>
          <p:cNvSpPr/>
          <p:nvPr/>
        </p:nvSpPr>
        <p:spPr>
          <a:xfrm>
            <a:off x="2990088" y="5074920"/>
            <a:ext cx="2011680" cy="54864"/>
          </a:xfrm>
          <a:prstGeom prst="roundRect">
            <a:avLst>
              <a:gd name="adj" fmla="val 50000"/>
            </a:avLst>
          </a:prstGeom>
          <a:solidFill>
            <a:srgbClr val="2E4160"/>
          </a:solidFill>
          <a:ln w="12700">
            <a:solidFill>
              <a:srgbClr val="2E4160"/>
            </a:solidFill>
            <a:prstDash val="solid"/>
          </a:ln>
        </p:spPr>
      </p:sp>
      <p:sp>
        <p:nvSpPr>
          <p:cNvPr id="8" name="Text 6"/>
          <p:cNvSpPr/>
          <p:nvPr/>
        </p:nvSpPr>
        <p:spPr>
          <a:xfrm>
            <a:off x="2990088" y="5230368"/>
            <a:ext cx="2103120" cy="274320"/>
          </a:xfrm>
          <a:prstGeom prst="rect">
            <a:avLst/>
          </a:prstGeom>
          <a:noFill/>
          <a:ln/>
        </p:spPr>
        <p:txBody>
          <a:bodyPr wrap="square" lIns="0" tIns="0" rIns="0" bIns="0" rtlCol="0" anchor="ctr"/>
          <a:lstStyle/>
          <a:p>
            <a:pPr indent="0" marL="0">
              <a:buNone/>
            </a:pPr>
            <a:r>
              <a:rPr lang="en-US" sz="950" dirty="0">
                <a:solidFill>
                  <a:srgbClr val="5A6B87"/>
                </a:solidFill>
                <a:latin typeface="Calibri" pitchFamily="34" charset="0"/>
                <a:ea typeface="Calibri" pitchFamily="34" charset="-122"/>
                <a:cs typeface="Calibri" pitchFamily="34" charset="-120"/>
              </a:rPr>
              <a:t>02  Background</a:t>
            </a:r>
            <a:endParaRPr lang="en-US" sz="950" dirty="0"/>
          </a:p>
        </p:txBody>
      </p:sp>
      <p:sp>
        <p:nvSpPr>
          <p:cNvPr id="9" name="Shape 7"/>
          <p:cNvSpPr/>
          <p:nvPr/>
        </p:nvSpPr>
        <p:spPr>
          <a:xfrm>
            <a:off x="5202936" y="5074920"/>
            <a:ext cx="2011680" cy="54864"/>
          </a:xfrm>
          <a:prstGeom prst="roundRect">
            <a:avLst>
              <a:gd name="adj" fmla="val 50000"/>
            </a:avLst>
          </a:prstGeom>
          <a:solidFill>
            <a:srgbClr val="6FD8C9"/>
          </a:solidFill>
          <a:ln w="12700">
            <a:solidFill>
              <a:srgbClr val="6FD8C9"/>
            </a:solidFill>
            <a:prstDash val="solid"/>
          </a:ln>
        </p:spPr>
      </p:sp>
      <p:sp>
        <p:nvSpPr>
          <p:cNvPr id="10" name="Text 8"/>
          <p:cNvSpPr/>
          <p:nvPr/>
        </p:nvSpPr>
        <p:spPr>
          <a:xfrm>
            <a:off x="5202936" y="5230368"/>
            <a:ext cx="2103120" cy="274320"/>
          </a:xfrm>
          <a:prstGeom prst="rect">
            <a:avLst/>
          </a:prstGeom>
          <a:noFill/>
          <a:ln/>
        </p:spPr>
        <p:txBody>
          <a:bodyPr wrap="square" lIns="0" tIns="0" rIns="0" bIns="0" rtlCol="0" anchor="ctr"/>
          <a:lstStyle/>
          <a:p>
            <a:pPr indent="0" marL="0">
              <a:buNone/>
            </a:pPr>
            <a:r>
              <a:rPr lang="en-US" sz="950" b="1" dirty="0">
                <a:solidFill>
                  <a:srgbClr val="6FD8C9"/>
                </a:solidFill>
                <a:latin typeface="Calibri" pitchFamily="34" charset="0"/>
                <a:ea typeface="Calibri" pitchFamily="34" charset="-122"/>
                <a:cs typeface="Calibri" pitchFamily="34" charset="-120"/>
              </a:rPr>
              <a:t>03  Methodology</a:t>
            </a:r>
            <a:endParaRPr lang="en-US" sz="950" dirty="0"/>
          </a:p>
        </p:txBody>
      </p:sp>
      <p:sp>
        <p:nvSpPr>
          <p:cNvPr id="11" name="Shape 9"/>
          <p:cNvSpPr/>
          <p:nvPr/>
        </p:nvSpPr>
        <p:spPr>
          <a:xfrm>
            <a:off x="7415784" y="5074920"/>
            <a:ext cx="2011680" cy="54864"/>
          </a:xfrm>
          <a:prstGeom prst="roundRect">
            <a:avLst>
              <a:gd name="adj" fmla="val 50000"/>
            </a:avLst>
          </a:prstGeom>
          <a:solidFill>
            <a:srgbClr val="2E4160"/>
          </a:solidFill>
          <a:ln w="12700">
            <a:solidFill>
              <a:srgbClr val="2E4160"/>
            </a:solidFill>
            <a:prstDash val="solid"/>
          </a:ln>
        </p:spPr>
      </p:sp>
      <p:sp>
        <p:nvSpPr>
          <p:cNvPr id="12" name="Text 10"/>
          <p:cNvSpPr/>
          <p:nvPr/>
        </p:nvSpPr>
        <p:spPr>
          <a:xfrm>
            <a:off x="7415784" y="5230368"/>
            <a:ext cx="2103120" cy="274320"/>
          </a:xfrm>
          <a:prstGeom prst="rect">
            <a:avLst/>
          </a:prstGeom>
          <a:noFill/>
          <a:ln/>
        </p:spPr>
        <p:txBody>
          <a:bodyPr wrap="square" lIns="0" tIns="0" rIns="0" bIns="0" rtlCol="0" anchor="ctr"/>
          <a:lstStyle/>
          <a:p>
            <a:pPr indent="0" marL="0">
              <a:buNone/>
            </a:pPr>
            <a:r>
              <a:rPr lang="en-US" sz="950" dirty="0">
                <a:solidFill>
                  <a:srgbClr val="5A6B87"/>
                </a:solidFill>
                <a:latin typeface="Calibri" pitchFamily="34" charset="0"/>
                <a:ea typeface="Calibri" pitchFamily="34" charset="-122"/>
                <a:cs typeface="Calibri" pitchFamily="34" charset="-120"/>
              </a:rPr>
              <a:t>04  Experimentation</a:t>
            </a:r>
            <a:endParaRPr lang="en-US" sz="950" dirty="0"/>
          </a:p>
        </p:txBody>
      </p:sp>
      <p:sp>
        <p:nvSpPr>
          <p:cNvPr id="13" name="Shape 11"/>
          <p:cNvSpPr/>
          <p:nvPr/>
        </p:nvSpPr>
        <p:spPr>
          <a:xfrm>
            <a:off x="9628632" y="5074920"/>
            <a:ext cx="2011680" cy="54864"/>
          </a:xfrm>
          <a:prstGeom prst="roundRect">
            <a:avLst>
              <a:gd name="adj" fmla="val 50000"/>
            </a:avLst>
          </a:prstGeom>
          <a:solidFill>
            <a:srgbClr val="2E4160"/>
          </a:solidFill>
          <a:ln w="12700">
            <a:solidFill>
              <a:srgbClr val="2E4160"/>
            </a:solidFill>
            <a:prstDash val="solid"/>
          </a:ln>
        </p:spPr>
      </p:sp>
      <p:sp>
        <p:nvSpPr>
          <p:cNvPr id="14" name="Text 12"/>
          <p:cNvSpPr/>
          <p:nvPr/>
        </p:nvSpPr>
        <p:spPr>
          <a:xfrm>
            <a:off x="9628632" y="5230368"/>
            <a:ext cx="2103120" cy="274320"/>
          </a:xfrm>
          <a:prstGeom prst="rect">
            <a:avLst/>
          </a:prstGeom>
          <a:noFill/>
          <a:ln/>
        </p:spPr>
        <p:txBody>
          <a:bodyPr wrap="square" lIns="0" tIns="0" rIns="0" bIns="0" rtlCol="0" anchor="ctr"/>
          <a:lstStyle/>
          <a:p>
            <a:pPr indent="0" marL="0">
              <a:buNone/>
            </a:pPr>
            <a:r>
              <a:rPr lang="en-US" sz="950" dirty="0">
                <a:solidFill>
                  <a:srgbClr val="5A6B87"/>
                </a:solidFill>
                <a:latin typeface="Calibri" pitchFamily="34" charset="0"/>
                <a:ea typeface="Calibri" pitchFamily="34" charset="-122"/>
                <a:cs typeface="Calibri" pitchFamily="34" charset="-120"/>
              </a:rPr>
              <a:t>05  Results &amp; Demonstration</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64240" cy="256032"/>
          </a:xfrm>
          <a:prstGeom prst="rect">
            <a:avLst/>
          </a:prstGeom>
          <a:noFill/>
          <a:ln/>
        </p:spPr>
        <p:txBody>
          <a:bodyPr wrap="square" lIns="0" tIns="0" rIns="0" bIns="0" rtlCol="0" anchor="ctr"/>
          <a:lstStyle/>
          <a:p>
            <a:pPr indent="0" marL="0">
              <a:buNone/>
            </a:pPr>
            <a:r>
              <a:rPr lang="en-US" sz="1200" b="1" spc="200" kern="0" dirty="0">
                <a:solidFill>
                  <a:srgbClr val="12897B"/>
                </a:solidFill>
                <a:latin typeface="Calibri" pitchFamily="34" charset="0"/>
                <a:ea typeface="Calibri" pitchFamily="34" charset="-122"/>
                <a:cs typeface="Calibri" pitchFamily="34" charset="-120"/>
              </a:rPr>
              <a:t>METHODOLOGY · OUR APPROACH</a:t>
            </a:r>
            <a:endParaRPr lang="en-US" sz="1200" dirty="0"/>
          </a:p>
        </p:txBody>
      </p:sp>
      <p:sp>
        <p:nvSpPr>
          <p:cNvPr id="3" name="Text 1"/>
          <p:cNvSpPr/>
          <p:nvPr/>
        </p:nvSpPr>
        <p:spPr>
          <a:xfrm>
            <a:off x="548640" y="603504"/>
            <a:ext cx="11064240" cy="685800"/>
          </a:xfrm>
          <a:prstGeom prst="rect">
            <a:avLst/>
          </a:prstGeom>
          <a:noFill/>
          <a:ln/>
        </p:spPr>
        <p:txBody>
          <a:bodyPr wrap="square" lIns="0" tIns="0" rIns="0" bIns="0" rtlCol="0" anchor="t"/>
          <a:lstStyle/>
          <a:p>
            <a:pPr indent="0" marL="0">
              <a:buNone/>
            </a:pPr>
            <a:r>
              <a:rPr lang="en-US" sz="3200" b="1" dirty="0">
                <a:solidFill>
                  <a:srgbClr val="152238"/>
                </a:solidFill>
                <a:latin typeface="Cambria" pitchFamily="34" charset="0"/>
                <a:ea typeface="Cambria" pitchFamily="34" charset="-122"/>
                <a:cs typeface="Cambria" pitchFamily="34" charset="-120"/>
              </a:rPr>
              <a:t>Our idea: one number for everything is too crude</a:t>
            </a:r>
            <a:endParaRPr lang="en-US" sz="3200" dirty="0"/>
          </a:p>
        </p:txBody>
      </p:sp>
      <p:sp>
        <p:nvSpPr>
          <p:cNvPr id="4" name="Shape 2"/>
          <p:cNvSpPr/>
          <p:nvPr/>
        </p:nvSpPr>
        <p:spPr>
          <a:xfrm>
            <a:off x="3246120" y="1371600"/>
            <a:ext cx="5669280" cy="658368"/>
          </a:xfrm>
          <a:prstGeom prst="roundRect">
            <a:avLst>
              <a:gd name="adj" fmla="val 19444"/>
            </a:avLst>
          </a:prstGeom>
          <a:solidFill>
            <a:srgbClr val="152238"/>
          </a:solidFill>
          <a:ln w="12700">
            <a:solidFill>
              <a:srgbClr val="152238"/>
            </a:solidFill>
            <a:prstDash val="solid"/>
          </a:ln>
        </p:spPr>
      </p:sp>
      <p:sp>
        <p:nvSpPr>
          <p:cNvPr id="5" name="Text 3"/>
          <p:cNvSpPr/>
          <p:nvPr/>
        </p:nvSpPr>
        <p:spPr>
          <a:xfrm>
            <a:off x="3246120" y="1371600"/>
            <a:ext cx="5669280" cy="65836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δ      →      δ t,j (x, τ)</a:t>
            </a:r>
            <a:endParaRPr lang="en-US" sz="2100" dirty="0"/>
          </a:p>
        </p:txBody>
      </p:sp>
      <p:sp>
        <p:nvSpPr>
          <p:cNvPr id="6" name="Text 4"/>
          <p:cNvSpPr/>
          <p:nvPr/>
        </p:nvSpPr>
        <p:spPr>
          <a:xfrm>
            <a:off x="3246120" y="2103120"/>
            <a:ext cx="5669280" cy="274320"/>
          </a:xfrm>
          <a:prstGeom prst="rect">
            <a:avLst/>
          </a:prstGeom>
          <a:noFill/>
          <a:ln/>
        </p:spPr>
        <p:txBody>
          <a:bodyPr wrap="square" lIns="0" tIns="0" rIns="0" bIns="0" rtlCol="0" anchor="ctr"/>
          <a:lstStyle/>
          <a:p>
            <a:pPr algn="ctr" indent="0" marL="0">
              <a:buNone/>
            </a:pPr>
            <a:r>
              <a:rPr lang="en-US" sz="1250" i="1" dirty="0">
                <a:solidFill>
                  <a:srgbClr val="8A93A6"/>
                </a:solidFill>
                <a:latin typeface="Calibri" pitchFamily="34" charset="0"/>
                <a:ea typeface="Calibri" pitchFamily="34" charset="-122"/>
                <a:cs typeface="Calibri" pitchFamily="34" charset="-120"/>
              </a:rPr>
              <a:t>one fixed gap  →  a gap that adapts</a:t>
            </a:r>
            <a:endParaRPr lang="en-US" sz="1250" dirty="0"/>
          </a:p>
        </p:txBody>
      </p:sp>
      <p:sp>
        <p:nvSpPr>
          <p:cNvPr id="7" name="Shape 5"/>
          <p:cNvSpPr/>
          <p:nvPr/>
        </p:nvSpPr>
        <p:spPr>
          <a:xfrm>
            <a:off x="548640" y="2651760"/>
            <a:ext cx="3401568" cy="2880360"/>
          </a:xfrm>
          <a:prstGeom prst="roundRect">
            <a:avLst>
              <a:gd name="adj" fmla="val 3810"/>
            </a:avLst>
          </a:prstGeom>
          <a:solidFill>
            <a:srgbClr val="FFFFFF"/>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8" name="Shape 6"/>
          <p:cNvSpPr/>
          <p:nvPr/>
        </p:nvSpPr>
        <p:spPr>
          <a:xfrm>
            <a:off x="841248" y="2907792"/>
            <a:ext cx="475488" cy="475488"/>
          </a:xfrm>
          <a:prstGeom prst="ellipse">
            <a:avLst/>
          </a:prstGeom>
          <a:solidFill>
            <a:srgbClr val="12897B"/>
          </a:solidFill>
          <a:ln w="12700">
            <a:solidFill>
              <a:srgbClr val="12897B"/>
            </a:solidFill>
            <a:prstDash val="solid"/>
          </a:ln>
        </p:spPr>
      </p:sp>
      <p:sp>
        <p:nvSpPr>
          <p:cNvPr id="9" name="Text 7"/>
          <p:cNvSpPr/>
          <p:nvPr/>
        </p:nvSpPr>
        <p:spPr>
          <a:xfrm>
            <a:off x="841248" y="290779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10" name="Text 8"/>
          <p:cNvSpPr/>
          <p:nvPr/>
        </p:nvSpPr>
        <p:spPr>
          <a:xfrm>
            <a:off x="1444752" y="2926080"/>
            <a:ext cx="2286000" cy="411480"/>
          </a:xfrm>
          <a:prstGeom prst="rect">
            <a:avLst/>
          </a:prstGeom>
          <a:noFill/>
          <a:ln/>
        </p:spPr>
        <p:txBody>
          <a:bodyPr wrap="square" lIns="0" tIns="0" rIns="0" bIns="0" rtlCol="0" anchor="ctr"/>
          <a:lstStyle/>
          <a:p>
            <a:pPr indent="0" marL="0">
              <a:buNone/>
            </a:pPr>
            <a:r>
              <a:rPr lang="en-US" sz="1900" b="1" dirty="0">
                <a:solidFill>
                  <a:srgbClr val="152238"/>
                </a:solidFill>
                <a:latin typeface="Cambria" pitchFamily="34" charset="0"/>
                <a:ea typeface="Cambria" pitchFamily="34" charset="-122"/>
                <a:cs typeface="Cambria" pitchFamily="34" charset="-120"/>
              </a:rPr>
              <a:t>Class-pair</a:t>
            </a:r>
            <a:endParaRPr lang="en-US" sz="1900" dirty="0"/>
          </a:p>
        </p:txBody>
      </p:sp>
      <p:sp>
        <p:nvSpPr>
          <p:cNvPr id="11" name="Text 9"/>
          <p:cNvSpPr/>
          <p:nvPr/>
        </p:nvSpPr>
        <p:spPr>
          <a:xfrm>
            <a:off x="841248" y="3611880"/>
            <a:ext cx="2834640" cy="731520"/>
          </a:xfrm>
          <a:prstGeom prst="rect">
            <a:avLst/>
          </a:prstGeom>
          <a:noFill/>
          <a:ln/>
        </p:spPr>
        <p:txBody>
          <a:bodyPr wrap="square" lIns="0" tIns="0" rIns="0" bIns="0" rtlCol="0" anchor="ctr"/>
          <a:lstStyle/>
          <a:p>
            <a:pPr indent="0" marL="0">
              <a:lnSpc>
                <a:spcPts val="1800"/>
              </a:lnSpc>
              <a:buNone/>
            </a:pPr>
            <a:r>
              <a:rPr lang="en-US" sz="1300" dirty="0">
                <a:solidFill>
                  <a:srgbClr val="44506A"/>
                </a:solidFill>
                <a:latin typeface="Calibri" pitchFamily="34" charset="0"/>
                <a:ea typeface="Calibri" pitchFamily="34" charset="-122"/>
                <a:cs typeface="Calibri" pitchFamily="34" charset="-120"/>
              </a:rPr>
              <a:t>Some answers are genuinely easy to confuse.</a:t>
            </a:r>
            <a:endParaRPr lang="en-US" sz="1300" dirty="0"/>
          </a:p>
        </p:txBody>
      </p:sp>
      <p:sp>
        <p:nvSpPr>
          <p:cNvPr id="12" name="Text 10"/>
          <p:cNvSpPr/>
          <p:nvPr/>
        </p:nvSpPr>
        <p:spPr>
          <a:xfrm>
            <a:off x="841248" y="4480560"/>
            <a:ext cx="2834640" cy="868680"/>
          </a:xfrm>
          <a:prstGeom prst="rect">
            <a:avLst/>
          </a:prstGeom>
          <a:noFill/>
          <a:ln/>
        </p:spPr>
        <p:txBody>
          <a:bodyPr wrap="square" lIns="0" tIns="0" rIns="0" bIns="0" rtlCol="0" anchor="ctr"/>
          <a:lstStyle/>
          <a:p>
            <a:pPr indent="0" marL="0">
              <a:lnSpc>
                <a:spcPts val="1600"/>
              </a:lnSpc>
              <a:buNone/>
            </a:pPr>
            <a:r>
              <a:rPr lang="en-US" sz="1150" i="1" dirty="0">
                <a:solidFill>
                  <a:srgbClr val="8A93A6"/>
                </a:solidFill>
                <a:latin typeface="Calibri" pitchFamily="34" charset="0"/>
                <a:ea typeface="Calibri" pitchFamily="34" charset="-122"/>
                <a:cs typeface="Calibri" pitchFamily="34" charset="-120"/>
              </a:rPr>
              <a:t>"cat vs dog" deserves a bigger gap than "cat vs aeroplane"</a:t>
            </a:r>
            <a:endParaRPr lang="en-US" sz="1150" dirty="0"/>
          </a:p>
        </p:txBody>
      </p:sp>
      <p:sp>
        <p:nvSpPr>
          <p:cNvPr id="13" name="Shape 11"/>
          <p:cNvSpPr/>
          <p:nvPr/>
        </p:nvSpPr>
        <p:spPr>
          <a:xfrm>
            <a:off x="4261104" y="2651760"/>
            <a:ext cx="3401568" cy="2880360"/>
          </a:xfrm>
          <a:prstGeom prst="roundRect">
            <a:avLst>
              <a:gd name="adj" fmla="val 3810"/>
            </a:avLst>
          </a:prstGeom>
          <a:solidFill>
            <a:srgbClr val="FFFFFF"/>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14" name="Shape 12"/>
          <p:cNvSpPr/>
          <p:nvPr/>
        </p:nvSpPr>
        <p:spPr>
          <a:xfrm>
            <a:off x="4553712" y="2907792"/>
            <a:ext cx="475488" cy="475488"/>
          </a:xfrm>
          <a:prstGeom prst="ellipse">
            <a:avLst/>
          </a:prstGeom>
          <a:solidFill>
            <a:srgbClr val="C97B1E"/>
          </a:solidFill>
          <a:ln w="12700">
            <a:solidFill>
              <a:srgbClr val="C97B1E"/>
            </a:solidFill>
            <a:prstDash val="solid"/>
          </a:ln>
        </p:spPr>
      </p:sp>
      <p:sp>
        <p:nvSpPr>
          <p:cNvPr id="15" name="Text 13"/>
          <p:cNvSpPr/>
          <p:nvPr/>
        </p:nvSpPr>
        <p:spPr>
          <a:xfrm>
            <a:off x="4553712" y="290779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6" name="Text 14"/>
          <p:cNvSpPr/>
          <p:nvPr/>
        </p:nvSpPr>
        <p:spPr>
          <a:xfrm>
            <a:off x="5157216" y="2926080"/>
            <a:ext cx="2286000" cy="411480"/>
          </a:xfrm>
          <a:prstGeom prst="rect">
            <a:avLst/>
          </a:prstGeom>
          <a:noFill/>
          <a:ln/>
        </p:spPr>
        <p:txBody>
          <a:bodyPr wrap="square" lIns="0" tIns="0" rIns="0" bIns="0" rtlCol="0" anchor="ctr"/>
          <a:lstStyle/>
          <a:p>
            <a:pPr indent="0" marL="0">
              <a:buNone/>
            </a:pPr>
            <a:r>
              <a:rPr lang="en-US" sz="1900" b="1" dirty="0">
                <a:solidFill>
                  <a:srgbClr val="152238"/>
                </a:solidFill>
                <a:latin typeface="Cambria" pitchFamily="34" charset="0"/>
                <a:ea typeface="Cambria" pitchFamily="34" charset="-122"/>
                <a:cs typeface="Cambria" pitchFamily="34" charset="-120"/>
              </a:rPr>
              <a:t>Sample</a:t>
            </a:r>
            <a:endParaRPr lang="en-US" sz="1900" dirty="0"/>
          </a:p>
        </p:txBody>
      </p:sp>
      <p:sp>
        <p:nvSpPr>
          <p:cNvPr id="17" name="Text 15"/>
          <p:cNvSpPr/>
          <p:nvPr/>
        </p:nvSpPr>
        <p:spPr>
          <a:xfrm>
            <a:off x="4553712" y="3611880"/>
            <a:ext cx="2834640" cy="731520"/>
          </a:xfrm>
          <a:prstGeom prst="rect">
            <a:avLst/>
          </a:prstGeom>
          <a:noFill/>
          <a:ln/>
        </p:spPr>
        <p:txBody>
          <a:bodyPr wrap="square" lIns="0" tIns="0" rIns="0" bIns="0" rtlCol="0" anchor="ctr"/>
          <a:lstStyle/>
          <a:p>
            <a:pPr indent="0" marL="0">
              <a:lnSpc>
                <a:spcPts val="1800"/>
              </a:lnSpc>
              <a:buNone/>
            </a:pPr>
            <a:r>
              <a:rPr lang="en-US" sz="1300" dirty="0">
                <a:solidFill>
                  <a:srgbClr val="44506A"/>
                </a:solidFill>
                <a:latin typeface="Calibri" pitchFamily="34" charset="0"/>
                <a:ea typeface="Calibri" pitchFamily="34" charset="-122"/>
                <a:cs typeface="Calibri" pitchFamily="34" charset="-120"/>
              </a:rPr>
              <a:t>Some individual examples are ambiguous or plain wrong.</a:t>
            </a:r>
            <a:endParaRPr lang="en-US" sz="1300" dirty="0"/>
          </a:p>
        </p:txBody>
      </p:sp>
      <p:sp>
        <p:nvSpPr>
          <p:cNvPr id="18" name="Text 16"/>
          <p:cNvSpPr/>
          <p:nvPr/>
        </p:nvSpPr>
        <p:spPr>
          <a:xfrm>
            <a:off x="4553712" y="4480560"/>
            <a:ext cx="2834640" cy="868680"/>
          </a:xfrm>
          <a:prstGeom prst="rect">
            <a:avLst/>
          </a:prstGeom>
          <a:noFill/>
          <a:ln/>
        </p:spPr>
        <p:txBody>
          <a:bodyPr wrap="square" lIns="0" tIns="0" rIns="0" bIns="0" rtlCol="0" anchor="ctr"/>
          <a:lstStyle/>
          <a:p>
            <a:pPr indent="0" marL="0">
              <a:lnSpc>
                <a:spcPts val="1600"/>
              </a:lnSpc>
              <a:buNone/>
            </a:pPr>
            <a:r>
              <a:rPr lang="en-US" sz="1150" i="1" dirty="0">
                <a:solidFill>
                  <a:srgbClr val="8A93A6"/>
                </a:solidFill>
                <a:latin typeface="Calibri" pitchFamily="34" charset="0"/>
                <a:ea typeface="Calibri" pitchFamily="34" charset="-122"/>
                <a:cs typeface="Calibri" pitchFamily="34" charset="-120"/>
              </a:rPr>
              <a:t>A blurry photo should not be treated like a clear one</a:t>
            </a:r>
            <a:endParaRPr lang="en-US" sz="1150" dirty="0"/>
          </a:p>
        </p:txBody>
      </p:sp>
      <p:sp>
        <p:nvSpPr>
          <p:cNvPr id="19" name="Shape 17"/>
          <p:cNvSpPr/>
          <p:nvPr/>
        </p:nvSpPr>
        <p:spPr>
          <a:xfrm>
            <a:off x="7973568" y="2651760"/>
            <a:ext cx="3401568" cy="2880360"/>
          </a:xfrm>
          <a:prstGeom prst="roundRect">
            <a:avLst>
              <a:gd name="adj" fmla="val 3810"/>
            </a:avLst>
          </a:prstGeom>
          <a:solidFill>
            <a:srgbClr val="FFFFFF"/>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20" name="Shape 18"/>
          <p:cNvSpPr/>
          <p:nvPr/>
        </p:nvSpPr>
        <p:spPr>
          <a:xfrm>
            <a:off x="8266176" y="2907792"/>
            <a:ext cx="475488" cy="475488"/>
          </a:xfrm>
          <a:prstGeom prst="ellipse">
            <a:avLst/>
          </a:prstGeom>
          <a:solidFill>
            <a:srgbClr val="3E6FA8"/>
          </a:solidFill>
          <a:ln w="12700">
            <a:solidFill>
              <a:srgbClr val="3E6FA8"/>
            </a:solidFill>
            <a:prstDash val="solid"/>
          </a:ln>
        </p:spPr>
      </p:sp>
      <p:sp>
        <p:nvSpPr>
          <p:cNvPr id="21" name="Text 19"/>
          <p:cNvSpPr/>
          <p:nvPr/>
        </p:nvSpPr>
        <p:spPr>
          <a:xfrm>
            <a:off x="8266176" y="290779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22" name="Text 20"/>
          <p:cNvSpPr/>
          <p:nvPr/>
        </p:nvSpPr>
        <p:spPr>
          <a:xfrm>
            <a:off x="8869680" y="2926080"/>
            <a:ext cx="2286000" cy="411480"/>
          </a:xfrm>
          <a:prstGeom prst="rect">
            <a:avLst/>
          </a:prstGeom>
          <a:noFill/>
          <a:ln/>
        </p:spPr>
        <p:txBody>
          <a:bodyPr wrap="square" lIns="0" tIns="0" rIns="0" bIns="0" rtlCol="0" anchor="ctr"/>
          <a:lstStyle/>
          <a:p>
            <a:pPr indent="0" marL="0">
              <a:buNone/>
            </a:pPr>
            <a:r>
              <a:rPr lang="en-US" sz="1900" b="1" dirty="0">
                <a:solidFill>
                  <a:srgbClr val="152238"/>
                </a:solidFill>
                <a:latin typeface="Cambria" pitchFamily="34" charset="0"/>
                <a:ea typeface="Cambria" pitchFamily="34" charset="-122"/>
                <a:cs typeface="Cambria" pitchFamily="34" charset="-120"/>
              </a:rPr>
              <a:t>Time</a:t>
            </a:r>
            <a:endParaRPr lang="en-US" sz="1900" dirty="0"/>
          </a:p>
        </p:txBody>
      </p:sp>
      <p:sp>
        <p:nvSpPr>
          <p:cNvPr id="23" name="Text 21"/>
          <p:cNvSpPr/>
          <p:nvPr/>
        </p:nvSpPr>
        <p:spPr>
          <a:xfrm>
            <a:off x="8266176" y="3611880"/>
            <a:ext cx="2834640" cy="731520"/>
          </a:xfrm>
          <a:prstGeom prst="rect">
            <a:avLst/>
          </a:prstGeom>
          <a:noFill/>
          <a:ln/>
        </p:spPr>
        <p:txBody>
          <a:bodyPr wrap="square" lIns="0" tIns="0" rIns="0" bIns="0" rtlCol="0" anchor="ctr"/>
          <a:lstStyle/>
          <a:p>
            <a:pPr indent="0" marL="0">
              <a:lnSpc>
                <a:spcPts val="1800"/>
              </a:lnSpc>
              <a:buNone/>
            </a:pPr>
            <a:r>
              <a:rPr lang="en-US" sz="1300" dirty="0">
                <a:solidFill>
                  <a:srgbClr val="44506A"/>
                </a:solidFill>
                <a:latin typeface="Calibri" pitchFamily="34" charset="0"/>
                <a:ea typeface="Calibri" pitchFamily="34" charset="-122"/>
                <a:cs typeface="Calibri" pitchFamily="34" charset="-120"/>
              </a:rPr>
              <a:t>Early training is basically guessing.</a:t>
            </a:r>
            <a:endParaRPr lang="en-US" sz="1300" dirty="0"/>
          </a:p>
        </p:txBody>
      </p:sp>
      <p:sp>
        <p:nvSpPr>
          <p:cNvPr id="24" name="Text 22"/>
          <p:cNvSpPr/>
          <p:nvPr/>
        </p:nvSpPr>
        <p:spPr>
          <a:xfrm>
            <a:off x="8266176" y="4480560"/>
            <a:ext cx="2834640" cy="868680"/>
          </a:xfrm>
          <a:prstGeom prst="rect">
            <a:avLst/>
          </a:prstGeom>
          <a:noFill/>
          <a:ln/>
        </p:spPr>
        <p:txBody>
          <a:bodyPr wrap="square" lIns="0" tIns="0" rIns="0" bIns="0" rtlCol="0" anchor="ctr"/>
          <a:lstStyle/>
          <a:p>
            <a:pPr indent="0" marL="0">
              <a:lnSpc>
                <a:spcPts val="1600"/>
              </a:lnSpc>
              <a:buNone/>
            </a:pPr>
            <a:r>
              <a:rPr lang="en-US" sz="1150" i="1" dirty="0">
                <a:solidFill>
                  <a:srgbClr val="8A93A6"/>
                </a:solidFill>
                <a:latin typeface="Calibri" pitchFamily="34" charset="0"/>
                <a:ea typeface="Calibri" pitchFamily="34" charset="-122"/>
                <a:cs typeface="Calibri" pitchFamily="34" charset="-120"/>
              </a:rPr>
              <a:t>Start loose, tighten as the model becomes trustworthy</a:t>
            </a:r>
            <a:endParaRPr lang="en-US" sz="1150" dirty="0"/>
          </a:p>
        </p:txBody>
      </p:sp>
      <p:sp>
        <p:nvSpPr>
          <p:cNvPr id="25" name="Text 23"/>
          <p:cNvSpPr/>
          <p:nvPr/>
        </p:nvSpPr>
        <p:spPr>
          <a:xfrm>
            <a:off x="548640" y="5806440"/>
            <a:ext cx="11064240" cy="310896"/>
          </a:xfrm>
          <a:prstGeom prst="rect">
            <a:avLst/>
          </a:prstGeom>
          <a:noFill/>
          <a:ln/>
        </p:spPr>
        <p:txBody>
          <a:bodyPr wrap="square" lIns="0" tIns="0" rIns="0" bIns="0" rtlCol="0" anchor="ctr"/>
          <a:lstStyle/>
          <a:p>
            <a:pPr algn="ctr" indent="0" marL="0">
              <a:buNone/>
            </a:pPr>
            <a:r>
              <a:rPr lang="en-US" sz="1350" i="1" dirty="0">
                <a:solidFill>
                  <a:srgbClr val="44506A"/>
                </a:solidFill>
                <a:latin typeface="Calibri" pitchFamily="34" charset="0"/>
                <a:ea typeface="Calibri" pitchFamily="34" charset="-122"/>
                <a:cs typeface="Calibri" pitchFamily="34" charset="-120"/>
              </a:rPr>
              <a:t>We test one axis at a time, so any gain can be traced to a specific cause.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64240" cy="256032"/>
          </a:xfrm>
          <a:prstGeom prst="rect">
            <a:avLst/>
          </a:prstGeom>
          <a:noFill/>
          <a:ln/>
        </p:spPr>
        <p:txBody>
          <a:bodyPr wrap="square" lIns="0" tIns="0" rIns="0" bIns="0" rtlCol="0" anchor="ctr"/>
          <a:lstStyle/>
          <a:p>
            <a:pPr indent="0" marL="0">
              <a:buNone/>
            </a:pPr>
            <a:r>
              <a:rPr lang="en-US" sz="1200" b="1" spc="200" kern="0" dirty="0">
                <a:solidFill>
                  <a:srgbClr val="12897B"/>
                </a:solidFill>
                <a:latin typeface="Calibri" pitchFamily="34" charset="0"/>
                <a:ea typeface="Calibri" pitchFamily="34" charset="-122"/>
                <a:cs typeface="Calibri" pitchFamily="34" charset="-120"/>
              </a:rPr>
              <a:t>METHODOLOGY · THE KEY IDEA</a:t>
            </a:r>
            <a:endParaRPr lang="en-US" sz="1200" dirty="0"/>
          </a:p>
        </p:txBody>
      </p:sp>
      <p:sp>
        <p:nvSpPr>
          <p:cNvPr id="3" name="Text 1"/>
          <p:cNvSpPr/>
          <p:nvPr/>
        </p:nvSpPr>
        <p:spPr>
          <a:xfrm>
            <a:off x="548640" y="603504"/>
            <a:ext cx="11064240" cy="685800"/>
          </a:xfrm>
          <a:prstGeom prst="rect">
            <a:avLst/>
          </a:prstGeom>
          <a:noFill/>
          <a:ln/>
        </p:spPr>
        <p:txBody>
          <a:bodyPr wrap="square" lIns="0" tIns="0" rIns="0" bIns="0" rtlCol="0" anchor="t"/>
          <a:lstStyle/>
          <a:p>
            <a:pPr indent="0" marL="0">
              <a:buNone/>
            </a:pPr>
            <a:r>
              <a:rPr lang="en-US" sz="3200" b="1" dirty="0">
                <a:solidFill>
                  <a:srgbClr val="152238"/>
                </a:solidFill>
                <a:latin typeface="Cambria" pitchFamily="34" charset="0"/>
                <a:ea typeface="Cambria" pitchFamily="34" charset="-122"/>
                <a:cs typeface="Cambria" pitchFamily="34" charset="-120"/>
              </a:rPr>
              <a:t>The new idea: let the gap go NEGATIVE</a:t>
            </a:r>
            <a:endParaRPr lang="en-US" sz="3200" dirty="0"/>
          </a:p>
        </p:txBody>
      </p:sp>
      <p:sp>
        <p:nvSpPr>
          <p:cNvPr id="4" name="Text 2"/>
          <p:cNvSpPr/>
          <p:nvPr/>
        </p:nvSpPr>
        <p:spPr>
          <a:xfrm>
            <a:off x="548640" y="1371600"/>
            <a:ext cx="11064240" cy="685800"/>
          </a:xfrm>
          <a:prstGeom prst="rect">
            <a:avLst/>
          </a:prstGeom>
          <a:noFill/>
          <a:ln/>
        </p:spPr>
        <p:txBody>
          <a:bodyPr wrap="square" lIns="0" tIns="0" rIns="0" bIns="0" rtlCol="0" anchor="ctr"/>
          <a:lstStyle/>
          <a:p>
            <a:pPr indent="0" marL="0">
              <a:lnSpc>
                <a:spcPts val="2100"/>
              </a:lnSpc>
              <a:buNone/>
            </a:pPr>
            <a:r>
              <a:rPr lang="en-US" sz="1500" dirty="0">
                <a:solidFill>
                  <a:srgbClr val="44506A"/>
                </a:solidFill>
                <a:latin typeface="Calibri" pitchFamily="34" charset="0"/>
                <a:ea typeface="Calibri" pitchFamily="34" charset="-122"/>
                <a:cs typeface="Calibri" pitchFamily="34" charset="-120"/>
              </a:rPr>
              <a:t>Nothing in the maths says a margin has to be positive. The gap p_t − p_j lives between −1 and +1, so δ = −0.4 is a perfectly legal threshold. It means: drop this wrong answer even if it is currently WINNING.</a:t>
            </a:r>
            <a:endParaRPr lang="en-US" sz="1500" dirty="0"/>
          </a:p>
        </p:txBody>
      </p:sp>
      <p:sp>
        <p:nvSpPr>
          <p:cNvPr id="5" name="Shape 3"/>
          <p:cNvSpPr/>
          <p:nvPr/>
        </p:nvSpPr>
        <p:spPr>
          <a:xfrm>
            <a:off x="548640" y="2240280"/>
            <a:ext cx="5349240" cy="2514600"/>
          </a:xfrm>
          <a:prstGeom prst="roundRect">
            <a:avLst>
              <a:gd name="adj" fmla="val 4364"/>
            </a:avLst>
          </a:prstGeom>
          <a:solidFill>
            <a:srgbClr val="FBEDEE"/>
          </a:solidFill>
          <a:ln w="12700">
            <a:solidFill>
              <a:srgbClr val="F0CFD2"/>
            </a:solidFill>
            <a:prstDash val="solid"/>
          </a:ln>
          <a:effectLst>
            <a:outerShdw sx="100000" sy="100000" kx="0" ky="0" algn="bl" rotWithShape="0" blurRad="127000" dist="25400" dir="5400000">
              <a:srgbClr val="9AA6B8">
                <a:alpha val="28000"/>
              </a:srgbClr>
            </a:outerShdw>
          </a:effectLst>
        </p:spPr>
      </p:sp>
      <p:sp>
        <p:nvSpPr>
          <p:cNvPr id="6" name="Shape 4"/>
          <p:cNvSpPr/>
          <p:nvPr/>
        </p:nvSpPr>
        <p:spPr>
          <a:xfrm>
            <a:off x="841248" y="2450592"/>
            <a:ext cx="402336" cy="402336"/>
          </a:xfrm>
          <a:prstGeom prst="ellipse">
            <a:avLst/>
          </a:prstGeom>
          <a:solidFill>
            <a:srgbClr val="C1121F"/>
          </a:solidFill>
          <a:ln w="12700">
            <a:solidFill>
              <a:srgbClr val="C1121F"/>
            </a:solidFill>
            <a:prstDash val="solid"/>
          </a:ln>
        </p:spPr>
      </p:sp>
      <p:sp>
        <p:nvSpPr>
          <p:cNvPr id="7" name="Text 5"/>
          <p:cNvSpPr/>
          <p:nvPr/>
        </p:nvSpPr>
        <p:spPr>
          <a:xfrm>
            <a:off x="841248" y="24505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8" name="Text 6"/>
          <p:cNvSpPr/>
          <p:nvPr/>
        </p:nvSpPr>
        <p:spPr>
          <a:xfrm>
            <a:off x="1371600" y="2450592"/>
            <a:ext cx="4297680" cy="402336"/>
          </a:xfrm>
          <a:prstGeom prst="rect">
            <a:avLst/>
          </a:prstGeom>
          <a:noFill/>
          <a:ln/>
        </p:spPr>
        <p:txBody>
          <a:bodyPr wrap="square" lIns="0" tIns="0" rIns="0" bIns="0" rtlCol="0" anchor="ctr"/>
          <a:lstStyle/>
          <a:p>
            <a:pPr indent="0" marL="0">
              <a:buNone/>
            </a:pPr>
            <a:r>
              <a:rPr lang="en-US" sz="1550" b="1" dirty="0">
                <a:solidFill>
                  <a:srgbClr val="152238"/>
                </a:solidFill>
                <a:latin typeface="Cambria" pitchFamily="34" charset="0"/>
                <a:ea typeface="Cambria" pitchFamily="34" charset="-122"/>
                <a:cs typeface="Cambria" pitchFamily="34" charset="-120"/>
              </a:rPr>
              <a:t>A mislabelled example, positive gap</a:t>
            </a:r>
            <a:endParaRPr lang="en-US" sz="1550" dirty="0"/>
          </a:p>
        </p:txBody>
      </p:sp>
      <p:sp>
        <p:nvSpPr>
          <p:cNvPr id="9" name="Text 7"/>
          <p:cNvSpPr/>
          <p:nvPr/>
        </p:nvSpPr>
        <p:spPr>
          <a:xfrm>
            <a:off x="841248" y="2971800"/>
            <a:ext cx="4754880" cy="1234440"/>
          </a:xfrm>
          <a:prstGeom prst="rect">
            <a:avLst/>
          </a:prstGeom>
          <a:noFill/>
          <a:ln/>
        </p:spPr>
        <p:txBody>
          <a:bodyPr wrap="square" lIns="0" tIns="0" rIns="0" bIns="0" rtlCol="0" anchor="ctr"/>
          <a:lstStyle/>
          <a:p>
            <a:pPr indent="0" marL="0">
              <a:lnSpc>
                <a:spcPts val="1700"/>
              </a:lnSpc>
              <a:buNone/>
            </a:pPr>
            <a:r>
              <a:rPr lang="en-US" sz="1250" dirty="0">
                <a:solidFill>
                  <a:srgbClr val="44506A"/>
                </a:solidFill>
                <a:latin typeface="Calibri" pitchFamily="34" charset="0"/>
                <a:ea typeface="Calibri" pitchFamily="34" charset="-122"/>
                <a:cs typeface="Calibri" pitchFamily="34" charset="-120"/>
              </a:rPr>
              <a:t>The model correctly distrusts the wrong label, so it gives it a low probability.</a:t>
            </a:r>
            <a:endParaRPr lang="en-US" sz="1250" dirty="0"/>
          </a:p>
          <a:p>
            <a:pPr indent="0" marL="0">
              <a:lnSpc>
                <a:spcPts val="1700"/>
              </a:lnSpc>
              <a:buNone/>
            </a:pPr>
            <a:endParaRPr lang="en-US" sz="1250" dirty="0"/>
          </a:p>
          <a:p>
            <a:pPr indent="0" marL="0">
              <a:lnSpc>
                <a:spcPts val="1700"/>
              </a:lnSpc>
              <a:buNone/>
            </a:pPr>
            <a:r>
              <a:rPr lang="en-US" sz="1250" dirty="0">
                <a:solidFill>
                  <a:srgbClr val="44506A"/>
                </a:solidFill>
                <a:latin typeface="Calibri" pitchFamily="34" charset="0"/>
                <a:ea typeface="Calibri" pitchFamily="34" charset="-122"/>
                <a:cs typeface="Calibri" pitchFamily="34" charset="-120"/>
              </a:rPr>
              <a:t>That means no competitor is ever far enough ahead to be dropped — so the model gets pushed to fit the wrong label, over and over.</a:t>
            </a:r>
            <a:endParaRPr lang="en-US" sz="1250" dirty="0"/>
          </a:p>
        </p:txBody>
      </p:sp>
      <p:sp>
        <p:nvSpPr>
          <p:cNvPr id="10" name="Text 8"/>
          <p:cNvSpPr/>
          <p:nvPr/>
        </p:nvSpPr>
        <p:spPr>
          <a:xfrm>
            <a:off x="841248" y="4279392"/>
            <a:ext cx="4754880" cy="320040"/>
          </a:xfrm>
          <a:prstGeom prst="rect">
            <a:avLst/>
          </a:prstGeom>
          <a:noFill/>
          <a:ln/>
        </p:spPr>
        <p:txBody>
          <a:bodyPr wrap="square" lIns="0" tIns="0" rIns="0" bIns="0" rtlCol="0" anchor="ctr"/>
          <a:lstStyle/>
          <a:p>
            <a:pPr indent="0" marL="0">
              <a:buNone/>
            </a:pPr>
            <a:r>
              <a:rPr lang="en-US" sz="1250" b="1" dirty="0">
                <a:solidFill>
                  <a:srgbClr val="C1121F"/>
                </a:solidFill>
                <a:latin typeface="Calibri" pitchFamily="34" charset="0"/>
                <a:ea typeface="Calibri" pitchFamily="34" charset="-122"/>
                <a:cs typeface="Calibri" pitchFamily="34" charset="-120"/>
              </a:rPr>
              <a:t>This is exactly how networks memorise noise.</a:t>
            </a:r>
            <a:endParaRPr lang="en-US" sz="1250" dirty="0"/>
          </a:p>
        </p:txBody>
      </p:sp>
      <p:sp>
        <p:nvSpPr>
          <p:cNvPr id="11" name="Shape 9"/>
          <p:cNvSpPr/>
          <p:nvPr/>
        </p:nvSpPr>
        <p:spPr>
          <a:xfrm>
            <a:off x="6263640" y="2240280"/>
            <a:ext cx="5349240" cy="2514600"/>
          </a:xfrm>
          <a:prstGeom prst="roundRect">
            <a:avLst>
              <a:gd name="adj" fmla="val 4364"/>
            </a:avLst>
          </a:prstGeom>
          <a:solidFill>
            <a:srgbClr val="E9F5F3"/>
          </a:solidFill>
          <a:ln w="12700">
            <a:solidFill>
              <a:srgbClr val="BFE0DA"/>
            </a:solidFill>
            <a:prstDash val="solid"/>
          </a:ln>
          <a:effectLst>
            <a:outerShdw sx="100000" sy="100000" kx="0" ky="0" algn="bl" rotWithShape="0" blurRad="127000" dist="25400" dir="5400000">
              <a:srgbClr val="9AA6B8">
                <a:alpha val="28000"/>
              </a:srgbClr>
            </a:outerShdw>
          </a:effectLst>
        </p:spPr>
      </p:sp>
      <p:sp>
        <p:nvSpPr>
          <p:cNvPr id="12" name="Shape 10"/>
          <p:cNvSpPr/>
          <p:nvPr/>
        </p:nvSpPr>
        <p:spPr>
          <a:xfrm>
            <a:off x="6556248" y="2450592"/>
            <a:ext cx="402336" cy="402336"/>
          </a:xfrm>
          <a:prstGeom prst="ellipse">
            <a:avLst/>
          </a:prstGeom>
          <a:solidFill>
            <a:srgbClr val="12897B"/>
          </a:solidFill>
          <a:ln w="12700">
            <a:solidFill>
              <a:srgbClr val="12897B"/>
            </a:solidFill>
            <a:prstDash val="solid"/>
          </a:ln>
        </p:spPr>
      </p:sp>
      <p:sp>
        <p:nvSpPr>
          <p:cNvPr id="13" name="Text 11"/>
          <p:cNvSpPr/>
          <p:nvPr/>
        </p:nvSpPr>
        <p:spPr>
          <a:xfrm>
            <a:off x="6556248" y="24505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4" name="Text 12"/>
          <p:cNvSpPr/>
          <p:nvPr/>
        </p:nvSpPr>
        <p:spPr>
          <a:xfrm>
            <a:off x="7086600" y="2450592"/>
            <a:ext cx="4297680" cy="402336"/>
          </a:xfrm>
          <a:prstGeom prst="rect">
            <a:avLst/>
          </a:prstGeom>
          <a:noFill/>
          <a:ln/>
        </p:spPr>
        <p:txBody>
          <a:bodyPr wrap="square" lIns="0" tIns="0" rIns="0" bIns="0" rtlCol="0" anchor="ctr"/>
          <a:lstStyle/>
          <a:p>
            <a:pPr indent="0" marL="0">
              <a:buNone/>
            </a:pPr>
            <a:r>
              <a:rPr lang="en-US" sz="1550" b="1" dirty="0">
                <a:solidFill>
                  <a:srgbClr val="152238"/>
                </a:solidFill>
                <a:latin typeface="Cambria" pitchFamily="34" charset="0"/>
                <a:ea typeface="Cambria" pitchFamily="34" charset="-122"/>
                <a:cs typeface="Cambria" pitchFamily="34" charset="-120"/>
              </a:rPr>
              <a:t>Same example, negative gap</a:t>
            </a:r>
            <a:endParaRPr lang="en-US" sz="1550" dirty="0"/>
          </a:p>
        </p:txBody>
      </p:sp>
      <p:sp>
        <p:nvSpPr>
          <p:cNvPr id="15" name="Text 13"/>
          <p:cNvSpPr/>
          <p:nvPr/>
        </p:nvSpPr>
        <p:spPr>
          <a:xfrm>
            <a:off x="6556248" y="2971800"/>
            <a:ext cx="4754880" cy="1234440"/>
          </a:xfrm>
          <a:prstGeom prst="rect">
            <a:avLst/>
          </a:prstGeom>
          <a:noFill/>
          <a:ln/>
        </p:spPr>
        <p:txBody>
          <a:bodyPr wrap="square" lIns="0" tIns="0" rIns="0" bIns="0" rtlCol="0" anchor="ctr"/>
          <a:lstStyle/>
          <a:p>
            <a:pPr indent="0" marL="0">
              <a:lnSpc>
                <a:spcPts val="1700"/>
              </a:lnSpc>
              <a:buNone/>
            </a:pPr>
            <a:r>
              <a:rPr lang="en-US" sz="1250" dirty="0">
                <a:solidFill>
                  <a:srgbClr val="44506A"/>
                </a:solidFill>
                <a:latin typeface="Calibri" pitchFamily="34" charset="0"/>
                <a:ea typeface="Calibri" pitchFamily="34" charset="-122"/>
                <a:cs typeface="Calibri" pitchFamily="34" charset="-120"/>
              </a:rPr>
              <a:t>Now every competitor clears the bar and gets dropped — including the ones that are ahead.</a:t>
            </a:r>
            <a:endParaRPr lang="en-US" sz="1250" dirty="0"/>
          </a:p>
          <a:p>
            <a:pPr indent="0" marL="0">
              <a:lnSpc>
                <a:spcPts val="1700"/>
              </a:lnSpc>
              <a:buNone/>
            </a:pPr>
            <a:endParaRPr lang="en-US" sz="1250" dirty="0"/>
          </a:p>
          <a:p>
            <a:pPr indent="0" marL="0">
              <a:lnSpc>
                <a:spcPts val="1700"/>
              </a:lnSpc>
              <a:buNone/>
            </a:pPr>
            <a:r>
              <a:rPr lang="en-US" sz="1250" dirty="0">
                <a:solidFill>
                  <a:srgbClr val="44506A"/>
                </a:solidFill>
                <a:latin typeface="Calibri" pitchFamily="34" charset="0"/>
                <a:ea typeface="Calibri" pitchFamily="34" charset="-122"/>
                <a:cs typeface="Calibri" pitchFamily="34" charset="-120"/>
              </a:rPr>
              <a:t>Nothing is left to train against, so this example's contribution falls to zero and it quietly leaves training.</a:t>
            </a:r>
            <a:endParaRPr lang="en-US" sz="1250" dirty="0"/>
          </a:p>
        </p:txBody>
      </p:sp>
      <p:sp>
        <p:nvSpPr>
          <p:cNvPr id="16" name="Text 14"/>
          <p:cNvSpPr/>
          <p:nvPr/>
        </p:nvSpPr>
        <p:spPr>
          <a:xfrm>
            <a:off x="6556248" y="4279392"/>
            <a:ext cx="4754880" cy="320040"/>
          </a:xfrm>
          <a:prstGeom prst="rect">
            <a:avLst/>
          </a:prstGeom>
          <a:noFill/>
          <a:ln/>
        </p:spPr>
        <p:txBody>
          <a:bodyPr wrap="square" lIns="0" tIns="0" rIns="0" bIns="0" rtlCol="0" anchor="ctr"/>
          <a:lstStyle/>
          <a:p>
            <a:pPr indent="0" marL="0">
              <a:buNone/>
            </a:pPr>
            <a:r>
              <a:rPr lang="en-US" sz="1250" b="1" dirty="0">
                <a:solidFill>
                  <a:srgbClr val="12897B"/>
                </a:solidFill>
                <a:latin typeface="Calibri" pitchFamily="34" charset="0"/>
                <a:ea typeface="Calibri" pitchFamily="34" charset="-122"/>
                <a:cs typeface="Calibri" pitchFamily="34" charset="-120"/>
              </a:rPr>
              <a:t>The suspicious example removes itself.</a:t>
            </a:r>
            <a:endParaRPr lang="en-US" sz="1250" dirty="0"/>
          </a:p>
        </p:txBody>
      </p:sp>
      <p:sp>
        <p:nvSpPr>
          <p:cNvPr id="17" name="Shape 15"/>
          <p:cNvSpPr/>
          <p:nvPr/>
        </p:nvSpPr>
        <p:spPr>
          <a:xfrm>
            <a:off x="548640" y="4983480"/>
            <a:ext cx="11064240" cy="1051560"/>
          </a:xfrm>
          <a:prstGeom prst="roundRect">
            <a:avLst>
              <a:gd name="adj" fmla="val 10435"/>
            </a:avLst>
          </a:prstGeom>
          <a:solidFill>
            <a:srgbClr val="152238"/>
          </a:solidFill>
          <a:ln w="12700">
            <a:solidFill>
              <a:srgbClr val="152238"/>
            </a:solidFill>
            <a:prstDash val="solid"/>
          </a:ln>
        </p:spPr>
      </p:sp>
      <p:sp>
        <p:nvSpPr>
          <p:cNvPr id="18" name="Text 16"/>
          <p:cNvSpPr/>
          <p:nvPr/>
        </p:nvSpPr>
        <p:spPr>
          <a:xfrm>
            <a:off x="868680" y="5102352"/>
            <a:ext cx="10424160" cy="274320"/>
          </a:xfrm>
          <a:prstGeom prst="rect">
            <a:avLst/>
          </a:prstGeom>
          <a:noFill/>
          <a:ln/>
        </p:spPr>
        <p:txBody>
          <a:bodyPr wrap="square" lIns="0" tIns="0" rIns="0" bIns="0" rtlCol="0" anchor="ctr"/>
          <a:lstStyle/>
          <a:p>
            <a:pPr indent="0" marL="0">
              <a:buNone/>
            </a:pPr>
            <a:r>
              <a:rPr lang="en-US" sz="1150" b="1" dirty="0">
                <a:solidFill>
                  <a:srgbClr val="6FD8C9"/>
                </a:solidFill>
                <a:latin typeface="Calibri" pitchFamily="34" charset="0"/>
                <a:ea typeface="Calibri" pitchFamily="34" charset="-122"/>
                <a:cs typeface="Calibri" pitchFamily="34" charset="-120"/>
              </a:rPr>
              <a:t>Why this matters beyond our project</a:t>
            </a:r>
            <a:endParaRPr lang="en-US" sz="1150" dirty="0"/>
          </a:p>
        </p:txBody>
      </p:sp>
      <p:sp>
        <p:nvSpPr>
          <p:cNvPr id="19" name="Text 17"/>
          <p:cNvSpPr/>
          <p:nvPr/>
        </p:nvSpPr>
        <p:spPr>
          <a:xfrm>
            <a:off x="868680" y="5394960"/>
            <a:ext cx="10424160" cy="548640"/>
          </a:xfrm>
          <a:prstGeom prst="rect">
            <a:avLst/>
          </a:prstGeom>
          <a:noFill/>
          <a:ln/>
        </p:spPr>
        <p:txBody>
          <a:bodyPr wrap="square" lIns="0" tIns="0" rIns="0" bIns="0" rtlCol="0" anchor="ctr"/>
          <a:lstStyle/>
          <a:p>
            <a:pPr indent="0" marL="0">
              <a:lnSpc>
                <a:spcPts val="1800"/>
              </a:lnSpc>
              <a:buNone/>
            </a:pPr>
            <a:r>
              <a:rPr lang="en-US" sz="1350" dirty="0">
                <a:solidFill>
                  <a:srgbClr val="FFFFFF"/>
                </a:solidFill>
                <a:latin typeface="Calibri" pitchFamily="34" charset="0"/>
                <a:ea typeface="Calibri" pitchFamily="34" charset="-122"/>
                <a:cs typeface="Calibri" pitchFamily="34" charset="-120"/>
              </a:rPr>
              <a:t>“Throw away suspicious training examples” is a well-known trick in the noisy-label literature. Written this way, it stops being a separate trick — it is just a margin that went negative.</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64240" cy="256032"/>
          </a:xfrm>
          <a:prstGeom prst="rect">
            <a:avLst/>
          </a:prstGeom>
          <a:noFill/>
          <a:ln/>
        </p:spPr>
        <p:txBody>
          <a:bodyPr wrap="square" lIns="0" tIns="0" rIns="0" bIns="0" rtlCol="0" anchor="ctr"/>
          <a:lstStyle/>
          <a:p>
            <a:pPr indent="0" marL="0">
              <a:buNone/>
            </a:pPr>
            <a:r>
              <a:rPr lang="en-US" sz="1200" b="1" spc="200" kern="0" dirty="0">
                <a:solidFill>
                  <a:srgbClr val="12897B"/>
                </a:solidFill>
                <a:latin typeface="Calibri" pitchFamily="34" charset="0"/>
                <a:ea typeface="Calibri" pitchFamily="34" charset="-122"/>
                <a:cs typeface="Calibri" pitchFamily="34" charset="-120"/>
              </a:rPr>
              <a:t>METHODOLOGY · IMPLEMENTATION</a:t>
            </a:r>
            <a:endParaRPr lang="en-US" sz="1200" dirty="0"/>
          </a:p>
        </p:txBody>
      </p:sp>
      <p:sp>
        <p:nvSpPr>
          <p:cNvPr id="3" name="Text 1"/>
          <p:cNvSpPr/>
          <p:nvPr/>
        </p:nvSpPr>
        <p:spPr>
          <a:xfrm>
            <a:off x="548640" y="603504"/>
            <a:ext cx="11064240" cy="685800"/>
          </a:xfrm>
          <a:prstGeom prst="rect">
            <a:avLst/>
          </a:prstGeom>
          <a:noFill/>
          <a:ln/>
        </p:spPr>
        <p:txBody>
          <a:bodyPr wrap="square" lIns="0" tIns="0" rIns="0" bIns="0" rtlCol="0" anchor="t"/>
          <a:lstStyle/>
          <a:p>
            <a:pPr indent="0" marL="0">
              <a:buNone/>
            </a:pPr>
            <a:r>
              <a:rPr lang="en-US" sz="3200" b="1" dirty="0">
                <a:solidFill>
                  <a:srgbClr val="152238"/>
                </a:solidFill>
                <a:latin typeface="Cambria" pitchFamily="34" charset="0"/>
                <a:ea typeface="Cambria" pitchFamily="34" charset="-122"/>
                <a:cs typeface="Cambria" pitchFamily="34" charset="-120"/>
              </a:rPr>
              <a:t>What we implemented</a:t>
            </a:r>
            <a:endParaRPr lang="en-US" sz="3200" dirty="0"/>
          </a:p>
        </p:txBody>
      </p:sp>
      <p:sp>
        <p:nvSpPr>
          <p:cNvPr id="4" name="Shape 2"/>
          <p:cNvSpPr/>
          <p:nvPr/>
        </p:nvSpPr>
        <p:spPr>
          <a:xfrm>
            <a:off x="548640" y="1463040"/>
            <a:ext cx="2587752" cy="1783080"/>
          </a:xfrm>
          <a:prstGeom prst="roundRect">
            <a:avLst>
              <a:gd name="adj" fmla="val 6154"/>
            </a:avLst>
          </a:prstGeom>
          <a:solidFill>
            <a:srgbClr val="FFFFFF"/>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5" name="Text 3"/>
          <p:cNvSpPr/>
          <p:nvPr/>
        </p:nvSpPr>
        <p:spPr>
          <a:xfrm>
            <a:off x="822960" y="1783080"/>
            <a:ext cx="2103120" cy="640080"/>
          </a:xfrm>
          <a:prstGeom prst="rect">
            <a:avLst/>
          </a:prstGeom>
          <a:noFill/>
          <a:ln/>
        </p:spPr>
        <p:txBody>
          <a:bodyPr wrap="square" lIns="0" tIns="0" rIns="0" bIns="0" rtlCol="0" anchor="ctr"/>
          <a:lstStyle/>
          <a:p>
            <a:pPr algn="l" indent="0" marL="0">
              <a:buNone/>
            </a:pPr>
            <a:r>
              <a:rPr lang="en-US" sz="3400" b="1" dirty="0">
                <a:solidFill>
                  <a:srgbClr val="12897B"/>
                </a:solidFill>
                <a:latin typeface="Cambria" pitchFamily="34" charset="0"/>
                <a:ea typeface="Cambria" pitchFamily="34" charset="-122"/>
                <a:cs typeface="Cambria" pitchFamily="34" charset="-120"/>
              </a:rPr>
              <a:t>9</a:t>
            </a:r>
            <a:endParaRPr lang="en-US" sz="3400" dirty="0"/>
          </a:p>
        </p:txBody>
      </p:sp>
      <p:sp>
        <p:nvSpPr>
          <p:cNvPr id="6" name="Text 4"/>
          <p:cNvSpPr/>
          <p:nvPr/>
        </p:nvSpPr>
        <p:spPr>
          <a:xfrm>
            <a:off x="822960" y="2404872"/>
            <a:ext cx="2103120" cy="566928"/>
          </a:xfrm>
          <a:prstGeom prst="rect">
            <a:avLst/>
          </a:prstGeom>
          <a:noFill/>
          <a:ln/>
        </p:spPr>
        <p:txBody>
          <a:bodyPr wrap="square" lIns="0" tIns="0" rIns="0" bIns="0" rtlCol="0" anchor="ctr"/>
          <a:lstStyle/>
          <a:p>
            <a:pPr algn="l" indent="0" marL="0">
              <a:buNone/>
            </a:pPr>
            <a:r>
              <a:rPr lang="en-US" sz="1250" dirty="0">
                <a:solidFill>
                  <a:srgbClr val="44506A"/>
                </a:solidFill>
                <a:latin typeface="Calibri" pitchFamily="34" charset="0"/>
                <a:ea typeface="Calibri" pitchFamily="34" charset="-122"/>
                <a:cs typeface="Calibri" pitchFamily="34" charset="-120"/>
              </a:rPr>
              <a:t>loss functions implemented</a:t>
            </a:r>
            <a:endParaRPr lang="en-US" sz="1250" dirty="0"/>
          </a:p>
          <a:p>
            <a:pPr algn="l" indent="0" marL="0">
              <a:buNone/>
            </a:pPr>
            <a:r>
              <a:rPr lang="en-US" sz="1250" dirty="0">
                <a:solidFill>
                  <a:srgbClr val="44506A"/>
                </a:solidFill>
                <a:latin typeface="Calibri" pitchFamily="34" charset="0"/>
                <a:ea typeface="Calibri" pitchFamily="34" charset="-122"/>
                <a:cs typeface="Calibri" pitchFamily="34" charset="-120"/>
              </a:rPr>
              <a:t>and unit-tested</a:t>
            </a:r>
            <a:endParaRPr lang="en-US" sz="1250" dirty="0"/>
          </a:p>
        </p:txBody>
      </p:sp>
      <p:sp>
        <p:nvSpPr>
          <p:cNvPr id="7" name="Shape 5"/>
          <p:cNvSpPr/>
          <p:nvPr/>
        </p:nvSpPr>
        <p:spPr>
          <a:xfrm>
            <a:off x="3374136" y="1463040"/>
            <a:ext cx="2587752" cy="1783080"/>
          </a:xfrm>
          <a:prstGeom prst="roundRect">
            <a:avLst>
              <a:gd name="adj" fmla="val 6154"/>
            </a:avLst>
          </a:prstGeom>
          <a:solidFill>
            <a:srgbClr val="FFFFFF"/>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8" name="Text 6"/>
          <p:cNvSpPr/>
          <p:nvPr/>
        </p:nvSpPr>
        <p:spPr>
          <a:xfrm>
            <a:off x="3648456" y="1783080"/>
            <a:ext cx="2103120" cy="640080"/>
          </a:xfrm>
          <a:prstGeom prst="rect">
            <a:avLst/>
          </a:prstGeom>
          <a:noFill/>
          <a:ln/>
        </p:spPr>
        <p:txBody>
          <a:bodyPr wrap="square" lIns="0" tIns="0" rIns="0" bIns="0" rtlCol="0" anchor="ctr"/>
          <a:lstStyle/>
          <a:p>
            <a:pPr algn="l" indent="0" marL="0">
              <a:buNone/>
            </a:pPr>
            <a:r>
              <a:rPr lang="en-US" sz="3400" b="1" dirty="0">
                <a:solidFill>
                  <a:srgbClr val="12897B"/>
                </a:solidFill>
                <a:latin typeface="Cambria" pitchFamily="34" charset="0"/>
                <a:ea typeface="Cambria" pitchFamily="34" charset="-122"/>
                <a:cs typeface="Cambria" pitchFamily="34" charset="-120"/>
              </a:rPr>
              <a:t>70</a:t>
            </a:r>
            <a:endParaRPr lang="en-US" sz="3400" dirty="0"/>
          </a:p>
        </p:txBody>
      </p:sp>
      <p:sp>
        <p:nvSpPr>
          <p:cNvPr id="9" name="Text 7"/>
          <p:cNvSpPr/>
          <p:nvPr/>
        </p:nvSpPr>
        <p:spPr>
          <a:xfrm>
            <a:off x="3648456" y="2404872"/>
            <a:ext cx="2103120" cy="566928"/>
          </a:xfrm>
          <a:prstGeom prst="rect">
            <a:avLst/>
          </a:prstGeom>
          <a:noFill/>
          <a:ln/>
        </p:spPr>
        <p:txBody>
          <a:bodyPr wrap="square" lIns="0" tIns="0" rIns="0" bIns="0" rtlCol="0" anchor="ctr"/>
          <a:lstStyle/>
          <a:p>
            <a:pPr algn="l" indent="0" marL="0">
              <a:buNone/>
            </a:pPr>
            <a:r>
              <a:rPr lang="en-US" sz="1250" dirty="0">
                <a:solidFill>
                  <a:srgbClr val="44506A"/>
                </a:solidFill>
                <a:latin typeface="Calibri" pitchFamily="34" charset="0"/>
                <a:ea typeface="Calibri" pitchFamily="34" charset="-122"/>
                <a:cs typeface="Calibri" pitchFamily="34" charset="-120"/>
              </a:rPr>
              <a:t>tests passing</a:t>
            </a:r>
            <a:endParaRPr lang="en-US" sz="1250" dirty="0"/>
          </a:p>
          <a:p>
            <a:pPr algn="l" indent="0" marL="0">
              <a:buNone/>
            </a:pPr>
            <a:r>
              <a:rPr lang="en-US" sz="1250" dirty="0">
                <a:solidFill>
                  <a:srgbClr val="44506A"/>
                </a:solidFill>
                <a:latin typeface="Calibri" pitchFamily="34" charset="0"/>
                <a:ea typeface="Calibri" pitchFamily="34" charset="-122"/>
                <a:cs typeface="Calibri" pitchFamily="34" charset="-120"/>
              </a:rPr>
              <a:t>in under 3 seconds</a:t>
            </a:r>
            <a:endParaRPr lang="en-US" sz="1250" dirty="0"/>
          </a:p>
        </p:txBody>
      </p:sp>
      <p:sp>
        <p:nvSpPr>
          <p:cNvPr id="10" name="Shape 8"/>
          <p:cNvSpPr/>
          <p:nvPr/>
        </p:nvSpPr>
        <p:spPr>
          <a:xfrm>
            <a:off x="6199632" y="1463040"/>
            <a:ext cx="2587752" cy="1783080"/>
          </a:xfrm>
          <a:prstGeom prst="roundRect">
            <a:avLst>
              <a:gd name="adj" fmla="val 6154"/>
            </a:avLst>
          </a:prstGeom>
          <a:solidFill>
            <a:srgbClr val="FFFFFF"/>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11" name="Text 9"/>
          <p:cNvSpPr/>
          <p:nvPr/>
        </p:nvSpPr>
        <p:spPr>
          <a:xfrm>
            <a:off x="6473952" y="1783080"/>
            <a:ext cx="2103120" cy="640080"/>
          </a:xfrm>
          <a:prstGeom prst="rect">
            <a:avLst/>
          </a:prstGeom>
          <a:noFill/>
          <a:ln/>
        </p:spPr>
        <p:txBody>
          <a:bodyPr wrap="square" lIns="0" tIns="0" rIns="0" bIns="0" rtlCol="0" anchor="ctr"/>
          <a:lstStyle/>
          <a:p>
            <a:pPr algn="l" indent="0" marL="0">
              <a:buNone/>
            </a:pPr>
            <a:r>
              <a:rPr lang="en-US" sz="3400" b="1" dirty="0">
                <a:solidFill>
                  <a:srgbClr val="12897B"/>
                </a:solidFill>
                <a:latin typeface="Cambria" pitchFamily="34" charset="0"/>
                <a:ea typeface="Cambria" pitchFamily="34" charset="-122"/>
                <a:cs typeface="Cambria" pitchFamily="34" charset="-120"/>
              </a:rPr>
              <a:t>3</a:t>
            </a:r>
            <a:endParaRPr lang="en-US" sz="3400" dirty="0"/>
          </a:p>
        </p:txBody>
      </p:sp>
      <p:sp>
        <p:nvSpPr>
          <p:cNvPr id="12" name="Text 10"/>
          <p:cNvSpPr/>
          <p:nvPr/>
        </p:nvSpPr>
        <p:spPr>
          <a:xfrm>
            <a:off x="6473952" y="2404872"/>
            <a:ext cx="2103120" cy="566928"/>
          </a:xfrm>
          <a:prstGeom prst="rect">
            <a:avLst/>
          </a:prstGeom>
          <a:noFill/>
          <a:ln/>
        </p:spPr>
        <p:txBody>
          <a:bodyPr wrap="square" lIns="0" tIns="0" rIns="0" bIns="0" rtlCol="0" anchor="ctr"/>
          <a:lstStyle/>
          <a:p>
            <a:pPr algn="l" indent="0" marL="0">
              <a:buNone/>
            </a:pPr>
            <a:r>
              <a:rPr lang="en-US" sz="1250" dirty="0">
                <a:solidFill>
                  <a:srgbClr val="44506A"/>
                </a:solidFill>
                <a:latin typeface="Calibri" pitchFamily="34" charset="0"/>
                <a:ea typeface="Calibri" pitchFamily="34" charset="-122"/>
                <a:cs typeface="Calibri" pitchFamily="34" charset="-120"/>
              </a:rPr>
              <a:t>margin variants</a:t>
            </a:r>
            <a:endParaRPr lang="en-US" sz="1250" dirty="0"/>
          </a:p>
          <a:p>
            <a:pPr algn="l" indent="0" marL="0">
              <a:buNone/>
            </a:pPr>
            <a:r>
              <a:rPr lang="en-US" sz="1250" dirty="0">
                <a:solidFill>
                  <a:srgbClr val="44506A"/>
                </a:solidFill>
                <a:latin typeface="Calibri" pitchFamily="34" charset="0"/>
                <a:ea typeface="Calibri" pitchFamily="34" charset="-122"/>
                <a:cs typeface="Calibri" pitchFamily="34" charset="-120"/>
              </a:rPr>
              <a:t>(class-pair, sample, combined)</a:t>
            </a:r>
            <a:endParaRPr lang="en-US" sz="1250" dirty="0"/>
          </a:p>
        </p:txBody>
      </p:sp>
      <p:sp>
        <p:nvSpPr>
          <p:cNvPr id="13" name="Shape 11"/>
          <p:cNvSpPr/>
          <p:nvPr/>
        </p:nvSpPr>
        <p:spPr>
          <a:xfrm>
            <a:off x="9025128" y="1463040"/>
            <a:ext cx="2587752" cy="1783080"/>
          </a:xfrm>
          <a:prstGeom prst="roundRect">
            <a:avLst>
              <a:gd name="adj" fmla="val 6154"/>
            </a:avLst>
          </a:prstGeom>
          <a:solidFill>
            <a:srgbClr val="FFFFFF"/>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14" name="Text 12"/>
          <p:cNvSpPr/>
          <p:nvPr/>
        </p:nvSpPr>
        <p:spPr>
          <a:xfrm>
            <a:off x="9299448" y="1783080"/>
            <a:ext cx="2103120" cy="640080"/>
          </a:xfrm>
          <a:prstGeom prst="rect">
            <a:avLst/>
          </a:prstGeom>
          <a:noFill/>
          <a:ln/>
        </p:spPr>
        <p:txBody>
          <a:bodyPr wrap="square" lIns="0" tIns="0" rIns="0" bIns="0" rtlCol="0" anchor="ctr"/>
          <a:lstStyle/>
          <a:p>
            <a:pPr algn="l" indent="0" marL="0">
              <a:buNone/>
            </a:pPr>
            <a:r>
              <a:rPr lang="en-US" sz="3400" b="1" dirty="0">
                <a:solidFill>
                  <a:srgbClr val="C97B1E"/>
                </a:solidFill>
                <a:latin typeface="Cambria" pitchFamily="34" charset="0"/>
                <a:ea typeface="Cambria" pitchFamily="34" charset="-122"/>
                <a:cs typeface="Cambria" pitchFamily="34" charset="-120"/>
              </a:rPr>
              <a:t>6 GB</a:t>
            </a:r>
            <a:endParaRPr lang="en-US" sz="3400" dirty="0"/>
          </a:p>
        </p:txBody>
      </p:sp>
      <p:sp>
        <p:nvSpPr>
          <p:cNvPr id="15" name="Text 13"/>
          <p:cNvSpPr/>
          <p:nvPr/>
        </p:nvSpPr>
        <p:spPr>
          <a:xfrm>
            <a:off x="9299448" y="2404872"/>
            <a:ext cx="2103120" cy="566928"/>
          </a:xfrm>
          <a:prstGeom prst="rect">
            <a:avLst/>
          </a:prstGeom>
          <a:noFill/>
          <a:ln/>
        </p:spPr>
        <p:txBody>
          <a:bodyPr wrap="square" lIns="0" tIns="0" rIns="0" bIns="0" rtlCol="0" anchor="ctr"/>
          <a:lstStyle/>
          <a:p>
            <a:pPr algn="l" indent="0" marL="0">
              <a:buNone/>
            </a:pPr>
            <a:r>
              <a:rPr lang="en-US" sz="1250" dirty="0">
                <a:solidFill>
                  <a:srgbClr val="44506A"/>
                </a:solidFill>
                <a:latin typeface="Calibri" pitchFamily="34" charset="0"/>
                <a:ea typeface="Calibri" pitchFamily="34" charset="-122"/>
                <a:cs typeface="Calibri" pitchFamily="34" charset="-120"/>
              </a:rPr>
              <a:t>one laptop GPU —</a:t>
            </a:r>
            <a:endParaRPr lang="en-US" sz="1250" dirty="0"/>
          </a:p>
          <a:p>
            <a:pPr algn="l" indent="0" marL="0">
              <a:buNone/>
            </a:pPr>
            <a:r>
              <a:rPr lang="en-US" sz="1250" dirty="0">
                <a:solidFill>
                  <a:srgbClr val="44506A"/>
                </a:solidFill>
                <a:latin typeface="Calibri" pitchFamily="34" charset="0"/>
                <a:ea typeface="Calibri" pitchFamily="34" charset="-122"/>
                <a:cs typeface="Calibri" pitchFamily="34" charset="-120"/>
              </a:rPr>
              <a:t>the entire compute budget</a:t>
            </a:r>
            <a:endParaRPr lang="en-US" sz="1250" dirty="0"/>
          </a:p>
        </p:txBody>
      </p:sp>
      <p:sp>
        <p:nvSpPr>
          <p:cNvPr id="16" name="Shape 14"/>
          <p:cNvSpPr/>
          <p:nvPr/>
        </p:nvSpPr>
        <p:spPr>
          <a:xfrm>
            <a:off x="548640" y="3520440"/>
            <a:ext cx="5577840" cy="2606040"/>
          </a:xfrm>
          <a:prstGeom prst="roundRect">
            <a:avLst>
              <a:gd name="adj" fmla="val 4211"/>
            </a:avLst>
          </a:prstGeom>
          <a:solidFill>
            <a:srgbClr val="EEF2F7"/>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17" name="Text 15"/>
          <p:cNvSpPr/>
          <p:nvPr/>
        </p:nvSpPr>
        <p:spPr>
          <a:xfrm>
            <a:off x="868680" y="3749040"/>
            <a:ext cx="4937760" cy="320040"/>
          </a:xfrm>
          <a:prstGeom prst="rect">
            <a:avLst/>
          </a:prstGeom>
          <a:noFill/>
          <a:ln/>
        </p:spPr>
        <p:txBody>
          <a:bodyPr wrap="square" lIns="0" tIns="0" rIns="0" bIns="0" rtlCol="0" anchor="ctr"/>
          <a:lstStyle/>
          <a:p>
            <a:pPr indent="0" marL="0">
              <a:buNone/>
            </a:pPr>
            <a:r>
              <a:rPr lang="en-US" sz="1800" b="1" dirty="0">
                <a:solidFill>
                  <a:srgbClr val="152238"/>
                </a:solidFill>
                <a:latin typeface="Cambria" pitchFamily="34" charset="0"/>
                <a:ea typeface="Cambria" pitchFamily="34" charset="-122"/>
                <a:cs typeface="Cambria" pitchFamily="34" charset="-120"/>
              </a:rPr>
              <a:t>Built so the result is checkable</a:t>
            </a:r>
            <a:endParaRPr lang="en-US" sz="1800" dirty="0"/>
          </a:p>
        </p:txBody>
      </p:sp>
      <p:sp>
        <p:nvSpPr>
          <p:cNvPr id="18" name="Text 16"/>
          <p:cNvSpPr/>
          <p:nvPr/>
        </p:nvSpPr>
        <p:spPr>
          <a:xfrm>
            <a:off x="868680" y="4224528"/>
            <a:ext cx="4937760" cy="1691640"/>
          </a:xfrm>
          <a:prstGeom prst="rect">
            <a:avLst/>
          </a:prstGeom>
          <a:noFill/>
          <a:ln/>
        </p:spPr>
        <p:txBody>
          <a:bodyPr wrap="square" lIns="0" tIns="0" rIns="0" bIns="0" rtlCol="0" anchor="ctr"/>
          <a:lstStyle/>
          <a:p>
            <a:pPr marL="342900" indent="-342900">
              <a:lnSpc>
                <a:spcPts val="1800"/>
              </a:lnSpc>
              <a:spcAft>
                <a:spcPts val="1000"/>
              </a:spcAft>
              <a:buSzPct val="100000"/>
              <a:buChar char="•"/>
            </a:pPr>
            <a:r>
              <a:rPr lang="en-US" sz="1300" dirty="0">
                <a:solidFill>
                  <a:srgbClr val="44506A"/>
                </a:solidFill>
                <a:latin typeface="Calibri" pitchFamily="34" charset="0"/>
                <a:ea typeface="Calibri" pitchFamily="34" charset="-122"/>
                <a:cs typeface="Calibri" pitchFamily="34" charset="-120"/>
              </a:rPr>
              <a:t>One config file = one experiment = one row in the results table</a:t>
            </a:r>
            <a:endParaRPr lang="en-US" sz="1300" dirty="0"/>
          </a:p>
          <a:p>
            <a:pPr marL="342900" indent="-342900">
              <a:lnSpc>
                <a:spcPts val="1800"/>
              </a:lnSpc>
              <a:spcAft>
                <a:spcPts val="1000"/>
              </a:spcAft>
              <a:buSzPct val="100000"/>
              <a:buChar char="•"/>
            </a:pPr>
            <a:r>
              <a:rPr lang="en-US" sz="1300" dirty="0">
                <a:solidFill>
                  <a:srgbClr val="44506A"/>
                </a:solidFill>
                <a:latin typeface="Calibri" pitchFamily="34" charset="0"/>
                <a:ea typeface="Calibri" pitchFamily="34" charset="-122"/>
                <a:cs typeface="Calibri" pitchFamily="34" charset="-120"/>
              </a:rPr>
              <a:t>A test proves our loss reduces exactly to AS-Softmax when the gap is held constant</a:t>
            </a:r>
            <a:endParaRPr lang="en-US" sz="1300" dirty="0"/>
          </a:p>
          <a:p>
            <a:pPr marL="342900" indent="-342900">
              <a:lnSpc>
                <a:spcPts val="1800"/>
              </a:lnSpc>
              <a:spcAft>
                <a:spcPts val="1000"/>
              </a:spcAft>
              <a:buSzPct val="100000"/>
              <a:buChar char="•"/>
            </a:pPr>
            <a:r>
              <a:rPr lang="en-US" sz="1300" dirty="0">
                <a:solidFill>
                  <a:srgbClr val="44506A"/>
                </a:solidFill>
                <a:latin typeface="Calibri" pitchFamily="34" charset="0"/>
                <a:ea typeface="Calibri" pitchFamily="34" charset="-122"/>
                <a:cs typeface="Calibri" pitchFamily="34" charset="-120"/>
              </a:rPr>
              <a:t>Adding a new idea = one new file + one YAML, not a rewrite</a:t>
            </a:r>
            <a:endParaRPr lang="en-US" sz="1300" dirty="0"/>
          </a:p>
        </p:txBody>
      </p:sp>
      <p:sp>
        <p:nvSpPr>
          <p:cNvPr id="19" name="Shape 17"/>
          <p:cNvSpPr/>
          <p:nvPr/>
        </p:nvSpPr>
        <p:spPr>
          <a:xfrm>
            <a:off x="6309360" y="3520440"/>
            <a:ext cx="5303520" cy="2606040"/>
          </a:xfrm>
          <a:prstGeom prst="roundRect">
            <a:avLst>
              <a:gd name="adj" fmla="val 4211"/>
            </a:avLst>
          </a:prstGeom>
          <a:solidFill>
            <a:srgbClr val="FFFFFF"/>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20" name="Text 18"/>
          <p:cNvSpPr/>
          <p:nvPr/>
        </p:nvSpPr>
        <p:spPr>
          <a:xfrm>
            <a:off x="6629400" y="3749040"/>
            <a:ext cx="4663440" cy="320040"/>
          </a:xfrm>
          <a:prstGeom prst="rect">
            <a:avLst/>
          </a:prstGeom>
          <a:noFill/>
          <a:ln/>
        </p:spPr>
        <p:txBody>
          <a:bodyPr wrap="square" lIns="0" tIns="0" rIns="0" bIns="0" rtlCol="0" anchor="ctr"/>
          <a:lstStyle/>
          <a:p>
            <a:pPr indent="0" marL="0">
              <a:buNone/>
            </a:pPr>
            <a:r>
              <a:rPr lang="en-US" sz="1800" b="1" dirty="0">
                <a:solidFill>
                  <a:srgbClr val="152238"/>
                </a:solidFill>
                <a:latin typeface="Cambria" pitchFamily="34" charset="0"/>
                <a:ea typeface="Cambria" pitchFamily="34" charset="-122"/>
                <a:cs typeface="Cambria" pitchFamily="34" charset="-120"/>
              </a:rPr>
              <a:t>The three variants we built</a:t>
            </a:r>
            <a:endParaRPr lang="en-US" sz="1800" dirty="0"/>
          </a:p>
        </p:txBody>
      </p:sp>
      <p:sp>
        <p:nvSpPr>
          <p:cNvPr id="21" name="Shape 19"/>
          <p:cNvSpPr/>
          <p:nvPr/>
        </p:nvSpPr>
        <p:spPr>
          <a:xfrm>
            <a:off x="6629400" y="4224528"/>
            <a:ext cx="658368" cy="310896"/>
          </a:xfrm>
          <a:prstGeom prst="roundRect">
            <a:avLst>
              <a:gd name="adj" fmla="val 20588"/>
            </a:avLst>
          </a:prstGeom>
          <a:solidFill>
            <a:srgbClr val="12897B"/>
          </a:solidFill>
          <a:ln w="12700">
            <a:solidFill>
              <a:srgbClr val="12897B"/>
            </a:solidFill>
            <a:prstDash val="solid"/>
          </a:ln>
        </p:spPr>
      </p:sp>
      <p:sp>
        <p:nvSpPr>
          <p:cNvPr id="22" name="Text 20"/>
          <p:cNvSpPr/>
          <p:nvPr/>
        </p:nvSpPr>
        <p:spPr>
          <a:xfrm>
            <a:off x="6629400" y="4224528"/>
            <a:ext cx="65836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M3</a:t>
            </a:r>
            <a:endParaRPr lang="en-US" sz="1100" dirty="0"/>
          </a:p>
        </p:txBody>
      </p:sp>
      <p:sp>
        <p:nvSpPr>
          <p:cNvPr id="23" name="Text 21"/>
          <p:cNvSpPr/>
          <p:nvPr/>
        </p:nvSpPr>
        <p:spPr>
          <a:xfrm>
            <a:off x="7388352" y="4224528"/>
            <a:ext cx="1371600" cy="310896"/>
          </a:xfrm>
          <a:prstGeom prst="rect">
            <a:avLst/>
          </a:prstGeom>
          <a:noFill/>
          <a:ln/>
        </p:spPr>
        <p:txBody>
          <a:bodyPr wrap="square" lIns="0" tIns="0" rIns="0" bIns="0" rtlCol="0" anchor="ctr"/>
          <a:lstStyle/>
          <a:p>
            <a:pPr indent="0" marL="0">
              <a:buNone/>
            </a:pPr>
            <a:r>
              <a:rPr lang="en-US" sz="1250" b="1" dirty="0">
                <a:solidFill>
                  <a:srgbClr val="152238"/>
                </a:solidFill>
                <a:latin typeface="Calibri" pitchFamily="34" charset="0"/>
                <a:ea typeface="Calibri" pitchFamily="34" charset="-122"/>
                <a:cs typeface="Calibri" pitchFamily="34" charset="-120"/>
              </a:rPr>
              <a:t>class-pair</a:t>
            </a:r>
            <a:endParaRPr lang="en-US" sz="1250" dirty="0"/>
          </a:p>
        </p:txBody>
      </p:sp>
      <p:sp>
        <p:nvSpPr>
          <p:cNvPr id="24" name="Text 22"/>
          <p:cNvSpPr/>
          <p:nvPr/>
        </p:nvSpPr>
        <p:spPr>
          <a:xfrm>
            <a:off x="6629400" y="4517136"/>
            <a:ext cx="4663440" cy="274320"/>
          </a:xfrm>
          <a:prstGeom prst="rect">
            <a:avLst/>
          </a:prstGeom>
          <a:noFill/>
          <a:ln/>
        </p:spPr>
        <p:txBody>
          <a:bodyPr wrap="square" lIns="0" tIns="0" rIns="0" bIns="0" rtlCol="0" anchor="ctr"/>
          <a:lstStyle/>
          <a:p>
            <a:pPr indent="0" marL="0">
              <a:buNone/>
            </a:pPr>
            <a:r>
              <a:rPr lang="en-US" sz="1100" dirty="0">
                <a:solidFill>
                  <a:srgbClr val="44506A"/>
                </a:solidFill>
                <a:latin typeface="Calibri" pitchFamily="34" charset="0"/>
                <a:ea typeface="Calibri" pitchFamily="34" charset="-122"/>
                <a:cs typeface="Calibri" pitchFamily="34" charset="-120"/>
              </a:rPr>
              <a:t>δ from a learned low-rank matrix over class pairs</a:t>
            </a:r>
            <a:endParaRPr lang="en-US" sz="1100" dirty="0"/>
          </a:p>
        </p:txBody>
      </p:sp>
      <p:sp>
        <p:nvSpPr>
          <p:cNvPr id="25" name="Shape 23"/>
          <p:cNvSpPr/>
          <p:nvPr/>
        </p:nvSpPr>
        <p:spPr>
          <a:xfrm>
            <a:off x="6629400" y="4846320"/>
            <a:ext cx="658368" cy="310896"/>
          </a:xfrm>
          <a:prstGeom prst="roundRect">
            <a:avLst>
              <a:gd name="adj" fmla="val 20588"/>
            </a:avLst>
          </a:prstGeom>
          <a:solidFill>
            <a:srgbClr val="C1121F"/>
          </a:solidFill>
          <a:ln w="12700">
            <a:solidFill>
              <a:srgbClr val="C1121F"/>
            </a:solidFill>
            <a:prstDash val="solid"/>
          </a:ln>
        </p:spPr>
      </p:sp>
      <p:sp>
        <p:nvSpPr>
          <p:cNvPr id="26" name="Text 24"/>
          <p:cNvSpPr/>
          <p:nvPr/>
        </p:nvSpPr>
        <p:spPr>
          <a:xfrm>
            <a:off x="6629400" y="4846320"/>
            <a:ext cx="65836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M4</a:t>
            </a:r>
            <a:endParaRPr lang="en-US" sz="1100" dirty="0"/>
          </a:p>
        </p:txBody>
      </p:sp>
      <p:sp>
        <p:nvSpPr>
          <p:cNvPr id="27" name="Text 25"/>
          <p:cNvSpPr/>
          <p:nvPr/>
        </p:nvSpPr>
        <p:spPr>
          <a:xfrm>
            <a:off x="7388352" y="4846320"/>
            <a:ext cx="1371600" cy="310896"/>
          </a:xfrm>
          <a:prstGeom prst="rect">
            <a:avLst/>
          </a:prstGeom>
          <a:noFill/>
          <a:ln/>
        </p:spPr>
        <p:txBody>
          <a:bodyPr wrap="square" lIns="0" tIns="0" rIns="0" bIns="0" rtlCol="0" anchor="ctr"/>
          <a:lstStyle/>
          <a:p>
            <a:pPr indent="0" marL="0">
              <a:buNone/>
            </a:pPr>
            <a:r>
              <a:rPr lang="en-US" sz="1250" b="1" dirty="0">
                <a:solidFill>
                  <a:srgbClr val="152238"/>
                </a:solidFill>
                <a:latin typeface="Calibri" pitchFamily="34" charset="0"/>
                <a:ea typeface="Calibri" pitchFamily="34" charset="-122"/>
                <a:cs typeface="Calibri" pitchFamily="34" charset="-120"/>
              </a:rPr>
              <a:t>sample</a:t>
            </a:r>
            <a:endParaRPr lang="en-US" sz="1250" dirty="0"/>
          </a:p>
        </p:txBody>
      </p:sp>
      <p:sp>
        <p:nvSpPr>
          <p:cNvPr id="28" name="Text 26"/>
          <p:cNvSpPr/>
          <p:nvPr/>
        </p:nvSpPr>
        <p:spPr>
          <a:xfrm>
            <a:off x="6629400" y="5138928"/>
            <a:ext cx="4663440" cy="274320"/>
          </a:xfrm>
          <a:prstGeom prst="rect">
            <a:avLst/>
          </a:prstGeom>
          <a:noFill/>
          <a:ln/>
        </p:spPr>
        <p:txBody>
          <a:bodyPr wrap="square" lIns="0" tIns="0" rIns="0" bIns="0" rtlCol="0" anchor="ctr"/>
          <a:lstStyle/>
          <a:p>
            <a:pPr indent="0" marL="0">
              <a:buNone/>
            </a:pPr>
            <a:r>
              <a:rPr lang="en-US" sz="1100" dirty="0">
                <a:solidFill>
                  <a:srgbClr val="44506A"/>
                </a:solidFill>
                <a:latin typeface="Calibri" pitchFamily="34" charset="0"/>
                <a:ea typeface="Calibri" pitchFamily="34" charset="-122"/>
                <a:cs typeface="Calibri" pitchFamily="34" charset="-120"/>
              </a:rPr>
              <a:t>δ from batch-relative confidence — may go negative</a:t>
            </a:r>
            <a:endParaRPr lang="en-US" sz="1100" dirty="0"/>
          </a:p>
        </p:txBody>
      </p:sp>
      <p:sp>
        <p:nvSpPr>
          <p:cNvPr id="29" name="Shape 27"/>
          <p:cNvSpPr/>
          <p:nvPr/>
        </p:nvSpPr>
        <p:spPr>
          <a:xfrm>
            <a:off x="6629400" y="5468112"/>
            <a:ext cx="658368" cy="310896"/>
          </a:xfrm>
          <a:prstGeom prst="roundRect">
            <a:avLst>
              <a:gd name="adj" fmla="val 20588"/>
            </a:avLst>
          </a:prstGeom>
          <a:solidFill>
            <a:srgbClr val="3E6FA8"/>
          </a:solidFill>
          <a:ln w="12700">
            <a:solidFill>
              <a:srgbClr val="3E6FA8"/>
            </a:solidFill>
            <a:prstDash val="solid"/>
          </a:ln>
        </p:spPr>
      </p:sp>
      <p:sp>
        <p:nvSpPr>
          <p:cNvPr id="30" name="Text 28"/>
          <p:cNvSpPr/>
          <p:nvPr/>
        </p:nvSpPr>
        <p:spPr>
          <a:xfrm>
            <a:off x="6629400" y="5468112"/>
            <a:ext cx="65836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M6</a:t>
            </a:r>
            <a:endParaRPr lang="en-US" sz="1100" dirty="0"/>
          </a:p>
        </p:txBody>
      </p:sp>
      <p:sp>
        <p:nvSpPr>
          <p:cNvPr id="31" name="Text 29"/>
          <p:cNvSpPr/>
          <p:nvPr/>
        </p:nvSpPr>
        <p:spPr>
          <a:xfrm>
            <a:off x="7388352" y="5468112"/>
            <a:ext cx="1371600" cy="310896"/>
          </a:xfrm>
          <a:prstGeom prst="rect">
            <a:avLst/>
          </a:prstGeom>
          <a:noFill/>
          <a:ln/>
        </p:spPr>
        <p:txBody>
          <a:bodyPr wrap="square" lIns="0" tIns="0" rIns="0" bIns="0" rtlCol="0" anchor="ctr"/>
          <a:lstStyle/>
          <a:p>
            <a:pPr indent="0" marL="0">
              <a:buNone/>
            </a:pPr>
            <a:r>
              <a:rPr lang="en-US" sz="1250" b="1" dirty="0">
                <a:solidFill>
                  <a:srgbClr val="152238"/>
                </a:solidFill>
                <a:latin typeface="Calibri" pitchFamily="34" charset="0"/>
                <a:ea typeface="Calibri" pitchFamily="34" charset="-122"/>
                <a:cs typeface="Calibri" pitchFamily="34" charset="-120"/>
              </a:rPr>
              <a:t>combined</a:t>
            </a:r>
            <a:endParaRPr lang="en-US" sz="1250" dirty="0"/>
          </a:p>
        </p:txBody>
      </p:sp>
      <p:sp>
        <p:nvSpPr>
          <p:cNvPr id="32" name="Text 30"/>
          <p:cNvSpPr/>
          <p:nvPr/>
        </p:nvSpPr>
        <p:spPr>
          <a:xfrm>
            <a:off x="6629400" y="5760720"/>
            <a:ext cx="4663440" cy="274320"/>
          </a:xfrm>
          <a:prstGeom prst="rect">
            <a:avLst/>
          </a:prstGeom>
          <a:noFill/>
          <a:ln/>
        </p:spPr>
        <p:txBody>
          <a:bodyPr wrap="square" lIns="0" tIns="0" rIns="0" bIns="0" rtlCol="0" anchor="ctr"/>
          <a:lstStyle/>
          <a:p>
            <a:pPr indent="0" marL="0">
              <a:buNone/>
            </a:pPr>
            <a:r>
              <a:rPr lang="en-US" sz="1100" dirty="0">
                <a:solidFill>
                  <a:srgbClr val="44506A"/>
                </a:solidFill>
                <a:latin typeface="Calibri" pitchFamily="34" charset="0"/>
                <a:ea typeface="Calibri" pitchFamily="34" charset="-122"/>
                <a:cs typeface="Calibri" pitchFamily="34" charset="-120"/>
              </a:rPr>
              <a:t>M4 modulating M3, so δ varies on all three axes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52238"/>
        </a:solidFill>
      </p:bgPr>
    </p:bg>
    <p:spTree>
      <p:nvGrpSpPr>
        <p:cNvPr id="1" name=""/>
        <p:cNvGrpSpPr/>
        <p:nvPr/>
      </p:nvGrpSpPr>
      <p:grpSpPr>
        <a:xfrm>
          <a:off x="0" y="0"/>
          <a:ext cx="0" cy="0"/>
          <a:chOff x="0" y="0"/>
          <a:chExt cx="0" cy="0"/>
        </a:xfrm>
      </p:grpSpPr>
      <p:sp>
        <p:nvSpPr>
          <p:cNvPr id="2" name="Text 0"/>
          <p:cNvSpPr/>
          <p:nvPr/>
        </p:nvSpPr>
        <p:spPr>
          <a:xfrm>
            <a:off x="777240" y="2148840"/>
            <a:ext cx="2011680" cy="1371600"/>
          </a:xfrm>
          <a:prstGeom prst="rect">
            <a:avLst/>
          </a:prstGeom>
          <a:noFill/>
          <a:ln/>
        </p:spPr>
        <p:txBody>
          <a:bodyPr wrap="square" lIns="0" tIns="0" rIns="0" bIns="0" rtlCol="0" anchor="ctr"/>
          <a:lstStyle/>
          <a:p>
            <a:pPr indent="0" marL="0">
              <a:buNone/>
            </a:pPr>
            <a:r>
              <a:rPr lang="en-US" sz="8400" b="1" dirty="0">
                <a:solidFill>
                  <a:srgbClr val="6FD8C9"/>
                </a:solidFill>
                <a:latin typeface="Cambria" pitchFamily="34" charset="0"/>
                <a:ea typeface="Cambria" pitchFamily="34" charset="-122"/>
                <a:cs typeface="Cambria" pitchFamily="34" charset="-120"/>
              </a:rPr>
              <a:t>04</a:t>
            </a:r>
            <a:endParaRPr lang="en-US" sz="8400" dirty="0"/>
          </a:p>
        </p:txBody>
      </p:sp>
      <p:sp>
        <p:nvSpPr>
          <p:cNvPr id="3" name="Text 1"/>
          <p:cNvSpPr/>
          <p:nvPr/>
        </p:nvSpPr>
        <p:spPr>
          <a:xfrm>
            <a:off x="2743200" y="2286000"/>
            <a:ext cx="8595360" cy="7772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Experimentation</a:t>
            </a:r>
            <a:endParaRPr lang="en-US" sz="4000" dirty="0"/>
          </a:p>
        </p:txBody>
      </p:sp>
      <p:sp>
        <p:nvSpPr>
          <p:cNvPr id="4" name="Text 2"/>
          <p:cNvSpPr/>
          <p:nvPr/>
        </p:nvSpPr>
        <p:spPr>
          <a:xfrm>
            <a:off x="2788920" y="3063240"/>
            <a:ext cx="8595360" cy="365760"/>
          </a:xfrm>
          <a:prstGeom prst="rect">
            <a:avLst/>
          </a:prstGeom>
          <a:noFill/>
          <a:ln/>
        </p:spPr>
        <p:txBody>
          <a:bodyPr wrap="square" lIns="0" tIns="0" rIns="0" bIns="0" rtlCol="0" anchor="ctr"/>
          <a:lstStyle/>
          <a:p>
            <a:pPr indent="0" marL="0">
              <a:buNone/>
            </a:pPr>
            <a:r>
              <a:rPr lang="en-US" sz="1500" dirty="0">
                <a:solidFill>
                  <a:srgbClr val="A9B6CC"/>
                </a:solidFill>
                <a:latin typeface="Calibri" pitchFamily="34" charset="0"/>
                <a:ea typeface="Calibri" pitchFamily="34" charset="-122"/>
                <a:cs typeface="Calibri" pitchFamily="34" charset="-120"/>
              </a:rPr>
              <a:t>datasets, protocol and what we ran</a:t>
            </a:r>
            <a:endParaRPr lang="en-US" sz="1500" dirty="0"/>
          </a:p>
        </p:txBody>
      </p:sp>
      <p:sp>
        <p:nvSpPr>
          <p:cNvPr id="5" name="Shape 3"/>
          <p:cNvSpPr/>
          <p:nvPr/>
        </p:nvSpPr>
        <p:spPr>
          <a:xfrm>
            <a:off x="777240" y="5074920"/>
            <a:ext cx="2011680" cy="54864"/>
          </a:xfrm>
          <a:prstGeom prst="roundRect">
            <a:avLst>
              <a:gd name="adj" fmla="val 50000"/>
            </a:avLst>
          </a:prstGeom>
          <a:solidFill>
            <a:srgbClr val="2E4160"/>
          </a:solidFill>
          <a:ln w="12700">
            <a:solidFill>
              <a:srgbClr val="2E4160"/>
            </a:solidFill>
            <a:prstDash val="solid"/>
          </a:ln>
        </p:spPr>
      </p:sp>
      <p:sp>
        <p:nvSpPr>
          <p:cNvPr id="6" name="Text 4"/>
          <p:cNvSpPr/>
          <p:nvPr/>
        </p:nvSpPr>
        <p:spPr>
          <a:xfrm>
            <a:off x="777240" y="5230368"/>
            <a:ext cx="2103120" cy="274320"/>
          </a:xfrm>
          <a:prstGeom prst="rect">
            <a:avLst/>
          </a:prstGeom>
          <a:noFill/>
          <a:ln/>
        </p:spPr>
        <p:txBody>
          <a:bodyPr wrap="square" lIns="0" tIns="0" rIns="0" bIns="0" rtlCol="0" anchor="ctr"/>
          <a:lstStyle/>
          <a:p>
            <a:pPr indent="0" marL="0">
              <a:buNone/>
            </a:pPr>
            <a:r>
              <a:rPr lang="en-US" sz="950" dirty="0">
                <a:solidFill>
                  <a:srgbClr val="5A6B87"/>
                </a:solidFill>
                <a:latin typeface="Calibri" pitchFamily="34" charset="0"/>
                <a:ea typeface="Calibri" pitchFamily="34" charset="-122"/>
                <a:cs typeface="Calibri" pitchFamily="34" charset="-120"/>
              </a:rPr>
              <a:t>01  Introduction</a:t>
            </a:r>
            <a:endParaRPr lang="en-US" sz="950" dirty="0"/>
          </a:p>
        </p:txBody>
      </p:sp>
      <p:sp>
        <p:nvSpPr>
          <p:cNvPr id="7" name="Shape 5"/>
          <p:cNvSpPr/>
          <p:nvPr/>
        </p:nvSpPr>
        <p:spPr>
          <a:xfrm>
            <a:off x="2990088" y="5074920"/>
            <a:ext cx="2011680" cy="54864"/>
          </a:xfrm>
          <a:prstGeom prst="roundRect">
            <a:avLst>
              <a:gd name="adj" fmla="val 50000"/>
            </a:avLst>
          </a:prstGeom>
          <a:solidFill>
            <a:srgbClr val="2E4160"/>
          </a:solidFill>
          <a:ln w="12700">
            <a:solidFill>
              <a:srgbClr val="2E4160"/>
            </a:solidFill>
            <a:prstDash val="solid"/>
          </a:ln>
        </p:spPr>
      </p:sp>
      <p:sp>
        <p:nvSpPr>
          <p:cNvPr id="8" name="Text 6"/>
          <p:cNvSpPr/>
          <p:nvPr/>
        </p:nvSpPr>
        <p:spPr>
          <a:xfrm>
            <a:off x="2990088" y="5230368"/>
            <a:ext cx="2103120" cy="274320"/>
          </a:xfrm>
          <a:prstGeom prst="rect">
            <a:avLst/>
          </a:prstGeom>
          <a:noFill/>
          <a:ln/>
        </p:spPr>
        <p:txBody>
          <a:bodyPr wrap="square" lIns="0" tIns="0" rIns="0" bIns="0" rtlCol="0" anchor="ctr"/>
          <a:lstStyle/>
          <a:p>
            <a:pPr indent="0" marL="0">
              <a:buNone/>
            </a:pPr>
            <a:r>
              <a:rPr lang="en-US" sz="950" dirty="0">
                <a:solidFill>
                  <a:srgbClr val="5A6B87"/>
                </a:solidFill>
                <a:latin typeface="Calibri" pitchFamily="34" charset="0"/>
                <a:ea typeface="Calibri" pitchFamily="34" charset="-122"/>
                <a:cs typeface="Calibri" pitchFamily="34" charset="-120"/>
              </a:rPr>
              <a:t>02  Background</a:t>
            </a:r>
            <a:endParaRPr lang="en-US" sz="950" dirty="0"/>
          </a:p>
        </p:txBody>
      </p:sp>
      <p:sp>
        <p:nvSpPr>
          <p:cNvPr id="9" name="Shape 7"/>
          <p:cNvSpPr/>
          <p:nvPr/>
        </p:nvSpPr>
        <p:spPr>
          <a:xfrm>
            <a:off x="5202936" y="5074920"/>
            <a:ext cx="2011680" cy="54864"/>
          </a:xfrm>
          <a:prstGeom prst="roundRect">
            <a:avLst>
              <a:gd name="adj" fmla="val 50000"/>
            </a:avLst>
          </a:prstGeom>
          <a:solidFill>
            <a:srgbClr val="2E4160"/>
          </a:solidFill>
          <a:ln w="12700">
            <a:solidFill>
              <a:srgbClr val="2E4160"/>
            </a:solidFill>
            <a:prstDash val="solid"/>
          </a:ln>
        </p:spPr>
      </p:sp>
      <p:sp>
        <p:nvSpPr>
          <p:cNvPr id="10" name="Text 8"/>
          <p:cNvSpPr/>
          <p:nvPr/>
        </p:nvSpPr>
        <p:spPr>
          <a:xfrm>
            <a:off x="5202936" y="5230368"/>
            <a:ext cx="2103120" cy="274320"/>
          </a:xfrm>
          <a:prstGeom prst="rect">
            <a:avLst/>
          </a:prstGeom>
          <a:noFill/>
          <a:ln/>
        </p:spPr>
        <p:txBody>
          <a:bodyPr wrap="square" lIns="0" tIns="0" rIns="0" bIns="0" rtlCol="0" anchor="ctr"/>
          <a:lstStyle/>
          <a:p>
            <a:pPr indent="0" marL="0">
              <a:buNone/>
            </a:pPr>
            <a:r>
              <a:rPr lang="en-US" sz="950" dirty="0">
                <a:solidFill>
                  <a:srgbClr val="5A6B87"/>
                </a:solidFill>
                <a:latin typeface="Calibri" pitchFamily="34" charset="0"/>
                <a:ea typeface="Calibri" pitchFamily="34" charset="-122"/>
                <a:cs typeface="Calibri" pitchFamily="34" charset="-120"/>
              </a:rPr>
              <a:t>03  Methodology</a:t>
            </a:r>
            <a:endParaRPr lang="en-US" sz="950" dirty="0"/>
          </a:p>
        </p:txBody>
      </p:sp>
      <p:sp>
        <p:nvSpPr>
          <p:cNvPr id="11" name="Shape 9"/>
          <p:cNvSpPr/>
          <p:nvPr/>
        </p:nvSpPr>
        <p:spPr>
          <a:xfrm>
            <a:off x="7415784" y="5074920"/>
            <a:ext cx="2011680" cy="54864"/>
          </a:xfrm>
          <a:prstGeom prst="roundRect">
            <a:avLst>
              <a:gd name="adj" fmla="val 50000"/>
            </a:avLst>
          </a:prstGeom>
          <a:solidFill>
            <a:srgbClr val="6FD8C9"/>
          </a:solidFill>
          <a:ln w="12700">
            <a:solidFill>
              <a:srgbClr val="6FD8C9"/>
            </a:solidFill>
            <a:prstDash val="solid"/>
          </a:ln>
        </p:spPr>
      </p:sp>
      <p:sp>
        <p:nvSpPr>
          <p:cNvPr id="12" name="Text 10"/>
          <p:cNvSpPr/>
          <p:nvPr/>
        </p:nvSpPr>
        <p:spPr>
          <a:xfrm>
            <a:off x="7415784" y="5230368"/>
            <a:ext cx="2103120" cy="274320"/>
          </a:xfrm>
          <a:prstGeom prst="rect">
            <a:avLst/>
          </a:prstGeom>
          <a:noFill/>
          <a:ln/>
        </p:spPr>
        <p:txBody>
          <a:bodyPr wrap="square" lIns="0" tIns="0" rIns="0" bIns="0" rtlCol="0" anchor="ctr"/>
          <a:lstStyle/>
          <a:p>
            <a:pPr indent="0" marL="0">
              <a:buNone/>
            </a:pPr>
            <a:r>
              <a:rPr lang="en-US" sz="950" b="1" dirty="0">
                <a:solidFill>
                  <a:srgbClr val="6FD8C9"/>
                </a:solidFill>
                <a:latin typeface="Calibri" pitchFamily="34" charset="0"/>
                <a:ea typeface="Calibri" pitchFamily="34" charset="-122"/>
                <a:cs typeface="Calibri" pitchFamily="34" charset="-120"/>
              </a:rPr>
              <a:t>04  Experimentation</a:t>
            </a:r>
            <a:endParaRPr lang="en-US" sz="950" dirty="0"/>
          </a:p>
        </p:txBody>
      </p:sp>
      <p:sp>
        <p:nvSpPr>
          <p:cNvPr id="13" name="Shape 11"/>
          <p:cNvSpPr/>
          <p:nvPr/>
        </p:nvSpPr>
        <p:spPr>
          <a:xfrm>
            <a:off x="9628632" y="5074920"/>
            <a:ext cx="2011680" cy="54864"/>
          </a:xfrm>
          <a:prstGeom prst="roundRect">
            <a:avLst>
              <a:gd name="adj" fmla="val 50000"/>
            </a:avLst>
          </a:prstGeom>
          <a:solidFill>
            <a:srgbClr val="2E4160"/>
          </a:solidFill>
          <a:ln w="12700">
            <a:solidFill>
              <a:srgbClr val="2E4160"/>
            </a:solidFill>
            <a:prstDash val="solid"/>
          </a:ln>
        </p:spPr>
      </p:sp>
      <p:sp>
        <p:nvSpPr>
          <p:cNvPr id="14" name="Text 12"/>
          <p:cNvSpPr/>
          <p:nvPr/>
        </p:nvSpPr>
        <p:spPr>
          <a:xfrm>
            <a:off x="9628632" y="5230368"/>
            <a:ext cx="2103120" cy="274320"/>
          </a:xfrm>
          <a:prstGeom prst="rect">
            <a:avLst/>
          </a:prstGeom>
          <a:noFill/>
          <a:ln/>
        </p:spPr>
        <p:txBody>
          <a:bodyPr wrap="square" lIns="0" tIns="0" rIns="0" bIns="0" rtlCol="0" anchor="ctr"/>
          <a:lstStyle/>
          <a:p>
            <a:pPr indent="0" marL="0">
              <a:buNone/>
            </a:pPr>
            <a:r>
              <a:rPr lang="en-US" sz="950" dirty="0">
                <a:solidFill>
                  <a:srgbClr val="5A6B87"/>
                </a:solidFill>
                <a:latin typeface="Calibri" pitchFamily="34" charset="0"/>
                <a:ea typeface="Calibri" pitchFamily="34" charset="-122"/>
                <a:cs typeface="Calibri" pitchFamily="34" charset="-120"/>
              </a:rPr>
              <a:t>05  Results &amp; Demonstration</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64240" cy="256032"/>
          </a:xfrm>
          <a:prstGeom prst="rect">
            <a:avLst/>
          </a:prstGeom>
          <a:noFill/>
          <a:ln/>
        </p:spPr>
        <p:txBody>
          <a:bodyPr wrap="square" lIns="0" tIns="0" rIns="0" bIns="0" rtlCol="0" anchor="ctr"/>
          <a:lstStyle/>
          <a:p>
            <a:pPr indent="0" marL="0">
              <a:buNone/>
            </a:pPr>
            <a:r>
              <a:rPr lang="en-US" sz="1200" b="1" spc="200" kern="0" dirty="0">
                <a:solidFill>
                  <a:srgbClr val="12897B"/>
                </a:solidFill>
                <a:latin typeface="Calibri" pitchFamily="34" charset="0"/>
                <a:ea typeface="Calibri" pitchFamily="34" charset="-122"/>
                <a:cs typeface="Calibri" pitchFamily="34" charset="-120"/>
              </a:rPr>
              <a:t>EXPERIMENTATION</a:t>
            </a:r>
            <a:endParaRPr lang="en-US" sz="1200" dirty="0"/>
          </a:p>
        </p:txBody>
      </p:sp>
      <p:sp>
        <p:nvSpPr>
          <p:cNvPr id="3" name="Text 1"/>
          <p:cNvSpPr/>
          <p:nvPr/>
        </p:nvSpPr>
        <p:spPr>
          <a:xfrm>
            <a:off x="548640" y="603504"/>
            <a:ext cx="11064240" cy="685800"/>
          </a:xfrm>
          <a:prstGeom prst="rect">
            <a:avLst/>
          </a:prstGeom>
          <a:noFill/>
          <a:ln/>
        </p:spPr>
        <p:txBody>
          <a:bodyPr wrap="square" lIns="0" tIns="0" rIns="0" bIns="0" rtlCol="0" anchor="t"/>
          <a:lstStyle/>
          <a:p>
            <a:pPr indent="0" marL="0">
              <a:buNone/>
            </a:pPr>
            <a:r>
              <a:rPr lang="en-US" sz="3200" b="1" dirty="0">
                <a:solidFill>
                  <a:srgbClr val="152238"/>
                </a:solidFill>
                <a:latin typeface="Cambria" pitchFamily="34" charset="0"/>
                <a:ea typeface="Cambria" pitchFamily="34" charset="-122"/>
                <a:cs typeface="Cambria" pitchFamily="34" charset="-120"/>
              </a:rPr>
              <a:t>Experimental setup</a:t>
            </a:r>
            <a:endParaRPr lang="en-US" sz="3200" dirty="0"/>
          </a:p>
        </p:txBody>
      </p:sp>
      <p:sp>
        <p:nvSpPr>
          <p:cNvPr id="4" name="Shape 2"/>
          <p:cNvSpPr/>
          <p:nvPr/>
        </p:nvSpPr>
        <p:spPr>
          <a:xfrm>
            <a:off x="548640" y="1463040"/>
            <a:ext cx="11064240" cy="512064"/>
          </a:xfrm>
          <a:prstGeom prst="roundRect">
            <a:avLst>
              <a:gd name="adj" fmla="val 16071"/>
            </a:avLst>
          </a:prstGeom>
          <a:solidFill>
            <a:srgbClr val="EEF2F7"/>
          </a:solidFill>
          <a:ln w="12700">
            <a:solidFill>
              <a:srgbClr val="D8E0EA"/>
            </a:solidFill>
            <a:prstDash val="solid"/>
          </a:ln>
        </p:spPr>
      </p:sp>
      <p:sp>
        <p:nvSpPr>
          <p:cNvPr id="5" name="Text 3"/>
          <p:cNvSpPr/>
          <p:nvPr/>
        </p:nvSpPr>
        <p:spPr>
          <a:xfrm>
            <a:off x="868680" y="1463040"/>
            <a:ext cx="1920240" cy="512064"/>
          </a:xfrm>
          <a:prstGeom prst="rect">
            <a:avLst/>
          </a:prstGeom>
          <a:noFill/>
          <a:ln/>
        </p:spPr>
        <p:txBody>
          <a:bodyPr wrap="square" lIns="0" tIns="0" rIns="0" bIns="0" rtlCol="0" anchor="ctr"/>
          <a:lstStyle/>
          <a:p>
            <a:pPr indent="0" marL="0">
              <a:buNone/>
            </a:pPr>
            <a:r>
              <a:rPr lang="en-US" sz="1250" b="1" dirty="0">
                <a:solidFill>
                  <a:srgbClr val="8A93A6"/>
                </a:solidFill>
                <a:latin typeface="Calibri" pitchFamily="34" charset="0"/>
                <a:ea typeface="Calibri" pitchFamily="34" charset="-122"/>
                <a:cs typeface="Calibri" pitchFamily="34" charset="-120"/>
              </a:rPr>
              <a:t>Model</a:t>
            </a:r>
            <a:endParaRPr lang="en-US" sz="1250" dirty="0"/>
          </a:p>
        </p:txBody>
      </p:sp>
      <p:sp>
        <p:nvSpPr>
          <p:cNvPr id="6" name="Text 4"/>
          <p:cNvSpPr/>
          <p:nvPr/>
        </p:nvSpPr>
        <p:spPr>
          <a:xfrm>
            <a:off x="2880360" y="1463040"/>
            <a:ext cx="8503920" cy="512064"/>
          </a:xfrm>
          <a:prstGeom prst="rect">
            <a:avLst/>
          </a:prstGeom>
          <a:noFill/>
          <a:ln/>
        </p:spPr>
        <p:txBody>
          <a:bodyPr wrap="square" lIns="0" tIns="0" rIns="0" bIns="0" rtlCol="0" anchor="ctr"/>
          <a:lstStyle/>
          <a:p>
            <a:pPr indent="0" marL="0">
              <a:buNone/>
            </a:pPr>
            <a:r>
              <a:rPr lang="en-US" sz="1300" dirty="0">
                <a:solidFill>
                  <a:srgbClr val="152238"/>
                </a:solidFill>
                <a:latin typeface="Calibri" pitchFamily="34" charset="0"/>
                <a:ea typeface="Calibri" pitchFamily="34" charset="-122"/>
                <a:cs typeface="Calibri" pitchFamily="34" charset="-120"/>
              </a:rPr>
              <a:t>BERT-base, 4 epochs, batch 16, learning rate 2e-5</a:t>
            </a:r>
            <a:endParaRPr lang="en-US" sz="1300" dirty="0"/>
          </a:p>
        </p:txBody>
      </p:sp>
      <p:sp>
        <p:nvSpPr>
          <p:cNvPr id="7" name="Shape 5"/>
          <p:cNvSpPr/>
          <p:nvPr/>
        </p:nvSpPr>
        <p:spPr>
          <a:xfrm>
            <a:off x="548640" y="2066544"/>
            <a:ext cx="11064240" cy="512064"/>
          </a:xfrm>
          <a:prstGeom prst="roundRect">
            <a:avLst>
              <a:gd name="adj" fmla="val 16071"/>
            </a:avLst>
          </a:prstGeom>
          <a:solidFill>
            <a:srgbClr val="FFFFFF"/>
          </a:solidFill>
          <a:ln w="12700">
            <a:solidFill>
              <a:srgbClr val="D8E0EA"/>
            </a:solidFill>
            <a:prstDash val="solid"/>
          </a:ln>
        </p:spPr>
      </p:sp>
      <p:sp>
        <p:nvSpPr>
          <p:cNvPr id="8" name="Text 6"/>
          <p:cNvSpPr/>
          <p:nvPr/>
        </p:nvSpPr>
        <p:spPr>
          <a:xfrm>
            <a:off x="868680" y="2066544"/>
            <a:ext cx="1920240" cy="512064"/>
          </a:xfrm>
          <a:prstGeom prst="rect">
            <a:avLst/>
          </a:prstGeom>
          <a:noFill/>
          <a:ln/>
        </p:spPr>
        <p:txBody>
          <a:bodyPr wrap="square" lIns="0" tIns="0" rIns="0" bIns="0" rtlCol="0" anchor="ctr"/>
          <a:lstStyle/>
          <a:p>
            <a:pPr indent="0" marL="0">
              <a:buNone/>
            </a:pPr>
            <a:r>
              <a:rPr lang="en-US" sz="1250" b="1" dirty="0">
                <a:solidFill>
                  <a:srgbClr val="8A93A6"/>
                </a:solidFill>
                <a:latin typeface="Calibri" pitchFamily="34" charset="0"/>
                <a:ea typeface="Calibri" pitchFamily="34" charset="-122"/>
                <a:cs typeface="Calibri" pitchFamily="34" charset="-120"/>
              </a:rPr>
              <a:t>Datasets</a:t>
            </a:r>
            <a:endParaRPr lang="en-US" sz="1250" dirty="0"/>
          </a:p>
        </p:txBody>
      </p:sp>
      <p:sp>
        <p:nvSpPr>
          <p:cNvPr id="9" name="Text 7"/>
          <p:cNvSpPr/>
          <p:nvPr/>
        </p:nvSpPr>
        <p:spPr>
          <a:xfrm>
            <a:off x="2880360" y="2066544"/>
            <a:ext cx="8503920" cy="512064"/>
          </a:xfrm>
          <a:prstGeom prst="rect">
            <a:avLst/>
          </a:prstGeom>
          <a:noFill/>
          <a:ln/>
        </p:spPr>
        <p:txBody>
          <a:bodyPr wrap="square" lIns="0" tIns="0" rIns="0" bIns="0" rtlCol="0" anchor="ctr"/>
          <a:lstStyle/>
          <a:p>
            <a:pPr indent="0" marL="0">
              <a:buNone/>
            </a:pPr>
            <a:r>
              <a:rPr lang="en-US" sz="1300" dirty="0">
                <a:solidFill>
                  <a:srgbClr val="152238"/>
                </a:solidFill>
                <a:latin typeface="Calibri" pitchFamily="34" charset="0"/>
                <a:ea typeface="Calibri" pitchFamily="34" charset="-122"/>
                <a:cs typeface="Calibri" pitchFamily="34" charset="-120"/>
              </a:rPr>
              <a:t>SST-5 — 5 classes, film reviews   ·   20 Newsgroups — 20 classes, forum posts</a:t>
            </a:r>
            <a:endParaRPr lang="en-US" sz="1300" dirty="0"/>
          </a:p>
        </p:txBody>
      </p:sp>
      <p:sp>
        <p:nvSpPr>
          <p:cNvPr id="10" name="Shape 8"/>
          <p:cNvSpPr/>
          <p:nvPr/>
        </p:nvSpPr>
        <p:spPr>
          <a:xfrm>
            <a:off x="548640" y="2670048"/>
            <a:ext cx="11064240" cy="512064"/>
          </a:xfrm>
          <a:prstGeom prst="roundRect">
            <a:avLst>
              <a:gd name="adj" fmla="val 16071"/>
            </a:avLst>
          </a:prstGeom>
          <a:solidFill>
            <a:srgbClr val="EEF2F7"/>
          </a:solidFill>
          <a:ln w="12700">
            <a:solidFill>
              <a:srgbClr val="D8E0EA"/>
            </a:solidFill>
            <a:prstDash val="solid"/>
          </a:ln>
        </p:spPr>
      </p:sp>
      <p:sp>
        <p:nvSpPr>
          <p:cNvPr id="11" name="Text 9"/>
          <p:cNvSpPr/>
          <p:nvPr/>
        </p:nvSpPr>
        <p:spPr>
          <a:xfrm>
            <a:off x="868680" y="2670048"/>
            <a:ext cx="1920240" cy="512064"/>
          </a:xfrm>
          <a:prstGeom prst="rect">
            <a:avLst/>
          </a:prstGeom>
          <a:noFill/>
          <a:ln/>
        </p:spPr>
        <p:txBody>
          <a:bodyPr wrap="square" lIns="0" tIns="0" rIns="0" bIns="0" rtlCol="0" anchor="ctr"/>
          <a:lstStyle/>
          <a:p>
            <a:pPr indent="0" marL="0">
              <a:buNone/>
            </a:pPr>
            <a:r>
              <a:rPr lang="en-US" sz="1250" b="1" dirty="0">
                <a:solidFill>
                  <a:srgbClr val="8A93A6"/>
                </a:solidFill>
                <a:latin typeface="Calibri" pitchFamily="34" charset="0"/>
                <a:ea typeface="Calibri" pitchFamily="34" charset="-122"/>
                <a:cs typeface="Calibri" pitchFamily="34" charset="-120"/>
              </a:rPr>
              <a:t>Baselines</a:t>
            </a:r>
            <a:endParaRPr lang="en-US" sz="1250" dirty="0"/>
          </a:p>
        </p:txBody>
      </p:sp>
      <p:sp>
        <p:nvSpPr>
          <p:cNvPr id="12" name="Text 10"/>
          <p:cNvSpPr/>
          <p:nvPr/>
        </p:nvSpPr>
        <p:spPr>
          <a:xfrm>
            <a:off x="2880360" y="2670048"/>
            <a:ext cx="8503920" cy="512064"/>
          </a:xfrm>
          <a:prstGeom prst="rect">
            <a:avLst/>
          </a:prstGeom>
          <a:noFill/>
          <a:ln/>
        </p:spPr>
        <p:txBody>
          <a:bodyPr wrap="square" lIns="0" tIns="0" rIns="0" bIns="0" rtlCol="0" anchor="ctr"/>
          <a:lstStyle/>
          <a:p>
            <a:pPr indent="0" marL="0">
              <a:buNone/>
            </a:pPr>
            <a:r>
              <a:rPr lang="en-US" sz="1300" dirty="0">
                <a:solidFill>
                  <a:srgbClr val="152238"/>
                </a:solidFill>
                <a:latin typeface="Calibri" pitchFamily="34" charset="0"/>
                <a:ea typeface="Calibri" pitchFamily="34" charset="-122"/>
                <a:cs typeface="Calibri" pitchFamily="34" charset="-120"/>
              </a:rPr>
              <a:t>plain cross-entropy   ·   AS-Softmax (the published method we extend)</a:t>
            </a:r>
            <a:endParaRPr lang="en-US" sz="1300" dirty="0"/>
          </a:p>
        </p:txBody>
      </p:sp>
      <p:sp>
        <p:nvSpPr>
          <p:cNvPr id="13" name="Shape 11"/>
          <p:cNvSpPr/>
          <p:nvPr/>
        </p:nvSpPr>
        <p:spPr>
          <a:xfrm>
            <a:off x="548640" y="3273552"/>
            <a:ext cx="11064240" cy="512064"/>
          </a:xfrm>
          <a:prstGeom prst="roundRect">
            <a:avLst>
              <a:gd name="adj" fmla="val 16071"/>
            </a:avLst>
          </a:prstGeom>
          <a:solidFill>
            <a:srgbClr val="FFFFFF"/>
          </a:solidFill>
          <a:ln w="12700">
            <a:solidFill>
              <a:srgbClr val="D8E0EA"/>
            </a:solidFill>
            <a:prstDash val="solid"/>
          </a:ln>
        </p:spPr>
      </p:sp>
      <p:sp>
        <p:nvSpPr>
          <p:cNvPr id="14" name="Text 12"/>
          <p:cNvSpPr/>
          <p:nvPr/>
        </p:nvSpPr>
        <p:spPr>
          <a:xfrm>
            <a:off x="868680" y="3273552"/>
            <a:ext cx="1920240" cy="512064"/>
          </a:xfrm>
          <a:prstGeom prst="rect">
            <a:avLst/>
          </a:prstGeom>
          <a:noFill/>
          <a:ln/>
        </p:spPr>
        <p:txBody>
          <a:bodyPr wrap="square" lIns="0" tIns="0" rIns="0" bIns="0" rtlCol="0" anchor="ctr"/>
          <a:lstStyle/>
          <a:p>
            <a:pPr indent="0" marL="0">
              <a:buNone/>
            </a:pPr>
            <a:r>
              <a:rPr lang="en-US" sz="1250" b="1" dirty="0">
                <a:solidFill>
                  <a:srgbClr val="8A93A6"/>
                </a:solidFill>
                <a:latin typeface="Calibri" pitchFamily="34" charset="0"/>
                <a:ea typeface="Calibri" pitchFamily="34" charset="-122"/>
                <a:cs typeface="Calibri" pitchFamily="34" charset="-120"/>
              </a:rPr>
              <a:t>Repeats</a:t>
            </a:r>
            <a:endParaRPr lang="en-US" sz="1250" dirty="0"/>
          </a:p>
        </p:txBody>
      </p:sp>
      <p:sp>
        <p:nvSpPr>
          <p:cNvPr id="15" name="Text 13"/>
          <p:cNvSpPr/>
          <p:nvPr/>
        </p:nvSpPr>
        <p:spPr>
          <a:xfrm>
            <a:off x="2880360" y="3273552"/>
            <a:ext cx="8503920" cy="512064"/>
          </a:xfrm>
          <a:prstGeom prst="rect">
            <a:avLst/>
          </a:prstGeom>
          <a:noFill/>
          <a:ln/>
        </p:spPr>
        <p:txBody>
          <a:bodyPr wrap="square" lIns="0" tIns="0" rIns="0" bIns="0" rtlCol="0" anchor="ctr"/>
          <a:lstStyle/>
          <a:p>
            <a:pPr indent="0" marL="0">
              <a:buNone/>
            </a:pPr>
            <a:r>
              <a:rPr lang="en-US" sz="1300" dirty="0">
                <a:solidFill>
                  <a:srgbClr val="152238"/>
                </a:solidFill>
                <a:latin typeface="Calibri" pitchFamily="34" charset="0"/>
                <a:ea typeface="Calibri" pitchFamily="34" charset="-122"/>
                <a:cs typeface="Calibri" pitchFamily="34" charset="-120"/>
              </a:rPr>
              <a:t>2–3 random seeds per method, so we can see the noise floor</a:t>
            </a:r>
            <a:endParaRPr lang="en-US" sz="1300" dirty="0"/>
          </a:p>
        </p:txBody>
      </p:sp>
      <p:sp>
        <p:nvSpPr>
          <p:cNvPr id="16" name="Shape 14"/>
          <p:cNvSpPr/>
          <p:nvPr/>
        </p:nvSpPr>
        <p:spPr>
          <a:xfrm>
            <a:off x="548640" y="3877056"/>
            <a:ext cx="11064240" cy="512064"/>
          </a:xfrm>
          <a:prstGeom prst="roundRect">
            <a:avLst>
              <a:gd name="adj" fmla="val 16071"/>
            </a:avLst>
          </a:prstGeom>
          <a:solidFill>
            <a:srgbClr val="EEF2F7"/>
          </a:solidFill>
          <a:ln w="12700">
            <a:solidFill>
              <a:srgbClr val="D8E0EA"/>
            </a:solidFill>
            <a:prstDash val="solid"/>
          </a:ln>
        </p:spPr>
      </p:sp>
      <p:sp>
        <p:nvSpPr>
          <p:cNvPr id="17" name="Text 15"/>
          <p:cNvSpPr/>
          <p:nvPr/>
        </p:nvSpPr>
        <p:spPr>
          <a:xfrm>
            <a:off x="868680" y="3877056"/>
            <a:ext cx="1920240" cy="512064"/>
          </a:xfrm>
          <a:prstGeom prst="rect">
            <a:avLst/>
          </a:prstGeom>
          <a:noFill/>
          <a:ln/>
        </p:spPr>
        <p:txBody>
          <a:bodyPr wrap="square" lIns="0" tIns="0" rIns="0" bIns="0" rtlCol="0" anchor="ctr"/>
          <a:lstStyle/>
          <a:p>
            <a:pPr indent="0" marL="0">
              <a:buNone/>
            </a:pPr>
            <a:r>
              <a:rPr lang="en-US" sz="1250" b="1" dirty="0">
                <a:solidFill>
                  <a:srgbClr val="8A93A6"/>
                </a:solidFill>
                <a:latin typeface="Calibri" pitchFamily="34" charset="0"/>
                <a:ea typeface="Calibri" pitchFamily="34" charset="-122"/>
                <a:cs typeface="Calibri" pitchFamily="34" charset="-120"/>
              </a:rPr>
              <a:t>Compute</a:t>
            </a:r>
            <a:endParaRPr lang="en-US" sz="1250" dirty="0"/>
          </a:p>
        </p:txBody>
      </p:sp>
      <p:sp>
        <p:nvSpPr>
          <p:cNvPr id="18" name="Text 16"/>
          <p:cNvSpPr/>
          <p:nvPr/>
        </p:nvSpPr>
        <p:spPr>
          <a:xfrm>
            <a:off x="2880360" y="3877056"/>
            <a:ext cx="8503920" cy="512064"/>
          </a:xfrm>
          <a:prstGeom prst="rect">
            <a:avLst/>
          </a:prstGeom>
          <a:noFill/>
          <a:ln/>
        </p:spPr>
        <p:txBody>
          <a:bodyPr wrap="square" lIns="0" tIns="0" rIns="0" bIns="0" rtlCol="0" anchor="ctr"/>
          <a:lstStyle/>
          <a:p>
            <a:pPr indent="0" marL="0">
              <a:buNone/>
            </a:pPr>
            <a:r>
              <a:rPr lang="en-US" sz="1300" dirty="0">
                <a:solidFill>
                  <a:srgbClr val="152238"/>
                </a:solidFill>
                <a:latin typeface="Calibri" pitchFamily="34" charset="0"/>
                <a:ea typeface="Calibri" pitchFamily="34" charset="-122"/>
                <a:cs typeface="Calibri" pitchFamily="34" charset="-120"/>
              </a:rPr>
              <a:t>one 6 GB laptop GPU — about 30 minutes per run</a:t>
            </a:r>
            <a:endParaRPr lang="en-US" sz="1300" dirty="0"/>
          </a:p>
        </p:txBody>
      </p:sp>
      <p:sp>
        <p:nvSpPr>
          <p:cNvPr id="19" name="Shape 17"/>
          <p:cNvSpPr/>
          <p:nvPr/>
        </p:nvSpPr>
        <p:spPr>
          <a:xfrm>
            <a:off x="548640" y="4709160"/>
            <a:ext cx="5349240" cy="1298448"/>
          </a:xfrm>
          <a:prstGeom prst="roundRect">
            <a:avLst>
              <a:gd name="adj" fmla="val 8451"/>
            </a:avLst>
          </a:prstGeom>
          <a:solidFill>
            <a:srgbClr val="E9F5F3"/>
          </a:solidFill>
          <a:ln w="12700">
            <a:solidFill>
              <a:srgbClr val="BFE0DA"/>
            </a:solidFill>
            <a:prstDash val="solid"/>
          </a:ln>
          <a:effectLst>
            <a:outerShdw sx="100000" sy="100000" kx="0" ky="0" algn="bl" rotWithShape="0" blurRad="127000" dist="25400" dir="5400000">
              <a:srgbClr val="9AA6B8">
                <a:alpha val="28000"/>
              </a:srgbClr>
            </a:outerShdw>
          </a:effectLst>
        </p:spPr>
      </p:sp>
      <p:sp>
        <p:nvSpPr>
          <p:cNvPr id="20" name="Text 18"/>
          <p:cNvSpPr/>
          <p:nvPr/>
        </p:nvSpPr>
        <p:spPr>
          <a:xfrm>
            <a:off x="841248" y="4864608"/>
            <a:ext cx="4754880" cy="274320"/>
          </a:xfrm>
          <a:prstGeom prst="rect">
            <a:avLst/>
          </a:prstGeom>
          <a:noFill/>
          <a:ln/>
        </p:spPr>
        <p:txBody>
          <a:bodyPr wrap="square" lIns="0" tIns="0" rIns="0" bIns="0" rtlCol="0" anchor="ctr"/>
          <a:lstStyle/>
          <a:p>
            <a:pPr indent="0" marL="0">
              <a:buNone/>
            </a:pPr>
            <a:r>
              <a:rPr lang="en-US" sz="1150" b="1" dirty="0">
                <a:solidFill>
                  <a:srgbClr val="12897B"/>
                </a:solidFill>
                <a:latin typeface="Calibri" pitchFamily="34" charset="0"/>
                <a:ea typeface="Calibri" pitchFamily="34" charset="-122"/>
                <a:cs typeface="Calibri" pitchFamily="34" charset="-120"/>
              </a:rPr>
              <a:t>Success criterion, fixed before we looked</a:t>
            </a:r>
            <a:endParaRPr lang="en-US" sz="1150" dirty="0"/>
          </a:p>
        </p:txBody>
      </p:sp>
      <p:sp>
        <p:nvSpPr>
          <p:cNvPr id="21" name="Text 19"/>
          <p:cNvSpPr/>
          <p:nvPr/>
        </p:nvSpPr>
        <p:spPr>
          <a:xfrm>
            <a:off x="841248" y="5175504"/>
            <a:ext cx="4754880" cy="640080"/>
          </a:xfrm>
          <a:prstGeom prst="rect">
            <a:avLst/>
          </a:prstGeom>
          <a:noFill/>
          <a:ln/>
        </p:spPr>
        <p:txBody>
          <a:bodyPr wrap="square" lIns="0" tIns="0" rIns="0" bIns="0" rtlCol="0" anchor="ctr"/>
          <a:lstStyle/>
          <a:p>
            <a:pPr indent="0" marL="0">
              <a:lnSpc>
                <a:spcPts val="1800"/>
              </a:lnSpc>
              <a:buNone/>
            </a:pPr>
            <a:r>
              <a:rPr lang="en-US" sz="1350" dirty="0">
                <a:solidFill>
                  <a:srgbClr val="152238"/>
                </a:solidFill>
                <a:latin typeface="Calibri" pitchFamily="34" charset="0"/>
                <a:ea typeface="Calibri" pitchFamily="34" charset="-122"/>
                <a:cs typeface="Calibri" pitchFamily="34" charset="-120"/>
              </a:rPr>
              <a:t>Beat AS-Softmax by ≥ 0.3% accuracy, averaged over seeds</a:t>
            </a:r>
            <a:endParaRPr lang="en-US" sz="1350" dirty="0"/>
          </a:p>
        </p:txBody>
      </p:sp>
      <p:sp>
        <p:nvSpPr>
          <p:cNvPr id="22" name="Shape 20"/>
          <p:cNvSpPr/>
          <p:nvPr/>
        </p:nvSpPr>
        <p:spPr>
          <a:xfrm>
            <a:off x="6263640" y="4709160"/>
            <a:ext cx="5349240" cy="1298448"/>
          </a:xfrm>
          <a:prstGeom prst="roundRect">
            <a:avLst>
              <a:gd name="adj" fmla="val 8451"/>
            </a:avLst>
          </a:prstGeom>
          <a:solidFill>
            <a:srgbClr val="FFFFFF"/>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23" name="Text 21"/>
          <p:cNvSpPr/>
          <p:nvPr/>
        </p:nvSpPr>
        <p:spPr>
          <a:xfrm>
            <a:off x="6556248" y="4864608"/>
            <a:ext cx="4754880" cy="274320"/>
          </a:xfrm>
          <a:prstGeom prst="rect">
            <a:avLst/>
          </a:prstGeom>
          <a:noFill/>
          <a:ln/>
        </p:spPr>
        <p:txBody>
          <a:bodyPr wrap="square" lIns="0" tIns="0" rIns="0" bIns="0" rtlCol="0" anchor="ctr"/>
          <a:lstStyle/>
          <a:p>
            <a:pPr indent="0" marL="0">
              <a:buNone/>
            </a:pPr>
            <a:r>
              <a:rPr lang="en-US" sz="1150" b="1" dirty="0">
                <a:solidFill>
                  <a:srgbClr val="8A93A6"/>
                </a:solidFill>
                <a:latin typeface="Calibri" pitchFamily="34" charset="0"/>
                <a:ea typeface="Calibri" pitchFamily="34" charset="-122"/>
                <a:cs typeface="Calibri" pitchFamily="34" charset="-120"/>
              </a:rPr>
              <a:t>What we measured</a:t>
            </a:r>
            <a:endParaRPr lang="en-US" sz="1150" dirty="0"/>
          </a:p>
        </p:txBody>
      </p:sp>
      <p:sp>
        <p:nvSpPr>
          <p:cNvPr id="24" name="Text 22"/>
          <p:cNvSpPr/>
          <p:nvPr/>
        </p:nvSpPr>
        <p:spPr>
          <a:xfrm>
            <a:off x="6556248" y="5175504"/>
            <a:ext cx="4754880" cy="685800"/>
          </a:xfrm>
          <a:prstGeom prst="rect">
            <a:avLst/>
          </a:prstGeom>
          <a:noFill/>
          <a:ln/>
        </p:spPr>
        <p:txBody>
          <a:bodyPr wrap="square" lIns="0" tIns="0" rIns="0" bIns="0" rtlCol="0" anchor="ctr"/>
          <a:lstStyle/>
          <a:p>
            <a:pPr indent="0" marL="0">
              <a:lnSpc>
                <a:spcPts val="1700"/>
              </a:lnSpc>
              <a:buNone/>
            </a:pPr>
            <a:r>
              <a:rPr lang="en-US" sz="1250" dirty="0">
                <a:solidFill>
                  <a:srgbClr val="152238"/>
                </a:solidFill>
                <a:latin typeface="Calibri" pitchFamily="34" charset="0"/>
                <a:ea typeface="Calibri" pitchFamily="34" charset="-122"/>
                <a:cs typeface="Calibri" pitchFamily="34" charset="-120"/>
              </a:rPr>
              <a:t>Accuracy at its best and its final epoch, calibration, and — critically — memorisation of wrong labels</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64240" cy="256032"/>
          </a:xfrm>
          <a:prstGeom prst="rect">
            <a:avLst/>
          </a:prstGeom>
          <a:noFill/>
          <a:ln/>
        </p:spPr>
        <p:txBody>
          <a:bodyPr wrap="square" lIns="0" tIns="0" rIns="0" bIns="0" rtlCol="0" anchor="ctr"/>
          <a:lstStyle/>
          <a:p>
            <a:pPr indent="0" marL="0">
              <a:buNone/>
            </a:pPr>
            <a:r>
              <a:rPr lang="en-US" sz="1200" b="1" spc="200" kern="0" dirty="0">
                <a:solidFill>
                  <a:srgbClr val="12897B"/>
                </a:solidFill>
                <a:latin typeface="Calibri" pitchFamily="34" charset="0"/>
                <a:ea typeface="Calibri" pitchFamily="34" charset="-122"/>
                <a:cs typeface="Calibri" pitchFamily="34" charset="-120"/>
              </a:rPr>
              <a:t>EXPERIMENTATION</a:t>
            </a:r>
            <a:endParaRPr lang="en-US" sz="1200" dirty="0"/>
          </a:p>
        </p:txBody>
      </p:sp>
      <p:sp>
        <p:nvSpPr>
          <p:cNvPr id="3" name="Text 1"/>
          <p:cNvSpPr/>
          <p:nvPr/>
        </p:nvSpPr>
        <p:spPr>
          <a:xfrm>
            <a:off x="548640" y="603504"/>
            <a:ext cx="11064240" cy="685800"/>
          </a:xfrm>
          <a:prstGeom prst="rect">
            <a:avLst/>
          </a:prstGeom>
          <a:noFill/>
          <a:ln/>
        </p:spPr>
        <p:txBody>
          <a:bodyPr wrap="square" lIns="0" tIns="0" rIns="0" bIns="0" rtlCol="0" anchor="t"/>
          <a:lstStyle/>
          <a:p>
            <a:pPr indent="0" marL="0">
              <a:buNone/>
            </a:pPr>
            <a:r>
              <a:rPr lang="en-US" sz="3200" b="1" dirty="0">
                <a:solidFill>
                  <a:srgbClr val="152238"/>
                </a:solidFill>
                <a:latin typeface="Cambria" pitchFamily="34" charset="0"/>
                <a:ea typeface="Cambria" pitchFamily="34" charset="-122"/>
                <a:cs typeface="Cambria" pitchFamily="34" charset="-120"/>
              </a:rPr>
              <a:t>What we ran, in two phases</a:t>
            </a:r>
            <a:endParaRPr lang="en-US" sz="3200" dirty="0"/>
          </a:p>
        </p:txBody>
      </p:sp>
      <p:sp>
        <p:nvSpPr>
          <p:cNvPr id="4" name="Shape 2"/>
          <p:cNvSpPr/>
          <p:nvPr/>
        </p:nvSpPr>
        <p:spPr>
          <a:xfrm>
            <a:off x="548640" y="1417320"/>
            <a:ext cx="5349240" cy="2286000"/>
          </a:xfrm>
          <a:prstGeom prst="roundRect">
            <a:avLst>
              <a:gd name="adj" fmla="val 4800"/>
            </a:avLst>
          </a:prstGeom>
          <a:solidFill>
            <a:srgbClr val="FFFFFF"/>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5" name="Shape 3"/>
          <p:cNvSpPr/>
          <p:nvPr/>
        </p:nvSpPr>
        <p:spPr>
          <a:xfrm>
            <a:off x="841248" y="1645920"/>
            <a:ext cx="457200" cy="457200"/>
          </a:xfrm>
          <a:prstGeom prst="ellipse">
            <a:avLst/>
          </a:prstGeom>
          <a:solidFill>
            <a:srgbClr val="3E6FA8"/>
          </a:solidFill>
          <a:ln w="12700">
            <a:solidFill>
              <a:srgbClr val="3E6FA8"/>
            </a:solidFill>
            <a:prstDash val="solid"/>
          </a:ln>
        </p:spPr>
      </p:sp>
      <p:sp>
        <p:nvSpPr>
          <p:cNvPr id="6" name="Text 4"/>
          <p:cNvSpPr/>
          <p:nvPr/>
        </p:nvSpPr>
        <p:spPr>
          <a:xfrm>
            <a:off x="841248" y="164592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426464" y="1645920"/>
            <a:ext cx="4206240" cy="457200"/>
          </a:xfrm>
          <a:prstGeom prst="rect">
            <a:avLst/>
          </a:prstGeom>
          <a:noFill/>
          <a:ln/>
        </p:spPr>
        <p:txBody>
          <a:bodyPr wrap="square" lIns="0" tIns="0" rIns="0" bIns="0" rtlCol="0" anchor="ctr"/>
          <a:lstStyle/>
          <a:p>
            <a:pPr indent="0" marL="0">
              <a:buNone/>
            </a:pPr>
            <a:r>
              <a:rPr lang="en-US" sz="1700" b="1" dirty="0">
                <a:solidFill>
                  <a:srgbClr val="152238"/>
                </a:solidFill>
                <a:latin typeface="Cambria" pitchFamily="34" charset="0"/>
                <a:ea typeface="Cambria" pitchFamily="34" charset="-122"/>
                <a:cs typeface="Cambria" pitchFamily="34" charset="-120"/>
              </a:rPr>
              <a:t>Phase 1 — clean labels</a:t>
            </a:r>
            <a:endParaRPr lang="en-US" sz="1700" dirty="0"/>
          </a:p>
        </p:txBody>
      </p:sp>
      <p:sp>
        <p:nvSpPr>
          <p:cNvPr id="8" name="Text 6"/>
          <p:cNvSpPr/>
          <p:nvPr/>
        </p:nvSpPr>
        <p:spPr>
          <a:xfrm>
            <a:off x="868680" y="2240280"/>
            <a:ext cx="4754880" cy="128016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44506A"/>
                </a:solidFill>
                <a:latin typeface="Calibri" pitchFamily="34" charset="0"/>
                <a:ea typeface="Calibri" pitchFamily="34" charset="-122"/>
                <a:cs typeface="Calibri" pitchFamily="34" charset="-120"/>
              </a:rPr>
              <a:t>SST-5, class-pair margin, 3 seeds</a:t>
            </a:r>
            <a:endParaRPr lang="en-US" sz="1250" dirty="0"/>
          </a:p>
          <a:p>
            <a:pPr marL="342900" indent="-342900">
              <a:spcAft>
                <a:spcPts val="700"/>
              </a:spcAft>
              <a:buSzPct val="100000"/>
              <a:buChar char="•"/>
            </a:pPr>
            <a:r>
              <a:rPr lang="en-US" sz="1250" dirty="0">
                <a:solidFill>
                  <a:srgbClr val="44506A"/>
                </a:solidFill>
                <a:latin typeface="Calibri" pitchFamily="34" charset="0"/>
                <a:ea typeface="Calibri" pitchFamily="34" charset="-122"/>
                <a:cs typeface="Calibri" pitchFamily="34" charset="-120"/>
              </a:rPr>
              <a:t>SST-5 tuning screen — was it under-tuned?</a:t>
            </a:r>
            <a:endParaRPr lang="en-US" sz="1250" dirty="0"/>
          </a:p>
          <a:p>
            <a:pPr marL="342900" indent="-342900">
              <a:spcAft>
                <a:spcPts val="700"/>
              </a:spcAft>
              <a:buSzPct val="100000"/>
              <a:buChar char="•"/>
            </a:pPr>
            <a:r>
              <a:rPr lang="en-US" sz="1250" dirty="0">
                <a:solidFill>
                  <a:srgbClr val="44506A"/>
                </a:solidFill>
                <a:latin typeface="Calibri" pitchFamily="34" charset="0"/>
                <a:ea typeface="Calibri" pitchFamily="34" charset="-122"/>
                <a:cs typeface="Calibri" pitchFamily="34" charset="-120"/>
              </a:rPr>
              <a:t>20 Newsgroups, class-pair margin</a:t>
            </a:r>
            <a:endParaRPr lang="en-US" sz="1250" dirty="0"/>
          </a:p>
        </p:txBody>
      </p:sp>
      <p:sp>
        <p:nvSpPr>
          <p:cNvPr id="9" name="Shape 7"/>
          <p:cNvSpPr/>
          <p:nvPr/>
        </p:nvSpPr>
        <p:spPr>
          <a:xfrm>
            <a:off x="6263640" y="1417320"/>
            <a:ext cx="5349240" cy="2286000"/>
          </a:xfrm>
          <a:prstGeom prst="roundRect">
            <a:avLst>
              <a:gd name="adj" fmla="val 4800"/>
            </a:avLst>
          </a:prstGeom>
          <a:solidFill>
            <a:srgbClr val="E9F5F3"/>
          </a:solidFill>
          <a:ln w="12700">
            <a:solidFill>
              <a:srgbClr val="BFE0DA"/>
            </a:solidFill>
            <a:prstDash val="solid"/>
          </a:ln>
          <a:effectLst>
            <a:outerShdw sx="100000" sy="100000" kx="0" ky="0" algn="bl" rotWithShape="0" blurRad="127000" dist="25400" dir="5400000">
              <a:srgbClr val="9AA6B8">
                <a:alpha val="28000"/>
              </a:srgbClr>
            </a:outerShdw>
          </a:effectLst>
        </p:spPr>
      </p:sp>
      <p:sp>
        <p:nvSpPr>
          <p:cNvPr id="10" name="Shape 8"/>
          <p:cNvSpPr/>
          <p:nvPr/>
        </p:nvSpPr>
        <p:spPr>
          <a:xfrm>
            <a:off x="6556248" y="1645920"/>
            <a:ext cx="457200" cy="457200"/>
          </a:xfrm>
          <a:prstGeom prst="ellipse">
            <a:avLst/>
          </a:prstGeom>
          <a:solidFill>
            <a:srgbClr val="12897B"/>
          </a:solidFill>
          <a:ln w="12700">
            <a:solidFill>
              <a:srgbClr val="12897B"/>
            </a:solidFill>
            <a:prstDash val="solid"/>
          </a:ln>
        </p:spPr>
      </p:sp>
      <p:sp>
        <p:nvSpPr>
          <p:cNvPr id="11" name="Text 9"/>
          <p:cNvSpPr/>
          <p:nvPr/>
        </p:nvSpPr>
        <p:spPr>
          <a:xfrm>
            <a:off x="6556248" y="164592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2" name="Text 10"/>
          <p:cNvSpPr/>
          <p:nvPr/>
        </p:nvSpPr>
        <p:spPr>
          <a:xfrm>
            <a:off x="7141464" y="1645920"/>
            <a:ext cx="4206240" cy="457200"/>
          </a:xfrm>
          <a:prstGeom prst="rect">
            <a:avLst/>
          </a:prstGeom>
          <a:noFill/>
          <a:ln/>
        </p:spPr>
        <p:txBody>
          <a:bodyPr wrap="square" lIns="0" tIns="0" rIns="0" bIns="0" rtlCol="0" anchor="ctr"/>
          <a:lstStyle/>
          <a:p>
            <a:pPr indent="0" marL="0">
              <a:buNone/>
            </a:pPr>
            <a:r>
              <a:rPr lang="en-US" sz="1700" b="1" dirty="0">
                <a:solidFill>
                  <a:srgbClr val="152238"/>
                </a:solidFill>
                <a:latin typeface="Cambria" pitchFamily="34" charset="0"/>
                <a:ea typeface="Cambria" pitchFamily="34" charset="-122"/>
                <a:cs typeface="Cambria" pitchFamily="34" charset="-120"/>
              </a:rPr>
              <a:t>Phase 2 — 40% wrong labels</a:t>
            </a:r>
            <a:endParaRPr lang="en-US" sz="1700" dirty="0"/>
          </a:p>
        </p:txBody>
      </p:sp>
      <p:sp>
        <p:nvSpPr>
          <p:cNvPr id="13" name="Text 11"/>
          <p:cNvSpPr/>
          <p:nvPr/>
        </p:nvSpPr>
        <p:spPr>
          <a:xfrm>
            <a:off x="6583680" y="2240280"/>
            <a:ext cx="4754880" cy="1280160"/>
          </a:xfrm>
          <a:prstGeom prst="rect">
            <a:avLst/>
          </a:prstGeom>
          <a:noFill/>
          <a:ln/>
        </p:spPr>
        <p:txBody>
          <a:bodyPr wrap="square" lIns="0" tIns="0" rIns="0" bIns="0" rtlCol="0" anchor="ctr"/>
          <a:lstStyle/>
          <a:p>
            <a:pPr indent="0" marL="0">
              <a:lnSpc>
                <a:spcPts val="1800"/>
              </a:lnSpc>
              <a:buNone/>
            </a:pPr>
            <a:r>
              <a:rPr lang="en-US" sz="1250" dirty="0">
                <a:solidFill>
                  <a:srgbClr val="44506A"/>
                </a:solidFill>
                <a:latin typeface="Calibri" pitchFamily="34" charset="0"/>
                <a:ea typeface="Calibri" pitchFamily="34" charset="-122"/>
                <a:cs typeface="Calibri" pitchFamily="34" charset="-120"/>
              </a:rPr>
              <a:t>Added when Phase 1 came back flat. Real datasets contain wrong labels, a large model will memorise them, and margin methods are supposed to help exactly there.</a:t>
            </a:r>
            <a:endParaRPr lang="en-US" sz="1250" dirty="0"/>
          </a:p>
        </p:txBody>
      </p:sp>
      <p:sp>
        <p:nvSpPr>
          <p:cNvPr id="14" name="Text 12"/>
          <p:cNvSpPr/>
          <p:nvPr/>
        </p:nvSpPr>
        <p:spPr>
          <a:xfrm>
            <a:off x="548640" y="3913632"/>
            <a:ext cx="11064240" cy="292608"/>
          </a:xfrm>
          <a:prstGeom prst="rect">
            <a:avLst/>
          </a:prstGeom>
          <a:noFill/>
          <a:ln/>
        </p:spPr>
        <p:txBody>
          <a:bodyPr wrap="square" lIns="0" tIns="0" rIns="0" bIns="0" rtlCol="0" anchor="ctr"/>
          <a:lstStyle/>
          <a:p>
            <a:pPr indent="0" marL="0">
              <a:buNone/>
            </a:pPr>
            <a:r>
              <a:rPr lang="en-US" sz="1250" b="1" dirty="0">
                <a:solidFill>
                  <a:srgbClr val="8A93A6"/>
                </a:solidFill>
                <a:latin typeface="Calibri" pitchFamily="34" charset="0"/>
                <a:ea typeface="Calibri" pitchFamily="34" charset="-122"/>
                <a:cs typeface="Calibri" pitchFamily="34" charset="-120"/>
              </a:rPr>
              <a:t>How the noisy testbed is built</a:t>
            </a:r>
            <a:endParaRPr lang="en-US" sz="1250" dirty="0"/>
          </a:p>
        </p:txBody>
      </p:sp>
      <p:sp>
        <p:nvSpPr>
          <p:cNvPr id="15" name="Shape 13"/>
          <p:cNvSpPr/>
          <p:nvPr/>
        </p:nvSpPr>
        <p:spPr>
          <a:xfrm>
            <a:off x="548640" y="4297680"/>
            <a:ext cx="11064240" cy="512064"/>
          </a:xfrm>
          <a:prstGeom prst="roundRect">
            <a:avLst>
              <a:gd name="adj" fmla="val 16071"/>
            </a:avLst>
          </a:prstGeom>
          <a:solidFill>
            <a:srgbClr val="FFFFFF"/>
          </a:solidFill>
          <a:ln w="12700">
            <a:solidFill>
              <a:srgbClr val="D8E0EA"/>
            </a:solidFill>
            <a:prstDash val="solid"/>
          </a:ln>
          <a:effectLst>
            <a:outerShdw sx="100000" sy="100000" kx="0" ky="0" algn="bl" rotWithShape="0" blurRad="63500" dist="25400" dir="5400000">
              <a:srgbClr val="9AA6B8">
                <a:alpha val="15000"/>
              </a:srgbClr>
            </a:outerShdw>
          </a:effectLst>
        </p:spPr>
      </p:sp>
      <p:sp>
        <p:nvSpPr>
          <p:cNvPr id="16" name="Text 14"/>
          <p:cNvSpPr/>
          <p:nvPr/>
        </p:nvSpPr>
        <p:spPr>
          <a:xfrm>
            <a:off x="868680" y="4297680"/>
            <a:ext cx="1463040" cy="512064"/>
          </a:xfrm>
          <a:prstGeom prst="rect">
            <a:avLst/>
          </a:prstGeom>
          <a:noFill/>
          <a:ln/>
        </p:spPr>
        <p:txBody>
          <a:bodyPr wrap="square" lIns="0" tIns="0" rIns="0" bIns="0" rtlCol="0" anchor="ctr"/>
          <a:lstStyle/>
          <a:p>
            <a:pPr indent="0" marL="0">
              <a:buNone/>
            </a:pPr>
            <a:r>
              <a:rPr lang="en-US" sz="1800" b="1" dirty="0">
                <a:solidFill>
                  <a:srgbClr val="C1121F"/>
                </a:solidFill>
                <a:latin typeface="Cambria" pitchFamily="34" charset="0"/>
                <a:ea typeface="Cambria" pitchFamily="34" charset="-122"/>
                <a:cs typeface="Cambria" pitchFamily="34" charset="-120"/>
              </a:rPr>
              <a:t>40%</a:t>
            </a:r>
            <a:endParaRPr lang="en-US" sz="1800" dirty="0"/>
          </a:p>
        </p:txBody>
      </p:sp>
      <p:sp>
        <p:nvSpPr>
          <p:cNvPr id="17" name="Text 15"/>
          <p:cNvSpPr/>
          <p:nvPr/>
        </p:nvSpPr>
        <p:spPr>
          <a:xfrm>
            <a:off x="2423160" y="4297680"/>
            <a:ext cx="8869680" cy="512064"/>
          </a:xfrm>
          <a:prstGeom prst="rect">
            <a:avLst/>
          </a:prstGeom>
          <a:noFill/>
          <a:ln/>
        </p:spPr>
        <p:txBody>
          <a:bodyPr wrap="square" lIns="0" tIns="0" rIns="0" bIns="0" rtlCol="0" anchor="ctr"/>
          <a:lstStyle/>
          <a:p>
            <a:pPr indent="0" marL="0">
              <a:buNone/>
            </a:pPr>
            <a:r>
              <a:rPr lang="en-US" sz="1300" dirty="0">
                <a:solidFill>
                  <a:srgbClr val="152238"/>
                </a:solidFill>
                <a:latin typeface="Calibri" pitchFamily="34" charset="0"/>
                <a:ea typeface="Calibri" pitchFamily="34" charset="-122"/>
                <a:cs typeface="Calibri" pitchFamily="34" charset="-120"/>
              </a:rPr>
              <a:t>of training labels deliberately corrupted</a:t>
            </a:r>
            <a:endParaRPr lang="en-US" sz="1300" dirty="0"/>
          </a:p>
        </p:txBody>
      </p:sp>
      <p:sp>
        <p:nvSpPr>
          <p:cNvPr id="18" name="Shape 16"/>
          <p:cNvSpPr/>
          <p:nvPr/>
        </p:nvSpPr>
        <p:spPr>
          <a:xfrm>
            <a:off x="548640" y="4901184"/>
            <a:ext cx="11064240" cy="512064"/>
          </a:xfrm>
          <a:prstGeom prst="roundRect">
            <a:avLst>
              <a:gd name="adj" fmla="val 16071"/>
            </a:avLst>
          </a:prstGeom>
          <a:solidFill>
            <a:srgbClr val="FFFFFF"/>
          </a:solidFill>
          <a:ln w="12700">
            <a:solidFill>
              <a:srgbClr val="D8E0EA"/>
            </a:solidFill>
            <a:prstDash val="solid"/>
          </a:ln>
          <a:effectLst>
            <a:outerShdw sx="100000" sy="100000" kx="0" ky="0" algn="bl" rotWithShape="0" blurRad="63500" dist="25400" dir="5400000">
              <a:srgbClr val="9AA6B8">
                <a:alpha val="15000"/>
              </a:srgbClr>
            </a:outerShdw>
          </a:effectLst>
        </p:spPr>
      </p:sp>
      <p:sp>
        <p:nvSpPr>
          <p:cNvPr id="19" name="Text 17"/>
          <p:cNvSpPr/>
          <p:nvPr/>
        </p:nvSpPr>
        <p:spPr>
          <a:xfrm>
            <a:off x="868680" y="4901184"/>
            <a:ext cx="1463040" cy="512064"/>
          </a:xfrm>
          <a:prstGeom prst="rect">
            <a:avLst/>
          </a:prstGeom>
          <a:noFill/>
          <a:ln/>
        </p:spPr>
        <p:txBody>
          <a:bodyPr wrap="square" lIns="0" tIns="0" rIns="0" bIns="0" rtlCol="0" anchor="ctr"/>
          <a:lstStyle/>
          <a:p>
            <a:pPr indent="0" marL="0">
              <a:buNone/>
            </a:pPr>
            <a:r>
              <a:rPr lang="en-US" sz="1800" b="1" dirty="0">
                <a:solidFill>
                  <a:srgbClr val="12897B"/>
                </a:solidFill>
                <a:latin typeface="Cambria" pitchFamily="34" charset="0"/>
                <a:ea typeface="Cambria" pitchFamily="34" charset="-122"/>
                <a:cs typeface="Cambria" pitchFamily="34" charset="-120"/>
              </a:rPr>
              <a:t>100%</a:t>
            </a:r>
            <a:endParaRPr lang="en-US" sz="1800" dirty="0"/>
          </a:p>
        </p:txBody>
      </p:sp>
      <p:sp>
        <p:nvSpPr>
          <p:cNvPr id="20" name="Text 18"/>
          <p:cNvSpPr/>
          <p:nvPr/>
        </p:nvSpPr>
        <p:spPr>
          <a:xfrm>
            <a:off x="2423160" y="4901184"/>
            <a:ext cx="8869680" cy="512064"/>
          </a:xfrm>
          <a:prstGeom prst="rect">
            <a:avLst/>
          </a:prstGeom>
          <a:noFill/>
          <a:ln/>
        </p:spPr>
        <p:txBody>
          <a:bodyPr wrap="square" lIns="0" tIns="0" rIns="0" bIns="0" rtlCol="0" anchor="ctr"/>
          <a:lstStyle/>
          <a:p>
            <a:pPr indent="0" marL="0">
              <a:buNone/>
            </a:pPr>
            <a:r>
              <a:rPr lang="en-US" sz="1300" dirty="0">
                <a:solidFill>
                  <a:srgbClr val="152238"/>
                </a:solidFill>
                <a:latin typeface="Calibri" pitchFamily="34" charset="0"/>
                <a:ea typeface="Calibri" pitchFamily="34" charset="-122"/>
                <a:cs typeface="Calibri" pitchFamily="34" charset="-120"/>
              </a:rPr>
              <a:t>of validation labels kept clean, so we always measure real quality</a:t>
            </a:r>
            <a:endParaRPr lang="en-US" sz="1300" dirty="0"/>
          </a:p>
        </p:txBody>
      </p:sp>
      <p:sp>
        <p:nvSpPr>
          <p:cNvPr id="21" name="Shape 19"/>
          <p:cNvSpPr/>
          <p:nvPr/>
        </p:nvSpPr>
        <p:spPr>
          <a:xfrm>
            <a:off x="548640" y="5504688"/>
            <a:ext cx="11064240" cy="512064"/>
          </a:xfrm>
          <a:prstGeom prst="roundRect">
            <a:avLst>
              <a:gd name="adj" fmla="val 16071"/>
            </a:avLst>
          </a:prstGeom>
          <a:solidFill>
            <a:srgbClr val="FFFFFF"/>
          </a:solidFill>
          <a:ln w="12700">
            <a:solidFill>
              <a:srgbClr val="D8E0EA"/>
            </a:solidFill>
            <a:prstDash val="solid"/>
          </a:ln>
          <a:effectLst>
            <a:outerShdw sx="100000" sy="100000" kx="0" ky="0" algn="bl" rotWithShape="0" blurRad="63500" dist="25400" dir="5400000">
              <a:srgbClr val="9AA6B8">
                <a:alpha val="15000"/>
              </a:srgbClr>
            </a:outerShdw>
          </a:effectLst>
        </p:spPr>
      </p:sp>
      <p:sp>
        <p:nvSpPr>
          <p:cNvPr id="22" name="Text 20"/>
          <p:cNvSpPr/>
          <p:nvPr/>
        </p:nvSpPr>
        <p:spPr>
          <a:xfrm>
            <a:off x="868680" y="5504688"/>
            <a:ext cx="1463040" cy="512064"/>
          </a:xfrm>
          <a:prstGeom prst="rect">
            <a:avLst/>
          </a:prstGeom>
          <a:noFill/>
          <a:ln/>
        </p:spPr>
        <p:txBody>
          <a:bodyPr wrap="square" lIns="0" tIns="0" rIns="0" bIns="0" rtlCol="0" anchor="ctr"/>
          <a:lstStyle/>
          <a:p>
            <a:pPr indent="0" marL="0">
              <a:buNone/>
            </a:pPr>
            <a:r>
              <a:rPr lang="en-US" sz="1800" b="1" dirty="0">
                <a:solidFill>
                  <a:srgbClr val="3E6FA8"/>
                </a:solidFill>
                <a:latin typeface="Cambria" pitchFamily="34" charset="0"/>
                <a:ea typeface="Cambria" pitchFamily="34" charset="-122"/>
                <a:cs typeface="Cambria" pitchFamily="34" charset="-120"/>
              </a:rPr>
              <a:t>Identical</a:t>
            </a:r>
            <a:endParaRPr lang="en-US" sz="1800" dirty="0"/>
          </a:p>
        </p:txBody>
      </p:sp>
      <p:sp>
        <p:nvSpPr>
          <p:cNvPr id="23" name="Text 21"/>
          <p:cNvSpPr/>
          <p:nvPr/>
        </p:nvSpPr>
        <p:spPr>
          <a:xfrm>
            <a:off x="2423160" y="5504688"/>
            <a:ext cx="8869680" cy="512064"/>
          </a:xfrm>
          <a:prstGeom prst="rect">
            <a:avLst/>
          </a:prstGeom>
          <a:noFill/>
          <a:ln/>
        </p:spPr>
        <p:txBody>
          <a:bodyPr wrap="square" lIns="0" tIns="0" rIns="0" bIns="0" rtlCol="0" anchor="ctr"/>
          <a:lstStyle/>
          <a:p>
            <a:pPr indent="0" marL="0">
              <a:buNone/>
            </a:pPr>
            <a:r>
              <a:rPr lang="en-US" sz="1300" dirty="0">
                <a:solidFill>
                  <a:srgbClr val="152238"/>
                </a:solidFill>
                <a:latin typeface="Calibri" pitchFamily="34" charset="0"/>
                <a:ea typeface="Calibri" pitchFamily="34" charset="-122"/>
                <a:cs typeface="Calibri" pitchFamily="34" charset="-120"/>
              </a:rPr>
              <a:t>corruption for every method — an exact comparison, not a statistical one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52238"/>
        </a:solidFill>
      </p:bgPr>
    </p:bg>
    <p:spTree>
      <p:nvGrpSpPr>
        <p:cNvPr id="1" name=""/>
        <p:cNvGrpSpPr/>
        <p:nvPr/>
      </p:nvGrpSpPr>
      <p:grpSpPr>
        <a:xfrm>
          <a:off x="0" y="0"/>
          <a:ext cx="0" cy="0"/>
          <a:chOff x="0" y="0"/>
          <a:chExt cx="0" cy="0"/>
        </a:xfrm>
      </p:grpSpPr>
      <p:sp>
        <p:nvSpPr>
          <p:cNvPr id="2" name="Text 0"/>
          <p:cNvSpPr/>
          <p:nvPr/>
        </p:nvSpPr>
        <p:spPr>
          <a:xfrm>
            <a:off x="777240" y="2148840"/>
            <a:ext cx="2011680" cy="1371600"/>
          </a:xfrm>
          <a:prstGeom prst="rect">
            <a:avLst/>
          </a:prstGeom>
          <a:noFill/>
          <a:ln/>
        </p:spPr>
        <p:txBody>
          <a:bodyPr wrap="square" lIns="0" tIns="0" rIns="0" bIns="0" rtlCol="0" anchor="ctr"/>
          <a:lstStyle/>
          <a:p>
            <a:pPr indent="0" marL="0">
              <a:buNone/>
            </a:pPr>
            <a:r>
              <a:rPr lang="en-US" sz="8400" b="1" dirty="0">
                <a:solidFill>
                  <a:srgbClr val="6FD8C9"/>
                </a:solidFill>
                <a:latin typeface="Cambria" pitchFamily="34" charset="0"/>
                <a:ea typeface="Cambria" pitchFamily="34" charset="-122"/>
                <a:cs typeface="Cambria" pitchFamily="34" charset="-120"/>
              </a:rPr>
              <a:t>05</a:t>
            </a:r>
            <a:endParaRPr lang="en-US" sz="8400" dirty="0"/>
          </a:p>
        </p:txBody>
      </p:sp>
      <p:sp>
        <p:nvSpPr>
          <p:cNvPr id="3" name="Text 1"/>
          <p:cNvSpPr/>
          <p:nvPr/>
        </p:nvSpPr>
        <p:spPr>
          <a:xfrm>
            <a:off x="2743200" y="2286000"/>
            <a:ext cx="8595360" cy="7772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Results &amp; Demonstration</a:t>
            </a:r>
            <a:endParaRPr lang="en-US" sz="4000" dirty="0"/>
          </a:p>
        </p:txBody>
      </p:sp>
      <p:sp>
        <p:nvSpPr>
          <p:cNvPr id="4" name="Text 2"/>
          <p:cNvSpPr/>
          <p:nvPr/>
        </p:nvSpPr>
        <p:spPr>
          <a:xfrm>
            <a:off x="2788920" y="3063240"/>
            <a:ext cx="8595360" cy="365760"/>
          </a:xfrm>
          <a:prstGeom prst="rect">
            <a:avLst/>
          </a:prstGeom>
          <a:noFill/>
          <a:ln/>
        </p:spPr>
        <p:txBody>
          <a:bodyPr wrap="square" lIns="0" tIns="0" rIns="0" bIns="0" rtlCol="0" anchor="ctr"/>
          <a:lstStyle/>
          <a:p>
            <a:pPr indent="0" marL="0">
              <a:buNone/>
            </a:pPr>
            <a:r>
              <a:rPr lang="en-US" sz="1500" dirty="0">
                <a:solidFill>
                  <a:srgbClr val="A9B6CC"/>
                </a:solidFill>
                <a:latin typeface="Calibri" pitchFamily="34" charset="0"/>
                <a:ea typeface="Calibri" pitchFamily="34" charset="-122"/>
                <a:cs typeface="Calibri" pitchFamily="34" charset="-120"/>
              </a:rPr>
              <a:t>what we found, and what we can claim</a:t>
            </a:r>
            <a:endParaRPr lang="en-US" sz="1500" dirty="0"/>
          </a:p>
        </p:txBody>
      </p:sp>
      <p:sp>
        <p:nvSpPr>
          <p:cNvPr id="5" name="Shape 3"/>
          <p:cNvSpPr/>
          <p:nvPr/>
        </p:nvSpPr>
        <p:spPr>
          <a:xfrm>
            <a:off x="777240" y="5074920"/>
            <a:ext cx="2011680" cy="54864"/>
          </a:xfrm>
          <a:prstGeom prst="roundRect">
            <a:avLst>
              <a:gd name="adj" fmla="val 50000"/>
            </a:avLst>
          </a:prstGeom>
          <a:solidFill>
            <a:srgbClr val="2E4160"/>
          </a:solidFill>
          <a:ln w="12700">
            <a:solidFill>
              <a:srgbClr val="2E4160"/>
            </a:solidFill>
            <a:prstDash val="solid"/>
          </a:ln>
        </p:spPr>
      </p:sp>
      <p:sp>
        <p:nvSpPr>
          <p:cNvPr id="6" name="Text 4"/>
          <p:cNvSpPr/>
          <p:nvPr/>
        </p:nvSpPr>
        <p:spPr>
          <a:xfrm>
            <a:off x="777240" y="5230368"/>
            <a:ext cx="2103120" cy="274320"/>
          </a:xfrm>
          <a:prstGeom prst="rect">
            <a:avLst/>
          </a:prstGeom>
          <a:noFill/>
          <a:ln/>
        </p:spPr>
        <p:txBody>
          <a:bodyPr wrap="square" lIns="0" tIns="0" rIns="0" bIns="0" rtlCol="0" anchor="ctr"/>
          <a:lstStyle/>
          <a:p>
            <a:pPr indent="0" marL="0">
              <a:buNone/>
            </a:pPr>
            <a:r>
              <a:rPr lang="en-US" sz="950" dirty="0">
                <a:solidFill>
                  <a:srgbClr val="5A6B87"/>
                </a:solidFill>
                <a:latin typeface="Calibri" pitchFamily="34" charset="0"/>
                <a:ea typeface="Calibri" pitchFamily="34" charset="-122"/>
                <a:cs typeface="Calibri" pitchFamily="34" charset="-120"/>
              </a:rPr>
              <a:t>01  Introduction</a:t>
            </a:r>
            <a:endParaRPr lang="en-US" sz="950" dirty="0"/>
          </a:p>
        </p:txBody>
      </p:sp>
      <p:sp>
        <p:nvSpPr>
          <p:cNvPr id="7" name="Shape 5"/>
          <p:cNvSpPr/>
          <p:nvPr/>
        </p:nvSpPr>
        <p:spPr>
          <a:xfrm>
            <a:off x="2990088" y="5074920"/>
            <a:ext cx="2011680" cy="54864"/>
          </a:xfrm>
          <a:prstGeom prst="roundRect">
            <a:avLst>
              <a:gd name="adj" fmla="val 50000"/>
            </a:avLst>
          </a:prstGeom>
          <a:solidFill>
            <a:srgbClr val="2E4160"/>
          </a:solidFill>
          <a:ln w="12700">
            <a:solidFill>
              <a:srgbClr val="2E4160"/>
            </a:solidFill>
            <a:prstDash val="solid"/>
          </a:ln>
        </p:spPr>
      </p:sp>
      <p:sp>
        <p:nvSpPr>
          <p:cNvPr id="8" name="Text 6"/>
          <p:cNvSpPr/>
          <p:nvPr/>
        </p:nvSpPr>
        <p:spPr>
          <a:xfrm>
            <a:off x="2990088" y="5230368"/>
            <a:ext cx="2103120" cy="274320"/>
          </a:xfrm>
          <a:prstGeom prst="rect">
            <a:avLst/>
          </a:prstGeom>
          <a:noFill/>
          <a:ln/>
        </p:spPr>
        <p:txBody>
          <a:bodyPr wrap="square" lIns="0" tIns="0" rIns="0" bIns="0" rtlCol="0" anchor="ctr"/>
          <a:lstStyle/>
          <a:p>
            <a:pPr indent="0" marL="0">
              <a:buNone/>
            </a:pPr>
            <a:r>
              <a:rPr lang="en-US" sz="950" dirty="0">
                <a:solidFill>
                  <a:srgbClr val="5A6B87"/>
                </a:solidFill>
                <a:latin typeface="Calibri" pitchFamily="34" charset="0"/>
                <a:ea typeface="Calibri" pitchFamily="34" charset="-122"/>
                <a:cs typeface="Calibri" pitchFamily="34" charset="-120"/>
              </a:rPr>
              <a:t>02  Background</a:t>
            </a:r>
            <a:endParaRPr lang="en-US" sz="950" dirty="0"/>
          </a:p>
        </p:txBody>
      </p:sp>
      <p:sp>
        <p:nvSpPr>
          <p:cNvPr id="9" name="Shape 7"/>
          <p:cNvSpPr/>
          <p:nvPr/>
        </p:nvSpPr>
        <p:spPr>
          <a:xfrm>
            <a:off x="5202936" y="5074920"/>
            <a:ext cx="2011680" cy="54864"/>
          </a:xfrm>
          <a:prstGeom prst="roundRect">
            <a:avLst>
              <a:gd name="adj" fmla="val 50000"/>
            </a:avLst>
          </a:prstGeom>
          <a:solidFill>
            <a:srgbClr val="2E4160"/>
          </a:solidFill>
          <a:ln w="12700">
            <a:solidFill>
              <a:srgbClr val="2E4160"/>
            </a:solidFill>
            <a:prstDash val="solid"/>
          </a:ln>
        </p:spPr>
      </p:sp>
      <p:sp>
        <p:nvSpPr>
          <p:cNvPr id="10" name="Text 8"/>
          <p:cNvSpPr/>
          <p:nvPr/>
        </p:nvSpPr>
        <p:spPr>
          <a:xfrm>
            <a:off x="5202936" y="5230368"/>
            <a:ext cx="2103120" cy="274320"/>
          </a:xfrm>
          <a:prstGeom prst="rect">
            <a:avLst/>
          </a:prstGeom>
          <a:noFill/>
          <a:ln/>
        </p:spPr>
        <p:txBody>
          <a:bodyPr wrap="square" lIns="0" tIns="0" rIns="0" bIns="0" rtlCol="0" anchor="ctr"/>
          <a:lstStyle/>
          <a:p>
            <a:pPr indent="0" marL="0">
              <a:buNone/>
            </a:pPr>
            <a:r>
              <a:rPr lang="en-US" sz="950" dirty="0">
                <a:solidFill>
                  <a:srgbClr val="5A6B87"/>
                </a:solidFill>
                <a:latin typeface="Calibri" pitchFamily="34" charset="0"/>
                <a:ea typeface="Calibri" pitchFamily="34" charset="-122"/>
                <a:cs typeface="Calibri" pitchFamily="34" charset="-120"/>
              </a:rPr>
              <a:t>03  Methodology</a:t>
            </a:r>
            <a:endParaRPr lang="en-US" sz="950" dirty="0"/>
          </a:p>
        </p:txBody>
      </p:sp>
      <p:sp>
        <p:nvSpPr>
          <p:cNvPr id="11" name="Shape 9"/>
          <p:cNvSpPr/>
          <p:nvPr/>
        </p:nvSpPr>
        <p:spPr>
          <a:xfrm>
            <a:off x="7415784" y="5074920"/>
            <a:ext cx="2011680" cy="54864"/>
          </a:xfrm>
          <a:prstGeom prst="roundRect">
            <a:avLst>
              <a:gd name="adj" fmla="val 50000"/>
            </a:avLst>
          </a:prstGeom>
          <a:solidFill>
            <a:srgbClr val="2E4160"/>
          </a:solidFill>
          <a:ln w="12700">
            <a:solidFill>
              <a:srgbClr val="2E4160"/>
            </a:solidFill>
            <a:prstDash val="solid"/>
          </a:ln>
        </p:spPr>
      </p:sp>
      <p:sp>
        <p:nvSpPr>
          <p:cNvPr id="12" name="Text 10"/>
          <p:cNvSpPr/>
          <p:nvPr/>
        </p:nvSpPr>
        <p:spPr>
          <a:xfrm>
            <a:off x="7415784" y="5230368"/>
            <a:ext cx="2103120" cy="274320"/>
          </a:xfrm>
          <a:prstGeom prst="rect">
            <a:avLst/>
          </a:prstGeom>
          <a:noFill/>
          <a:ln/>
        </p:spPr>
        <p:txBody>
          <a:bodyPr wrap="square" lIns="0" tIns="0" rIns="0" bIns="0" rtlCol="0" anchor="ctr"/>
          <a:lstStyle/>
          <a:p>
            <a:pPr indent="0" marL="0">
              <a:buNone/>
            </a:pPr>
            <a:r>
              <a:rPr lang="en-US" sz="950" dirty="0">
                <a:solidFill>
                  <a:srgbClr val="5A6B87"/>
                </a:solidFill>
                <a:latin typeface="Calibri" pitchFamily="34" charset="0"/>
                <a:ea typeface="Calibri" pitchFamily="34" charset="-122"/>
                <a:cs typeface="Calibri" pitchFamily="34" charset="-120"/>
              </a:rPr>
              <a:t>04  Experimentation</a:t>
            </a:r>
            <a:endParaRPr lang="en-US" sz="950" dirty="0"/>
          </a:p>
        </p:txBody>
      </p:sp>
      <p:sp>
        <p:nvSpPr>
          <p:cNvPr id="13" name="Shape 11"/>
          <p:cNvSpPr/>
          <p:nvPr/>
        </p:nvSpPr>
        <p:spPr>
          <a:xfrm>
            <a:off x="9628632" y="5074920"/>
            <a:ext cx="2011680" cy="54864"/>
          </a:xfrm>
          <a:prstGeom prst="roundRect">
            <a:avLst>
              <a:gd name="adj" fmla="val 50000"/>
            </a:avLst>
          </a:prstGeom>
          <a:solidFill>
            <a:srgbClr val="6FD8C9"/>
          </a:solidFill>
          <a:ln w="12700">
            <a:solidFill>
              <a:srgbClr val="6FD8C9"/>
            </a:solidFill>
            <a:prstDash val="solid"/>
          </a:ln>
        </p:spPr>
      </p:sp>
      <p:sp>
        <p:nvSpPr>
          <p:cNvPr id="14" name="Text 12"/>
          <p:cNvSpPr/>
          <p:nvPr/>
        </p:nvSpPr>
        <p:spPr>
          <a:xfrm>
            <a:off x="9628632" y="5230368"/>
            <a:ext cx="2103120" cy="274320"/>
          </a:xfrm>
          <a:prstGeom prst="rect">
            <a:avLst/>
          </a:prstGeom>
          <a:noFill/>
          <a:ln/>
        </p:spPr>
        <p:txBody>
          <a:bodyPr wrap="square" lIns="0" tIns="0" rIns="0" bIns="0" rtlCol="0" anchor="ctr"/>
          <a:lstStyle/>
          <a:p>
            <a:pPr indent="0" marL="0">
              <a:buNone/>
            </a:pPr>
            <a:r>
              <a:rPr lang="en-US" sz="950" b="1" dirty="0">
                <a:solidFill>
                  <a:srgbClr val="6FD8C9"/>
                </a:solidFill>
                <a:latin typeface="Calibri" pitchFamily="34" charset="0"/>
                <a:ea typeface="Calibri" pitchFamily="34" charset="-122"/>
                <a:cs typeface="Calibri" pitchFamily="34" charset="-120"/>
              </a:rPr>
              <a:t>05  Results &amp; Demonstration</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52238"/>
        </a:solidFill>
      </p:bgPr>
    </p:bg>
    <p:spTree>
      <p:nvGrpSpPr>
        <p:cNvPr id="1" name=""/>
        <p:cNvGrpSpPr/>
        <p:nvPr/>
      </p:nvGrpSpPr>
      <p:grpSpPr>
        <a:xfrm>
          <a:off x="0" y="0"/>
          <a:ext cx="0" cy="0"/>
          <a:chOff x="0" y="0"/>
          <a:chExt cx="0" cy="0"/>
        </a:xfrm>
      </p:grpSpPr>
      <p:sp>
        <p:nvSpPr>
          <p:cNvPr id="2" name="Text 0"/>
          <p:cNvSpPr/>
          <p:nvPr/>
        </p:nvSpPr>
        <p:spPr>
          <a:xfrm>
            <a:off x="548640" y="310896"/>
            <a:ext cx="11064240" cy="256032"/>
          </a:xfrm>
          <a:prstGeom prst="rect">
            <a:avLst/>
          </a:prstGeom>
          <a:noFill/>
          <a:ln/>
        </p:spPr>
        <p:txBody>
          <a:bodyPr wrap="square" lIns="0" tIns="0" rIns="0" bIns="0" rtlCol="0" anchor="ctr"/>
          <a:lstStyle/>
          <a:p>
            <a:pPr indent="0" marL="0">
              <a:buNone/>
            </a:pPr>
            <a:r>
              <a:rPr lang="en-US" sz="1200" b="1" spc="200" kern="0" dirty="0">
                <a:solidFill>
                  <a:srgbClr val="6FD8C9"/>
                </a:solidFill>
                <a:latin typeface="Calibri" pitchFamily="34" charset="0"/>
                <a:ea typeface="Calibri" pitchFamily="34" charset="-122"/>
                <a:cs typeface="Calibri" pitchFamily="34" charset="-120"/>
              </a:rPr>
              <a:t>RESULTS · WHAT FAILED</a:t>
            </a:r>
            <a:endParaRPr lang="en-US" sz="1200" dirty="0"/>
          </a:p>
        </p:txBody>
      </p:sp>
      <p:sp>
        <p:nvSpPr>
          <p:cNvPr id="3" name="Text 1"/>
          <p:cNvSpPr/>
          <p:nvPr/>
        </p:nvSpPr>
        <p:spPr>
          <a:xfrm>
            <a:off x="548640" y="603504"/>
            <a:ext cx="11064240" cy="68580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Then we ran it. It did not work.</a:t>
            </a:r>
            <a:endParaRPr lang="en-US" sz="3200" dirty="0"/>
          </a:p>
        </p:txBody>
      </p:sp>
      <p:sp>
        <p:nvSpPr>
          <p:cNvPr id="4" name="Text 2"/>
          <p:cNvSpPr/>
          <p:nvPr/>
        </p:nvSpPr>
        <p:spPr>
          <a:xfrm>
            <a:off x="548640" y="1417320"/>
            <a:ext cx="11064240" cy="548640"/>
          </a:xfrm>
          <a:prstGeom prst="rect">
            <a:avLst/>
          </a:prstGeom>
          <a:noFill/>
          <a:ln/>
        </p:spPr>
        <p:txBody>
          <a:bodyPr wrap="square" lIns="0" tIns="0" rIns="0" bIns="0" rtlCol="0" anchor="ctr"/>
          <a:lstStyle/>
          <a:p>
            <a:pPr indent="0" marL="0">
              <a:lnSpc>
                <a:spcPts val="2100"/>
              </a:lnSpc>
              <a:buNone/>
            </a:pPr>
            <a:r>
              <a:rPr lang="en-US" sz="1500" dirty="0">
                <a:solidFill>
                  <a:srgbClr val="C3CEDF"/>
                </a:solidFill>
                <a:latin typeface="Calibri" pitchFamily="34" charset="0"/>
                <a:ea typeface="Calibri" pitchFamily="34" charset="-122"/>
                <a:cs typeface="Calibri" pitchFamily="34" charset="-120"/>
              </a:rPr>
              <a:t>Four testbeds. On accuracy, nothing separated — every difference was smaller than the random variation between two runs of the same method.</a:t>
            </a:r>
            <a:endParaRPr lang="en-US" sz="1500" dirty="0"/>
          </a:p>
        </p:txBody>
      </p:sp>
      <p:sp>
        <p:nvSpPr>
          <p:cNvPr id="5" name="Shape 3"/>
          <p:cNvSpPr/>
          <p:nvPr/>
        </p:nvSpPr>
        <p:spPr>
          <a:xfrm>
            <a:off x="548640" y="2148840"/>
            <a:ext cx="11064240" cy="548640"/>
          </a:xfrm>
          <a:prstGeom prst="roundRect">
            <a:avLst>
              <a:gd name="adj" fmla="val 16667"/>
            </a:avLst>
          </a:prstGeom>
          <a:solidFill>
            <a:srgbClr val="24354F"/>
          </a:solidFill>
          <a:ln w="12700">
            <a:solidFill>
              <a:srgbClr val="35496B"/>
            </a:solidFill>
            <a:prstDash val="solid"/>
          </a:ln>
        </p:spPr>
      </p:sp>
      <p:sp>
        <p:nvSpPr>
          <p:cNvPr id="6" name="Text 4"/>
          <p:cNvSpPr/>
          <p:nvPr/>
        </p:nvSpPr>
        <p:spPr>
          <a:xfrm>
            <a:off x="822960" y="2148840"/>
            <a:ext cx="2926080" cy="54864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SST-5, clean labels</a:t>
            </a:r>
            <a:endParaRPr lang="en-US" sz="1350" dirty="0"/>
          </a:p>
        </p:txBody>
      </p:sp>
      <p:sp>
        <p:nvSpPr>
          <p:cNvPr id="7" name="Text 5"/>
          <p:cNvSpPr/>
          <p:nvPr/>
        </p:nvSpPr>
        <p:spPr>
          <a:xfrm>
            <a:off x="3794760" y="2148840"/>
            <a:ext cx="3840480" cy="548640"/>
          </a:xfrm>
          <a:prstGeom prst="rect">
            <a:avLst/>
          </a:prstGeom>
          <a:noFill/>
          <a:ln/>
        </p:spPr>
        <p:txBody>
          <a:bodyPr wrap="square" lIns="0" tIns="0" rIns="0" bIns="0" rtlCol="0" anchor="ctr"/>
          <a:lstStyle/>
          <a:p>
            <a:pPr indent="0" marL="0">
              <a:buNone/>
            </a:pPr>
            <a:r>
              <a:rPr lang="en-US" sz="1250" dirty="0">
                <a:solidFill>
                  <a:srgbClr val="A9B6CC"/>
                </a:solidFill>
                <a:latin typeface="Calibri" pitchFamily="34" charset="0"/>
                <a:ea typeface="Calibri" pitchFamily="34" charset="-122"/>
                <a:cs typeface="Calibri" pitchFamily="34" charset="-120"/>
              </a:rPr>
              <a:t>class-pair gap vs AS-Softmax</a:t>
            </a:r>
            <a:endParaRPr lang="en-US" sz="1250" dirty="0"/>
          </a:p>
        </p:txBody>
      </p:sp>
      <p:sp>
        <p:nvSpPr>
          <p:cNvPr id="8" name="Text 6"/>
          <p:cNvSpPr/>
          <p:nvPr/>
        </p:nvSpPr>
        <p:spPr>
          <a:xfrm>
            <a:off x="7726680" y="2148840"/>
            <a:ext cx="1371600" cy="548640"/>
          </a:xfrm>
          <a:prstGeom prst="rect">
            <a:avLst/>
          </a:prstGeom>
          <a:noFill/>
          <a:ln/>
        </p:spPr>
        <p:txBody>
          <a:bodyPr wrap="square" lIns="0" tIns="0" rIns="0" bIns="0" rtlCol="0" anchor="ctr"/>
          <a:lstStyle/>
          <a:p>
            <a:pPr algn="r" indent="0" marL="0">
              <a:buNone/>
            </a:pPr>
            <a:r>
              <a:rPr lang="en-US" sz="1700" b="1" dirty="0">
                <a:solidFill>
                  <a:srgbClr val="FF8A8F"/>
                </a:solidFill>
                <a:latin typeface="Cambria" pitchFamily="34" charset="0"/>
                <a:ea typeface="Cambria" pitchFamily="34" charset="-122"/>
                <a:cs typeface="Cambria" pitchFamily="34" charset="-120"/>
              </a:rPr>
              <a:t>−0.33%</a:t>
            </a:r>
            <a:endParaRPr lang="en-US" sz="1700" dirty="0"/>
          </a:p>
        </p:txBody>
      </p:sp>
      <p:sp>
        <p:nvSpPr>
          <p:cNvPr id="9" name="Text 7"/>
          <p:cNvSpPr/>
          <p:nvPr/>
        </p:nvSpPr>
        <p:spPr>
          <a:xfrm>
            <a:off x="9326880" y="2148840"/>
            <a:ext cx="2148840" cy="548640"/>
          </a:xfrm>
          <a:prstGeom prst="rect">
            <a:avLst/>
          </a:prstGeom>
          <a:noFill/>
          <a:ln/>
        </p:spPr>
        <p:txBody>
          <a:bodyPr wrap="square" lIns="0" tIns="0" rIns="0" bIns="0" rtlCol="0" anchor="ctr"/>
          <a:lstStyle/>
          <a:p>
            <a:pPr indent="0" marL="0">
              <a:buNone/>
            </a:pPr>
            <a:r>
              <a:rPr lang="en-US" sz="1200" i="1" dirty="0">
                <a:solidFill>
                  <a:srgbClr val="8A97AD"/>
                </a:solidFill>
                <a:latin typeface="Calibri" pitchFamily="34" charset="0"/>
                <a:ea typeface="Calibri" pitchFamily="34" charset="-122"/>
                <a:cs typeface="Calibri" pitchFamily="34" charset="-120"/>
              </a:rPr>
              <a:t>no gain</a:t>
            </a:r>
            <a:endParaRPr lang="en-US" sz="1200" dirty="0"/>
          </a:p>
        </p:txBody>
      </p:sp>
      <p:sp>
        <p:nvSpPr>
          <p:cNvPr id="10" name="Shape 8"/>
          <p:cNvSpPr/>
          <p:nvPr/>
        </p:nvSpPr>
        <p:spPr>
          <a:xfrm>
            <a:off x="548640" y="2807208"/>
            <a:ext cx="11064240" cy="548640"/>
          </a:xfrm>
          <a:prstGeom prst="roundRect">
            <a:avLst>
              <a:gd name="adj" fmla="val 16667"/>
            </a:avLst>
          </a:prstGeom>
          <a:solidFill>
            <a:srgbClr val="24354F"/>
          </a:solidFill>
          <a:ln w="12700">
            <a:solidFill>
              <a:srgbClr val="35496B"/>
            </a:solidFill>
            <a:prstDash val="solid"/>
          </a:ln>
        </p:spPr>
      </p:sp>
      <p:sp>
        <p:nvSpPr>
          <p:cNvPr id="11" name="Text 9"/>
          <p:cNvSpPr/>
          <p:nvPr/>
        </p:nvSpPr>
        <p:spPr>
          <a:xfrm>
            <a:off x="822960" y="2807208"/>
            <a:ext cx="2926080" cy="54864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SST-5, tuning screen</a:t>
            </a:r>
            <a:endParaRPr lang="en-US" sz="1350" dirty="0"/>
          </a:p>
        </p:txBody>
      </p:sp>
      <p:sp>
        <p:nvSpPr>
          <p:cNvPr id="12" name="Text 10"/>
          <p:cNvSpPr/>
          <p:nvPr/>
        </p:nvSpPr>
        <p:spPr>
          <a:xfrm>
            <a:off x="3794760" y="2807208"/>
            <a:ext cx="3840480" cy="548640"/>
          </a:xfrm>
          <a:prstGeom prst="rect">
            <a:avLst/>
          </a:prstGeom>
          <a:noFill/>
          <a:ln/>
        </p:spPr>
        <p:txBody>
          <a:bodyPr wrap="square" lIns="0" tIns="0" rIns="0" bIns="0" rtlCol="0" anchor="ctr"/>
          <a:lstStyle/>
          <a:p>
            <a:pPr indent="0" marL="0">
              <a:buNone/>
            </a:pPr>
            <a:r>
              <a:rPr lang="en-US" sz="1250" dirty="0">
                <a:solidFill>
                  <a:srgbClr val="A9B6CC"/>
                </a:solidFill>
                <a:latin typeface="Calibri" pitchFamily="34" charset="0"/>
                <a:ea typeface="Calibri" pitchFamily="34" charset="-122"/>
                <a:cs typeface="Calibri" pitchFamily="34" charset="-120"/>
              </a:rPr>
              <a:t>let the gap learn harder</a:t>
            </a:r>
            <a:endParaRPr lang="en-US" sz="1250" dirty="0"/>
          </a:p>
        </p:txBody>
      </p:sp>
      <p:sp>
        <p:nvSpPr>
          <p:cNvPr id="13" name="Text 11"/>
          <p:cNvSpPr/>
          <p:nvPr/>
        </p:nvSpPr>
        <p:spPr>
          <a:xfrm>
            <a:off x="7726680" y="2807208"/>
            <a:ext cx="1371600" cy="548640"/>
          </a:xfrm>
          <a:prstGeom prst="rect">
            <a:avLst/>
          </a:prstGeom>
          <a:noFill/>
          <a:ln/>
        </p:spPr>
        <p:txBody>
          <a:bodyPr wrap="square" lIns="0" tIns="0" rIns="0" bIns="0" rtlCol="0" anchor="ctr"/>
          <a:lstStyle/>
          <a:p>
            <a:pPr algn="r" indent="0" marL="0">
              <a:buNone/>
            </a:pPr>
            <a:r>
              <a:rPr lang="en-US" sz="1700" b="1" dirty="0">
                <a:solidFill>
                  <a:srgbClr val="FF8A8F"/>
                </a:solidFill>
                <a:latin typeface="Cambria" pitchFamily="34" charset="0"/>
                <a:ea typeface="Cambria" pitchFamily="34" charset="-122"/>
                <a:cs typeface="Cambria" pitchFamily="34" charset="-120"/>
              </a:rPr>
              <a:t>−2.4%</a:t>
            </a:r>
            <a:endParaRPr lang="en-US" sz="1700" dirty="0"/>
          </a:p>
        </p:txBody>
      </p:sp>
      <p:sp>
        <p:nvSpPr>
          <p:cNvPr id="14" name="Text 12"/>
          <p:cNvSpPr/>
          <p:nvPr/>
        </p:nvSpPr>
        <p:spPr>
          <a:xfrm>
            <a:off x="9326880" y="2807208"/>
            <a:ext cx="2148840" cy="548640"/>
          </a:xfrm>
          <a:prstGeom prst="rect">
            <a:avLst/>
          </a:prstGeom>
          <a:noFill/>
          <a:ln/>
        </p:spPr>
        <p:txBody>
          <a:bodyPr wrap="square" lIns="0" tIns="0" rIns="0" bIns="0" rtlCol="0" anchor="ctr"/>
          <a:lstStyle/>
          <a:p>
            <a:pPr indent="0" marL="0">
              <a:buNone/>
            </a:pPr>
            <a:r>
              <a:rPr lang="en-US" sz="1200" i="1" dirty="0">
                <a:solidFill>
                  <a:srgbClr val="8A97AD"/>
                </a:solidFill>
                <a:latin typeface="Calibri" pitchFamily="34" charset="0"/>
                <a:ea typeface="Calibri" pitchFamily="34" charset="-122"/>
                <a:cs typeface="Calibri" pitchFamily="34" charset="-120"/>
              </a:rPr>
              <a:t>actively worse</a:t>
            </a:r>
            <a:endParaRPr lang="en-US" sz="1200" dirty="0"/>
          </a:p>
        </p:txBody>
      </p:sp>
      <p:sp>
        <p:nvSpPr>
          <p:cNvPr id="15" name="Shape 13"/>
          <p:cNvSpPr/>
          <p:nvPr/>
        </p:nvSpPr>
        <p:spPr>
          <a:xfrm>
            <a:off x="548640" y="3465576"/>
            <a:ext cx="11064240" cy="548640"/>
          </a:xfrm>
          <a:prstGeom prst="roundRect">
            <a:avLst>
              <a:gd name="adj" fmla="val 16667"/>
            </a:avLst>
          </a:prstGeom>
          <a:solidFill>
            <a:srgbClr val="24354F"/>
          </a:solidFill>
          <a:ln w="12700">
            <a:solidFill>
              <a:srgbClr val="35496B"/>
            </a:solidFill>
            <a:prstDash val="solid"/>
          </a:ln>
        </p:spPr>
      </p:sp>
      <p:sp>
        <p:nvSpPr>
          <p:cNvPr id="16" name="Text 14"/>
          <p:cNvSpPr/>
          <p:nvPr/>
        </p:nvSpPr>
        <p:spPr>
          <a:xfrm>
            <a:off x="822960" y="3465576"/>
            <a:ext cx="2926080" cy="54864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20 Newsgroups, clean</a:t>
            </a:r>
            <a:endParaRPr lang="en-US" sz="1350" dirty="0"/>
          </a:p>
        </p:txBody>
      </p:sp>
      <p:sp>
        <p:nvSpPr>
          <p:cNvPr id="17" name="Text 15"/>
          <p:cNvSpPr/>
          <p:nvPr/>
        </p:nvSpPr>
        <p:spPr>
          <a:xfrm>
            <a:off x="3794760" y="3465576"/>
            <a:ext cx="3840480" cy="548640"/>
          </a:xfrm>
          <a:prstGeom prst="rect">
            <a:avLst/>
          </a:prstGeom>
          <a:noFill/>
          <a:ln/>
        </p:spPr>
        <p:txBody>
          <a:bodyPr wrap="square" lIns="0" tIns="0" rIns="0" bIns="0" rtlCol="0" anchor="ctr"/>
          <a:lstStyle/>
          <a:p>
            <a:pPr indent="0" marL="0">
              <a:buNone/>
            </a:pPr>
            <a:r>
              <a:rPr lang="en-US" sz="1250" dirty="0">
                <a:solidFill>
                  <a:srgbClr val="A9B6CC"/>
                </a:solidFill>
                <a:latin typeface="Calibri" pitchFamily="34" charset="0"/>
                <a:ea typeface="Calibri" pitchFamily="34" charset="-122"/>
                <a:cs typeface="Calibri" pitchFamily="34" charset="-120"/>
              </a:rPr>
              <a:t>class-pair gap</a:t>
            </a:r>
            <a:endParaRPr lang="en-US" sz="1250" dirty="0"/>
          </a:p>
        </p:txBody>
      </p:sp>
      <p:sp>
        <p:nvSpPr>
          <p:cNvPr id="18" name="Text 16"/>
          <p:cNvSpPr/>
          <p:nvPr/>
        </p:nvSpPr>
        <p:spPr>
          <a:xfrm>
            <a:off x="7726680" y="3465576"/>
            <a:ext cx="1371600" cy="548640"/>
          </a:xfrm>
          <a:prstGeom prst="rect">
            <a:avLst/>
          </a:prstGeom>
          <a:noFill/>
          <a:ln/>
        </p:spPr>
        <p:txBody>
          <a:bodyPr wrap="square" lIns="0" tIns="0" rIns="0" bIns="0" rtlCol="0" anchor="ctr"/>
          <a:lstStyle/>
          <a:p>
            <a:pPr algn="r" indent="0" marL="0">
              <a:buNone/>
            </a:pPr>
            <a:r>
              <a:rPr lang="en-US" sz="1700" b="1" dirty="0">
                <a:solidFill>
                  <a:srgbClr val="FF8A8F"/>
                </a:solidFill>
                <a:latin typeface="Cambria" pitchFamily="34" charset="0"/>
                <a:ea typeface="Cambria" pitchFamily="34" charset="-122"/>
                <a:cs typeface="Cambria" pitchFamily="34" charset="-120"/>
              </a:rPr>
              <a:t>+0.6%</a:t>
            </a:r>
            <a:endParaRPr lang="en-US" sz="1700" dirty="0"/>
          </a:p>
        </p:txBody>
      </p:sp>
      <p:sp>
        <p:nvSpPr>
          <p:cNvPr id="19" name="Text 17"/>
          <p:cNvSpPr/>
          <p:nvPr/>
        </p:nvSpPr>
        <p:spPr>
          <a:xfrm>
            <a:off x="9326880" y="3465576"/>
            <a:ext cx="2148840" cy="548640"/>
          </a:xfrm>
          <a:prstGeom prst="rect">
            <a:avLst/>
          </a:prstGeom>
          <a:noFill/>
          <a:ln/>
        </p:spPr>
        <p:txBody>
          <a:bodyPr wrap="square" lIns="0" tIns="0" rIns="0" bIns="0" rtlCol="0" anchor="ctr"/>
          <a:lstStyle/>
          <a:p>
            <a:pPr indent="0" marL="0">
              <a:buNone/>
            </a:pPr>
            <a:r>
              <a:rPr lang="en-US" sz="1200" i="1" dirty="0">
                <a:solidFill>
                  <a:srgbClr val="8A97AD"/>
                </a:solidFill>
                <a:latin typeface="Calibri" pitchFamily="34" charset="0"/>
                <a:ea typeface="Calibri" pitchFamily="34" charset="-122"/>
                <a:cs typeface="Calibri" pitchFamily="34" charset="-120"/>
              </a:rPr>
              <a:t>but plain CE still won</a:t>
            </a:r>
            <a:endParaRPr lang="en-US" sz="1200" dirty="0"/>
          </a:p>
        </p:txBody>
      </p:sp>
      <p:sp>
        <p:nvSpPr>
          <p:cNvPr id="20" name="Shape 18"/>
          <p:cNvSpPr/>
          <p:nvPr/>
        </p:nvSpPr>
        <p:spPr>
          <a:xfrm>
            <a:off x="548640" y="4123944"/>
            <a:ext cx="11064240" cy="548640"/>
          </a:xfrm>
          <a:prstGeom prst="roundRect">
            <a:avLst>
              <a:gd name="adj" fmla="val 16667"/>
            </a:avLst>
          </a:prstGeom>
          <a:solidFill>
            <a:srgbClr val="24354F"/>
          </a:solidFill>
          <a:ln w="12700">
            <a:solidFill>
              <a:srgbClr val="35496B"/>
            </a:solidFill>
            <a:prstDash val="solid"/>
          </a:ln>
        </p:spPr>
      </p:sp>
      <p:sp>
        <p:nvSpPr>
          <p:cNvPr id="21" name="Text 19"/>
          <p:cNvSpPr/>
          <p:nvPr/>
        </p:nvSpPr>
        <p:spPr>
          <a:xfrm>
            <a:off x="822960" y="4123944"/>
            <a:ext cx="2926080" cy="54864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SST-5, noisy labels</a:t>
            </a:r>
            <a:endParaRPr lang="en-US" sz="1350" dirty="0"/>
          </a:p>
        </p:txBody>
      </p:sp>
      <p:sp>
        <p:nvSpPr>
          <p:cNvPr id="22" name="Text 20"/>
          <p:cNvSpPr/>
          <p:nvPr/>
        </p:nvSpPr>
        <p:spPr>
          <a:xfrm>
            <a:off x="3794760" y="4123944"/>
            <a:ext cx="3840480" cy="548640"/>
          </a:xfrm>
          <a:prstGeom prst="rect">
            <a:avLst/>
          </a:prstGeom>
          <a:noFill/>
          <a:ln/>
        </p:spPr>
        <p:txBody>
          <a:bodyPr wrap="square" lIns="0" tIns="0" rIns="0" bIns="0" rtlCol="0" anchor="ctr"/>
          <a:lstStyle/>
          <a:p>
            <a:pPr indent="0" marL="0">
              <a:buNone/>
            </a:pPr>
            <a:r>
              <a:rPr lang="en-US" sz="1250" dirty="0">
                <a:solidFill>
                  <a:srgbClr val="A9B6CC"/>
                </a:solidFill>
                <a:latin typeface="Calibri" pitchFamily="34" charset="0"/>
                <a:ea typeface="Calibri" pitchFamily="34" charset="-122"/>
                <a:cs typeface="Calibri" pitchFamily="34" charset="-120"/>
              </a:rPr>
              <a:t>class-pair gap, 3 noise levels</a:t>
            </a:r>
            <a:endParaRPr lang="en-US" sz="1250" dirty="0"/>
          </a:p>
        </p:txBody>
      </p:sp>
      <p:sp>
        <p:nvSpPr>
          <p:cNvPr id="23" name="Text 21"/>
          <p:cNvSpPr/>
          <p:nvPr/>
        </p:nvSpPr>
        <p:spPr>
          <a:xfrm>
            <a:off x="7726680" y="4123944"/>
            <a:ext cx="1371600" cy="548640"/>
          </a:xfrm>
          <a:prstGeom prst="rect">
            <a:avLst/>
          </a:prstGeom>
          <a:noFill/>
          <a:ln/>
        </p:spPr>
        <p:txBody>
          <a:bodyPr wrap="square" lIns="0" tIns="0" rIns="0" bIns="0" rtlCol="0" anchor="ctr"/>
          <a:lstStyle/>
          <a:p>
            <a:pPr algn="r" indent="0" marL="0">
              <a:buNone/>
            </a:pPr>
            <a:r>
              <a:rPr lang="en-US" sz="1700" b="1" dirty="0">
                <a:solidFill>
                  <a:srgbClr val="FF8A8F"/>
                </a:solidFill>
                <a:latin typeface="Cambria" pitchFamily="34" charset="0"/>
                <a:ea typeface="Cambria" pitchFamily="34" charset="-122"/>
                <a:cs typeface="Cambria" pitchFamily="34" charset="-120"/>
              </a:rPr>
              <a:t>±2%</a:t>
            </a:r>
            <a:endParaRPr lang="en-US" sz="1700" dirty="0"/>
          </a:p>
        </p:txBody>
      </p:sp>
      <p:sp>
        <p:nvSpPr>
          <p:cNvPr id="24" name="Text 22"/>
          <p:cNvSpPr/>
          <p:nvPr/>
        </p:nvSpPr>
        <p:spPr>
          <a:xfrm>
            <a:off x="9326880" y="4123944"/>
            <a:ext cx="2148840" cy="548640"/>
          </a:xfrm>
          <a:prstGeom prst="rect">
            <a:avLst/>
          </a:prstGeom>
          <a:noFill/>
          <a:ln/>
        </p:spPr>
        <p:txBody>
          <a:bodyPr wrap="square" lIns="0" tIns="0" rIns="0" bIns="0" rtlCol="0" anchor="ctr"/>
          <a:lstStyle/>
          <a:p>
            <a:pPr indent="0" marL="0">
              <a:buNone/>
            </a:pPr>
            <a:r>
              <a:rPr lang="en-US" sz="1200" i="1" dirty="0">
                <a:solidFill>
                  <a:srgbClr val="8A97AD"/>
                </a:solidFill>
                <a:latin typeface="Calibri" pitchFamily="34" charset="0"/>
                <a:ea typeface="Calibri" pitchFamily="34" charset="-122"/>
                <a:cs typeface="Calibri" pitchFamily="34" charset="-120"/>
              </a:rPr>
              <a:t>all inside seed noise</a:t>
            </a:r>
            <a:endParaRPr lang="en-US" sz="1200" dirty="0"/>
          </a:p>
        </p:txBody>
      </p:sp>
      <p:sp>
        <p:nvSpPr>
          <p:cNvPr id="25" name="Shape 23"/>
          <p:cNvSpPr/>
          <p:nvPr/>
        </p:nvSpPr>
        <p:spPr>
          <a:xfrm>
            <a:off x="548640" y="4956048"/>
            <a:ext cx="11064240" cy="1143000"/>
          </a:xfrm>
          <a:prstGeom prst="roundRect">
            <a:avLst>
              <a:gd name="adj" fmla="val 9600"/>
            </a:avLst>
          </a:prstGeom>
          <a:solidFill>
            <a:srgbClr val="3A1216"/>
          </a:solidFill>
          <a:ln w="12700">
            <a:solidFill>
              <a:srgbClr val="6B2229"/>
            </a:solidFill>
            <a:prstDash val="solid"/>
          </a:ln>
        </p:spPr>
      </p:sp>
      <p:sp>
        <p:nvSpPr>
          <p:cNvPr id="26" name="Text 24"/>
          <p:cNvSpPr/>
          <p:nvPr/>
        </p:nvSpPr>
        <p:spPr>
          <a:xfrm>
            <a:off x="868680" y="5102352"/>
            <a:ext cx="10424160" cy="310896"/>
          </a:xfrm>
          <a:prstGeom prst="rect">
            <a:avLst/>
          </a:prstGeom>
          <a:noFill/>
          <a:ln/>
        </p:spPr>
        <p:txBody>
          <a:bodyPr wrap="square" lIns="0" tIns="0" rIns="0" bIns="0" rtlCol="0" anchor="ctr"/>
          <a:lstStyle/>
          <a:p>
            <a:pPr indent="0" marL="0">
              <a:buNone/>
            </a:pPr>
            <a:r>
              <a:rPr lang="en-US" sz="1700" b="1" dirty="0">
                <a:solidFill>
                  <a:srgbClr val="FFB3B7"/>
                </a:solidFill>
                <a:latin typeface="Cambria" pitchFamily="34" charset="0"/>
                <a:ea typeface="Cambria" pitchFamily="34" charset="-122"/>
                <a:cs typeface="Cambria" pitchFamily="34" charset="-120"/>
              </a:rPr>
              <a:t>Why? The problem was underneath us, not in our idea.</a:t>
            </a:r>
            <a:endParaRPr lang="en-US" sz="1700" dirty="0"/>
          </a:p>
        </p:txBody>
      </p:sp>
      <p:sp>
        <p:nvSpPr>
          <p:cNvPr id="27" name="Text 25"/>
          <p:cNvSpPr/>
          <p:nvPr/>
        </p:nvSpPr>
        <p:spPr>
          <a:xfrm>
            <a:off x="868680" y="5440680"/>
            <a:ext cx="10424160" cy="548640"/>
          </a:xfrm>
          <a:prstGeom prst="rect">
            <a:avLst/>
          </a:prstGeom>
          <a:noFill/>
          <a:ln/>
        </p:spPr>
        <p:txBody>
          <a:bodyPr wrap="square" lIns="0" tIns="0" rIns="0" bIns="0" rtlCol="0" anchor="ctr"/>
          <a:lstStyle/>
          <a:p>
            <a:pPr indent="0" marL="0">
              <a:lnSpc>
                <a:spcPts val="1800"/>
              </a:lnSpc>
              <a:buNone/>
            </a:pPr>
            <a:r>
              <a:rPr lang="en-US" sz="1350" dirty="0">
                <a:solidFill>
                  <a:srgbClr val="F0D2D4"/>
                </a:solidFill>
                <a:latin typeface="Calibri" pitchFamily="34" charset="0"/>
                <a:ea typeface="Calibri" pitchFamily="34" charset="-122"/>
                <a:cs typeface="Calibri" pitchFamily="34" charset="-120"/>
              </a:rPr>
              <a:t>AS-Softmax — the published method we were extending — did not reliably beat plain cross-entropy in our setup either. You cannot improve on an advantage that isn't there.</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64240" cy="256032"/>
          </a:xfrm>
          <a:prstGeom prst="rect">
            <a:avLst/>
          </a:prstGeom>
          <a:noFill/>
          <a:ln/>
        </p:spPr>
        <p:txBody>
          <a:bodyPr wrap="square" lIns="0" tIns="0" rIns="0" bIns="0" rtlCol="0" anchor="ctr"/>
          <a:lstStyle/>
          <a:p>
            <a:pPr indent="0" marL="0">
              <a:buNone/>
            </a:pPr>
            <a:r>
              <a:rPr lang="en-US" sz="1200" b="1" spc="200" kern="0" dirty="0">
                <a:solidFill>
                  <a:srgbClr val="12897B"/>
                </a:solidFill>
                <a:latin typeface="Calibri" pitchFamily="34" charset="0"/>
                <a:ea typeface="Calibri" pitchFamily="34" charset="-122"/>
                <a:cs typeface="Calibri" pitchFamily="34" charset="-120"/>
              </a:rPr>
              <a:t>RESULTS · WHAT WORKED</a:t>
            </a:r>
            <a:endParaRPr lang="en-US" sz="1200" dirty="0"/>
          </a:p>
        </p:txBody>
      </p:sp>
      <p:sp>
        <p:nvSpPr>
          <p:cNvPr id="3" name="Text 1"/>
          <p:cNvSpPr/>
          <p:nvPr/>
        </p:nvSpPr>
        <p:spPr>
          <a:xfrm>
            <a:off x="548640" y="603504"/>
            <a:ext cx="11064240" cy="685800"/>
          </a:xfrm>
          <a:prstGeom prst="rect">
            <a:avLst/>
          </a:prstGeom>
          <a:noFill/>
          <a:ln/>
        </p:spPr>
        <p:txBody>
          <a:bodyPr wrap="square" lIns="0" tIns="0" rIns="0" bIns="0" rtlCol="0" anchor="t"/>
          <a:lstStyle/>
          <a:p>
            <a:pPr indent="0" marL="0">
              <a:buNone/>
            </a:pPr>
            <a:r>
              <a:rPr lang="en-US" sz="3200" b="1" dirty="0">
                <a:solidFill>
                  <a:srgbClr val="152238"/>
                </a:solidFill>
                <a:latin typeface="Cambria" pitchFamily="34" charset="0"/>
                <a:ea typeface="Cambria" pitchFamily="34" charset="-122"/>
                <a:cs typeface="Cambria" pitchFamily="34" charset="-120"/>
              </a:rPr>
              <a:t>This one worked</a:t>
            </a:r>
            <a:endParaRPr lang="en-US" sz="3200" dirty="0"/>
          </a:p>
        </p:txBody>
      </p:sp>
      <p:graphicFrame>
        <p:nvGraphicFramePr>
          <p:cNvPr id="4" name="Chart 0" descr=""/>
          <p:cNvGraphicFramePr/>
          <p:nvPr/>
        </p:nvGraphicFramePr>
        <p:xfrm>
          <a:off x="457200" y="1371600"/>
          <a:ext cx="685800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572768"/>
            <a:ext cx="4023360" cy="1097280"/>
          </a:xfrm>
          <a:prstGeom prst="roundRect">
            <a:avLst>
              <a:gd name="adj" fmla="val 10000"/>
            </a:avLst>
          </a:prstGeom>
          <a:solidFill>
            <a:srgbClr val="FFFFFF"/>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6" name="Text 3"/>
          <p:cNvSpPr/>
          <p:nvPr/>
        </p:nvSpPr>
        <p:spPr>
          <a:xfrm>
            <a:off x="7863840" y="1709928"/>
            <a:ext cx="3474720" cy="457200"/>
          </a:xfrm>
          <a:prstGeom prst="rect">
            <a:avLst/>
          </a:prstGeom>
          <a:noFill/>
          <a:ln/>
        </p:spPr>
        <p:txBody>
          <a:bodyPr wrap="square" lIns="0" tIns="0" rIns="0" bIns="0" rtlCol="0" anchor="ctr"/>
          <a:lstStyle/>
          <a:p>
            <a:pPr indent="0" marL="0">
              <a:buNone/>
            </a:pPr>
            <a:r>
              <a:rPr lang="en-US" sz="2600" b="1" dirty="0">
                <a:solidFill>
                  <a:srgbClr val="12897B"/>
                </a:solidFill>
                <a:latin typeface="Cambria" pitchFamily="34" charset="0"/>
                <a:ea typeface="Cambria" pitchFamily="34" charset="-122"/>
                <a:cs typeface="Cambria" pitchFamily="34" charset="-120"/>
              </a:rPr>
              <a:t>4× less</a:t>
            </a:r>
            <a:endParaRPr lang="en-US" sz="2600" dirty="0"/>
          </a:p>
        </p:txBody>
      </p:sp>
      <p:sp>
        <p:nvSpPr>
          <p:cNvPr id="7" name="Text 4"/>
          <p:cNvSpPr/>
          <p:nvPr/>
        </p:nvSpPr>
        <p:spPr>
          <a:xfrm>
            <a:off x="7863840" y="2176272"/>
            <a:ext cx="3474720" cy="384048"/>
          </a:xfrm>
          <a:prstGeom prst="rect">
            <a:avLst/>
          </a:prstGeom>
          <a:noFill/>
          <a:ln/>
        </p:spPr>
        <p:txBody>
          <a:bodyPr wrap="square" lIns="0" tIns="0" rIns="0" bIns="0" rtlCol="0" anchor="ctr"/>
          <a:lstStyle/>
          <a:p>
            <a:pPr indent="0" marL="0">
              <a:buNone/>
            </a:pPr>
            <a:r>
              <a:rPr lang="en-US" sz="1200" dirty="0">
                <a:solidFill>
                  <a:srgbClr val="44506A"/>
                </a:solidFill>
                <a:latin typeface="Calibri" pitchFamily="34" charset="0"/>
                <a:ea typeface="Calibri" pitchFamily="34" charset="-122"/>
                <a:cs typeface="Calibri" pitchFamily="34" charset="-120"/>
              </a:rPr>
              <a:t>memorisation of wrong labels</a:t>
            </a:r>
            <a:endParaRPr lang="en-US" sz="1200" dirty="0"/>
          </a:p>
        </p:txBody>
      </p:sp>
      <p:sp>
        <p:nvSpPr>
          <p:cNvPr id="8" name="Shape 5"/>
          <p:cNvSpPr/>
          <p:nvPr/>
        </p:nvSpPr>
        <p:spPr>
          <a:xfrm>
            <a:off x="7589520" y="2871216"/>
            <a:ext cx="4023360" cy="1097280"/>
          </a:xfrm>
          <a:prstGeom prst="roundRect">
            <a:avLst>
              <a:gd name="adj" fmla="val 10000"/>
            </a:avLst>
          </a:prstGeom>
          <a:solidFill>
            <a:srgbClr val="FFFFFF"/>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9" name="Text 6"/>
          <p:cNvSpPr/>
          <p:nvPr/>
        </p:nvSpPr>
        <p:spPr>
          <a:xfrm>
            <a:off x="7863840" y="3008376"/>
            <a:ext cx="3474720" cy="457200"/>
          </a:xfrm>
          <a:prstGeom prst="rect">
            <a:avLst/>
          </a:prstGeom>
          <a:noFill/>
          <a:ln/>
        </p:spPr>
        <p:txBody>
          <a:bodyPr wrap="square" lIns="0" tIns="0" rIns="0" bIns="0" rtlCol="0" anchor="ctr"/>
          <a:lstStyle/>
          <a:p>
            <a:pPr indent="0" marL="0">
              <a:buNone/>
            </a:pPr>
            <a:r>
              <a:rPr lang="en-US" sz="2600" b="1" dirty="0">
                <a:solidFill>
                  <a:srgbClr val="12897B"/>
                </a:solidFill>
                <a:latin typeface="Cambria" pitchFamily="34" charset="0"/>
                <a:ea typeface="Cambria" pitchFamily="34" charset="-122"/>
                <a:cs typeface="Cambria" pitchFamily="34" charset="-120"/>
              </a:rPr>
              <a:t>+2.8 pts</a:t>
            </a:r>
            <a:endParaRPr lang="en-US" sz="2600" dirty="0"/>
          </a:p>
        </p:txBody>
      </p:sp>
      <p:sp>
        <p:nvSpPr>
          <p:cNvPr id="10" name="Text 7"/>
          <p:cNvSpPr/>
          <p:nvPr/>
        </p:nvSpPr>
        <p:spPr>
          <a:xfrm>
            <a:off x="7863840" y="3474720"/>
            <a:ext cx="3474720" cy="384048"/>
          </a:xfrm>
          <a:prstGeom prst="rect">
            <a:avLst/>
          </a:prstGeom>
          <a:noFill/>
          <a:ln/>
        </p:spPr>
        <p:txBody>
          <a:bodyPr wrap="square" lIns="0" tIns="0" rIns="0" bIns="0" rtlCol="0" anchor="ctr"/>
          <a:lstStyle/>
          <a:p>
            <a:pPr indent="0" marL="0">
              <a:buNone/>
            </a:pPr>
            <a:r>
              <a:rPr lang="en-US" sz="1200" dirty="0">
                <a:solidFill>
                  <a:srgbClr val="44506A"/>
                </a:solidFill>
                <a:latin typeface="Calibri" pitchFamily="34" charset="0"/>
                <a:ea typeface="Calibri" pitchFamily="34" charset="-122"/>
                <a:cs typeface="Calibri" pitchFamily="34" charset="-120"/>
              </a:rPr>
              <a:t>better than cross-entropy at the end of training</a:t>
            </a:r>
            <a:endParaRPr lang="en-US" sz="1200" dirty="0"/>
          </a:p>
        </p:txBody>
      </p:sp>
      <p:sp>
        <p:nvSpPr>
          <p:cNvPr id="11" name="Shape 8"/>
          <p:cNvSpPr/>
          <p:nvPr/>
        </p:nvSpPr>
        <p:spPr>
          <a:xfrm>
            <a:off x="7589520" y="4169664"/>
            <a:ext cx="4023360" cy="1097280"/>
          </a:xfrm>
          <a:prstGeom prst="roundRect">
            <a:avLst>
              <a:gd name="adj" fmla="val 10000"/>
            </a:avLst>
          </a:prstGeom>
          <a:solidFill>
            <a:srgbClr val="FFFFFF"/>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12" name="Text 9"/>
          <p:cNvSpPr/>
          <p:nvPr/>
        </p:nvSpPr>
        <p:spPr>
          <a:xfrm>
            <a:off x="7863840" y="4306824"/>
            <a:ext cx="3474720" cy="457200"/>
          </a:xfrm>
          <a:prstGeom prst="rect">
            <a:avLst/>
          </a:prstGeom>
          <a:noFill/>
          <a:ln/>
        </p:spPr>
        <p:txBody>
          <a:bodyPr wrap="square" lIns="0" tIns="0" rIns="0" bIns="0" rtlCol="0" anchor="ctr"/>
          <a:lstStyle/>
          <a:p>
            <a:pPr indent="0" marL="0">
              <a:buNone/>
            </a:pPr>
            <a:r>
              <a:rPr lang="en-US" sz="2600" b="1" dirty="0">
                <a:solidFill>
                  <a:srgbClr val="3E6FA8"/>
                </a:solidFill>
                <a:latin typeface="Cambria" pitchFamily="34" charset="0"/>
                <a:ea typeface="Cambria" pitchFamily="34" charset="-122"/>
                <a:cs typeface="Cambria" pitchFamily="34" charset="-120"/>
              </a:rPr>
              <a:t>Both seeds</a:t>
            </a:r>
            <a:endParaRPr lang="en-US" sz="2600" dirty="0"/>
          </a:p>
        </p:txBody>
      </p:sp>
      <p:sp>
        <p:nvSpPr>
          <p:cNvPr id="13" name="Text 10"/>
          <p:cNvSpPr/>
          <p:nvPr/>
        </p:nvSpPr>
        <p:spPr>
          <a:xfrm>
            <a:off x="7863840" y="4773168"/>
            <a:ext cx="3474720" cy="384048"/>
          </a:xfrm>
          <a:prstGeom prst="rect">
            <a:avLst/>
          </a:prstGeom>
          <a:noFill/>
          <a:ln/>
        </p:spPr>
        <p:txBody>
          <a:bodyPr wrap="square" lIns="0" tIns="0" rIns="0" bIns="0" rtlCol="0" anchor="ctr"/>
          <a:lstStyle/>
          <a:p>
            <a:pPr indent="0" marL="0">
              <a:buNone/>
            </a:pPr>
            <a:r>
              <a:rPr lang="en-US" sz="1200" dirty="0">
                <a:solidFill>
                  <a:srgbClr val="44506A"/>
                </a:solidFill>
                <a:latin typeface="Calibri" pitchFamily="34" charset="0"/>
                <a:ea typeface="Calibri" pitchFamily="34" charset="-122"/>
                <a:cs typeface="Calibri" pitchFamily="34" charset="-120"/>
              </a:rPr>
              <a:t>the effect replicated — it is not a lucky run</a:t>
            </a:r>
            <a:endParaRPr lang="en-US" sz="1200" dirty="0"/>
          </a:p>
        </p:txBody>
      </p:sp>
      <p:sp>
        <p:nvSpPr>
          <p:cNvPr id="14" name="Text 11"/>
          <p:cNvSpPr/>
          <p:nvPr/>
        </p:nvSpPr>
        <p:spPr>
          <a:xfrm>
            <a:off x="457200" y="5577840"/>
            <a:ext cx="11155680" cy="548640"/>
          </a:xfrm>
          <a:prstGeom prst="rect">
            <a:avLst/>
          </a:prstGeom>
          <a:noFill/>
          <a:ln/>
        </p:spPr>
        <p:txBody>
          <a:bodyPr wrap="square" lIns="0" tIns="0" rIns="0" bIns="0" rtlCol="0" anchor="ctr"/>
          <a:lstStyle/>
          <a:p>
            <a:pPr indent="0" marL="0">
              <a:lnSpc>
                <a:spcPts val="1700"/>
              </a:lnSpc>
              <a:buNone/>
            </a:pPr>
            <a:r>
              <a:rPr lang="en-US" sz="1250" i="1" dirty="0">
                <a:solidFill>
                  <a:srgbClr val="8A93A6"/>
                </a:solidFill>
                <a:latin typeface="Calibri" pitchFamily="34" charset="0"/>
                <a:ea typeface="Calibri" pitchFamily="34" charset="-122"/>
                <a:cs typeface="Calibri" pitchFamily="34" charset="-120"/>
              </a:rPr>
              <a:t>Perfect resistance would be a flat line along the bottom. Cross-entropy climbs to 34% and AS-Softmax to 40% — our sample gap stops at 19%. Measured a second way, ours ends 3.1 points above a no-memorisation floor where cross-entropy ends 11.5 above it.</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64240" cy="256032"/>
          </a:xfrm>
          <a:prstGeom prst="rect">
            <a:avLst/>
          </a:prstGeom>
          <a:noFill/>
          <a:ln/>
        </p:spPr>
        <p:txBody>
          <a:bodyPr wrap="square" lIns="0" tIns="0" rIns="0" bIns="0" rtlCol="0" anchor="ctr"/>
          <a:lstStyle/>
          <a:p>
            <a:pPr indent="0" marL="0">
              <a:buNone/>
            </a:pPr>
            <a:r>
              <a:rPr lang="en-US" sz="1200" b="1" spc="200" kern="0" dirty="0">
                <a:solidFill>
                  <a:srgbClr val="12897B"/>
                </a:solidFill>
                <a:latin typeface="Calibri" pitchFamily="34" charset="0"/>
                <a:ea typeface="Calibri" pitchFamily="34" charset="-122"/>
                <a:cs typeface="Calibri" pitchFamily="34" charset="-120"/>
              </a:rPr>
              <a:t>RESULTS · RIGOUR</a:t>
            </a:r>
            <a:endParaRPr lang="en-US" sz="1200" dirty="0"/>
          </a:p>
        </p:txBody>
      </p:sp>
      <p:sp>
        <p:nvSpPr>
          <p:cNvPr id="3" name="Text 1"/>
          <p:cNvSpPr/>
          <p:nvPr/>
        </p:nvSpPr>
        <p:spPr>
          <a:xfrm>
            <a:off x="548640" y="603504"/>
            <a:ext cx="11064240" cy="685800"/>
          </a:xfrm>
          <a:prstGeom prst="rect">
            <a:avLst/>
          </a:prstGeom>
          <a:noFill/>
          <a:ln/>
        </p:spPr>
        <p:txBody>
          <a:bodyPr wrap="square" lIns="0" tIns="0" rIns="0" bIns="0" rtlCol="0" anchor="t"/>
          <a:lstStyle/>
          <a:p>
            <a:pPr indent="0" marL="0">
              <a:buNone/>
            </a:pPr>
            <a:r>
              <a:rPr lang="en-US" sz="3200" b="1" dirty="0">
                <a:solidFill>
                  <a:srgbClr val="152238"/>
                </a:solidFill>
                <a:latin typeface="Cambria" pitchFamily="34" charset="0"/>
                <a:ea typeface="Cambria" pitchFamily="34" charset="-122"/>
                <a:cs typeface="Cambria" pitchFamily="34" charset="-120"/>
              </a:rPr>
              <a:t>Being honest about what we can claim</a:t>
            </a:r>
            <a:endParaRPr lang="en-US" sz="3200" dirty="0"/>
          </a:p>
        </p:txBody>
      </p:sp>
      <p:sp>
        <p:nvSpPr>
          <p:cNvPr id="4" name="Text 2"/>
          <p:cNvSpPr/>
          <p:nvPr/>
        </p:nvSpPr>
        <p:spPr>
          <a:xfrm>
            <a:off x="548640" y="1389888"/>
            <a:ext cx="11064240" cy="365760"/>
          </a:xfrm>
          <a:prstGeom prst="rect">
            <a:avLst/>
          </a:prstGeom>
          <a:noFill/>
          <a:ln/>
        </p:spPr>
        <p:txBody>
          <a:bodyPr wrap="square" lIns="0" tIns="0" rIns="0" bIns="0" rtlCol="0" anchor="ctr"/>
          <a:lstStyle/>
          <a:p>
            <a:pPr indent="0" marL="0">
              <a:buNone/>
            </a:pPr>
            <a:r>
              <a:rPr lang="en-US" sz="1450" dirty="0">
                <a:solidFill>
                  <a:srgbClr val="44506A"/>
                </a:solidFill>
                <a:latin typeface="Calibri" pitchFamily="34" charset="0"/>
                <a:ea typeface="Calibri" pitchFamily="34" charset="-122"/>
                <a:cs typeface="Calibri" pitchFamily="34" charset="-120"/>
              </a:rPr>
              <a:t>With only two runs per method, some of these numbers are solid and some are not. We grade them separately.</a:t>
            </a:r>
            <a:endParaRPr lang="en-US" sz="1450" dirty="0"/>
          </a:p>
        </p:txBody>
      </p:sp>
      <p:sp>
        <p:nvSpPr>
          <p:cNvPr id="5" name="Shape 3"/>
          <p:cNvSpPr/>
          <p:nvPr/>
        </p:nvSpPr>
        <p:spPr>
          <a:xfrm>
            <a:off x="548640" y="1938528"/>
            <a:ext cx="11064240" cy="585216"/>
          </a:xfrm>
          <a:prstGeom prst="roundRect">
            <a:avLst>
              <a:gd name="adj" fmla="val 15625"/>
            </a:avLst>
          </a:prstGeom>
          <a:solidFill>
            <a:srgbClr val="FFFFFF"/>
          </a:solidFill>
          <a:ln w="12700">
            <a:solidFill>
              <a:srgbClr val="D8E0EA"/>
            </a:solidFill>
            <a:prstDash val="solid"/>
          </a:ln>
          <a:effectLst>
            <a:outerShdw sx="100000" sy="100000" kx="0" ky="0" algn="bl" rotWithShape="0" blurRad="63500" dist="25400" dir="5400000">
              <a:srgbClr val="9AA6B8">
                <a:alpha val="15000"/>
              </a:srgbClr>
            </a:outerShdw>
          </a:effectLst>
        </p:spPr>
      </p:sp>
      <p:sp>
        <p:nvSpPr>
          <p:cNvPr id="6" name="Text 4"/>
          <p:cNvSpPr/>
          <p:nvPr/>
        </p:nvSpPr>
        <p:spPr>
          <a:xfrm>
            <a:off x="822960" y="1938528"/>
            <a:ext cx="4069080" cy="585216"/>
          </a:xfrm>
          <a:prstGeom prst="rect">
            <a:avLst/>
          </a:prstGeom>
          <a:noFill/>
          <a:ln/>
        </p:spPr>
        <p:txBody>
          <a:bodyPr wrap="square" lIns="0" tIns="0" rIns="0" bIns="0" rtlCol="0" anchor="ctr"/>
          <a:lstStyle/>
          <a:p>
            <a:pPr indent="0" marL="0">
              <a:buNone/>
            </a:pPr>
            <a:r>
              <a:rPr lang="en-US" sz="1300" b="1" dirty="0">
                <a:solidFill>
                  <a:srgbClr val="152238"/>
                </a:solidFill>
                <a:latin typeface="Calibri" pitchFamily="34" charset="0"/>
                <a:ea typeface="Calibri" pitchFamily="34" charset="-122"/>
                <a:cs typeface="Calibri" pitchFamily="34" charset="-120"/>
              </a:rPr>
              <a:t>4× less memorisation of wrong labels</a:t>
            </a:r>
            <a:endParaRPr lang="en-US" sz="1300" dirty="0"/>
          </a:p>
        </p:txBody>
      </p:sp>
      <p:sp>
        <p:nvSpPr>
          <p:cNvPr id="7" name="Shape 5"/>
          <p:cNvSpPr/>
          <p:nvPr/>
        </p:nvSpPr>
        <p:spPr>
          <a:xfrm>
            <a:off x="5029200" y="2066544"/>
            <a:ext cx="1691640" cy="329184"/>
          </a:xfrm>
          <a:prstGeom prst="roundRect">
            <a:avLst>
              <a:gd name="adj" fmla="val 22222"/>
            </a:avLst>
          </a:prstGeom>
          <a:solidFill>
            <a:srgbClr val="12897B"/>
          </a:solidFill>
          <a:ln w="12700">
            <a:solidFill>
              <a:srgbClr val="12897B"/>
            </a:solidFill>
            <a:prstDash val="solid"/>
          </a:ln>
        </p:spPr>
      </p:sp>
      <p:sp>
        <p:nvSpPr>
          <p:cNvPr id="8" name="Text 6"/>
          <p:cNvSpPr/>
          <p:nvPr/>
        </p:nvSpPr>
        <p:spPr>
          <a:xfrm>
            <a:off x="5029200" y="2066544"/>
            <a:ext cx="16916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CONFIRMED</a:t>
            </a:r>
            <a:endParaRPr lang="en-US" sz="950" dirty="0"/>
          </a:p>
        </p:txBody>
      </p:sp>
      <p:sp>
        <p:nvSpPr>
          <p:cNvPr id="9" name="Text 7"/>
          <p:cNvSpPr/>
          <p:nvPr/>
        </p:nvSpPr>
        <p:spPr>
          <a:xfrm>
            <a:off x="6903720" y="1938528"/>
            <a:ext cx="4434840" cy="585216"/>
          </a:xfrm>
          <a:prstGeom prst="rect">
            <a:avLst/>
          </a:prstGeom>
          <a:noFill/>
          <a:ln/>
        </p:spPr>
        <p:txBody>
          <a:bodyPr wrap="square" lIns="0" tIns="0" rIns="0" bIns="0" rtlCol="0" anchor="ctr"/>
          <a:lstStyle/>
          <a:p>
            <a:pPr indent="0" marL="0">
              <a:buNone/>
            </a:pPr>
            <a:r>
              <a:rPr lang="en-US" sz="1150" dirty="0">
                <a:solidFill>
                  <a:srgbClr val="44506A"/>
                </a:solidFill>
                <a:latin typeface="Calibri" pitchFamily="34" charset="0"/>
                <a:ea typeface="Calibri" pitchFamily="34" charset="-122"/>
                <a:cs typeface="Calibri" pitchFamily="34" charset="-120"/>
              </a:rPr>
              <a:t>identical on both runs; the effect is ~20× the measurement's own noise</a:t>
            </a:r>
            <a:endParaRPr lang="en-US" sz="1150" dirty="0"/>
          </a:p>
        </p:txBody>
      </p:sp>
      <p:sp>
        <p:nvSpPr>
          <p:cNvPr id="10" name="Shape 8"/>
          <p:cNvSpPr/>
          <p:nvPr/>
        </p:nvSpPr>
        <p:spPr>
          <a:xfrm>
            <a:off x="548640" y="2633472"/>
            <a:ext cx="11064240" cy="585216"/>
          </a:xfrm>
          <a:prstGeom prst="roundRect">
            <a:avLst>
              <a:gd name="adj" fmla="val 15625"/>
            </a:avLst>
          </a:prstGeom>
          <a:solidFill>
            <a:srgbClr val="FFFFFF"/>
          </a:solidFill>
          <a:ln w="12700">
            <a:solidFill>
              <a:srgbClr val="D8E0EA"/>
            </a:solidFill>
            <a:prstDash val="solid"/>
          </a:ln>
          <a:effectLst>
            <a:outerShdw sx="100000" sy="100000" kx="0" ky="0" algn="bl" rotWithShape="0" blurRad="63500" dist="25400" dir="5400000">
              <a:srgbClr val="9AA6B8">
                <a:alpha val="15000"/>
              </a:srgbClr>
            </a:outerShdw>
          </a:effectLst>
        </p:spPr>
      </p:sp>
      <p:sp>
        <p:nvSpPr>
          <p:cNvPr id="11" name="Text 9"/>
          <p:cNvSpPr/>
          <p:nvPr/>
        </p:nvSpPr>
        <p:spPr>
          <a:xfrm>
            <a:off x="822960" y="2633472"/>
            <a:ext cx="4069080" cy="585216"/>
          </a:xfrm>
          <a:prstGeom prst="rect">
            <a:avLst/>
          </a:prstGeom>
          <a:noFill/>
          <a:ln/>
        </p:spPr>
        <p:txBody>
          <a:bodyPr wrap="square" lIns="0" tIns="0" rIns="0" bIns="0" rtlCol="0" anchor="ctr"/>
          <a:lstStyle/>
          <a:p>
            <a:pPr indent="0" marL="0">
              <a:buNone/>
            </a:pPr>
            <a:r>
              <a:rPr lang="en-US" sz="1300" b="1" dirty="0">
                <a:solidFill>
                  <a:srgbClr val="152238"/>
                </a:solidFill>
                <a:latin typeface="Calibri" pitchFamily="34" charset="0"/>
                <a:ea typeface="Calibri" pitchFamily="34" charset="-122"/>
                <a:cs typeface="Calibri" pitchFamily="34" charset="-120"/>
              </a:rPr>
              <a:t>AS-Softmax memorises more than plain CE</a:t>
            </a:r>
            <a:endParaRPr lang="en-US" sz="1300" dirty="0"/>
          </a:p>
        </p:txBody>
      </p:sp>
      <p:sp>
        <p:nvSpPr>
          <p:cNvPr id="12" name="Shape 10"/>
          <p:cNvSpPr/>
          <p:nvPr/>
        </p:nvSpPr>
        <p:spPr>
          <a:xfrm>
            <a:off x="5029200" y="2761488"/>
            <a:ext cx="1691640" cy="329184"/>
          </a:xfrm>
          <a:prstGeom prst="roundRect">
            <a:avLst>
              <a:gd name="adj" fmla="val 22222"/>
            </a:avLst>
          </a:prstGeom>
          <a:solidFill>
            <a:srgbClr val="12897B"/>
          </a:solidFill>
          <a:ln w="12700">
            <a:solidFill>
              <a:srgbClr val="12897B"/>
            </a:solidFill>
            <a:prstDash val="solid"/>
          </a:ln>
        </p:spPr>
      </p:sp>
      <p:sp>
        <p:nvSpPr>
          <p:cNvPr id="13" name="Text 11"/>
          <p:cNvSpPr/>
          <p:nvPr/>
        </p:nvSpPr>
        <p:spPr>
          <a:xfrm>
            <a:off x="5029200" y="2761488"/>
            <a:ext cx="16916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CONFIRMED</a:t>
            </a:r>
            <a:endParaRPr lang="en-US" sz="950" dirty="0"/>
          </a:p>
        </p:txBody>
      </p:sp>
      <p:sp>
        <p:nvSpPr>
          <p:cNvPr id="14" name="Text 12"/>
          <p:cNvSpPr/>
          <p:nvPr/>
        </p:nvSpPr>
        <p:spPr>
          <a:xfrm>
            <a:off x="6903720" y="2633472"/>
            <a:ext cx="4434840" cy="585216"/>
          </a:xfrm>
          <a:prstGeom prst="rect">
            <a:avLst/>
          </a:prstGeom>
          <a:noFill/>
          <a:ln/>
        </p:spPr>
        <p:txBody>
          <a:bodyPr wrap="square" lIns="0" tIns="0" rIns="0" bIns="0" rtlCol="0" anchor="ctr"/>
          <a:lstStyle/>
          <a:p>
            <a:pPr indent="0" marL="0">
              <a:buNone/>
            </a:pPr>
            <a:r>
              <a:rPr lang="en-US" sz="1150" dirty="0">
                <a:solidFill>
                  <a:srgbClr val="44506A"/>
                </a:solidFill>
                <a:latin typeface="Calibri" pitchFamily="34" charset="0"/>
                <a:ea typeface="Calibri" pitchFamily="34" charset="-122"/>
                <a:cs typeface="Calibri" pitchFamily="34" charset="-120"/>
              </a:rPr>
              <a:t>held on both runs — and it contradicts the textbook explanation</a:t>
            </a:r>
            <a:endParaRPr lang="en-US" sz="1150" dirty="0"/>
          </a:p>
        </p:txBody>
      </p:sp>
      <p:sp>
        <p:nvSpPr>
          <p:cNvPr id="15" name="Shape 13"/>
          <p:cNvSpPr/>
          <p:nvPr/>
        </p:nvSpPr>
        <p:spPr>
          <a:xfrm>
            <a:off x="548640" y="3328416"/>
            <a:ext cx="11064240" cy="585216"/>
          </a:xfrm>
          <a:prstGeom prst="roundRect">
            <a:avLst>
              <a:gd name="adj" fmla="val 15625"/>
            </a:avLst>
          </a:prstGeom>
          <a:solidFill>
            <a:srgbClr val="FFFFFF"/>
          </a:solidFill>
          <a:ln w="12700">
            <a:solidFill>
              <a:srgbClr val="D8E0EA"/>
            </a:solidFill>
            <a:prstDash val="solid"/>
          </a:ln>
          <a:effectLst>
            <a:outerShdw sx="100000" sy="100000" kx="0" ky="0" algn="bl" rotWithShape="0" blurRad="63500" dist="25400" dir="5400000">
              <a:srgbClr val="9AA6B8">
                <a:alpha val="15000"/>
              </a:srgbClr>
            </a:outerShdw>
          </a:effectLst>
        </p:spPr>
      </p:sp>
      <p:sp>
        <p:nvSpPr>
          <p:cNvPr id="16" name="Text 14"/>
          <p:cNvSpPr/>
          <p:nvPr/>
        </p:nvSpPr>
        <p:spPr>
          <a:xfrm>
            <a:off x="822960" y="3328416"/>
            <a:ext cx="4069080" cy="585216"/>
          </a:xfrm>
          <a:prstGeom prst="rect">
            <a:avLst/>
          </a:prstGeom>
          <a:noFill/>
          <a:ln/>
        </p:spPr>
        <p:txBody>
          <a:bodyPr wrap="square" lIns="0" tIns="0" rIns="0" bIns="0" rtlCol="0" anchor="ctr"/>
          <a:lstStyle/>
          <a:p>
            <a:pPr indent="0" marL="0">
              <a:buNone/>
            </a:pPr>
            <a:r>
              <a:rPr lang="en-US" sz="1300" b="1" dirty="0">
                <a:solidFill>
                  <a:srgbClr val="152238"/>
                </a:solidFill>
                <a:latin typeface="Calibri" pitchFamily="34" charset="0"/>
                <a:ea typeface="Calibri" pitchFamily="34" charset="-122"/>
                <a:cs typeface="Calibri" pitchFamily="34" charset="-120"/>
              </a:rPr>
              <a:t>+2.8 pts at the end of training</a:t>
            </a:r>
            <a:endParaRPr lang="en-US" sz="1300" dirty="0"/>
          </a:p>
        </p:txBody>
      </p:sp>
      <p:sp>
        <p:nvSpPr>
          <p:cNvPr id="17" name="Shape 15"/>
          <p:cNvSpPr/>
          <p:nvPr/>
        </p:nvSpPr>
        <p:spPr>
          <a:xfrm>
            <a:off x="5029200" y="3456432"/>
            <a:ext cx="1691640" cy="329184"/>
          </a:xfrm>
          <a:prstGeom prst="roundRect">
            <a:avLst>
              <a:gd name="adj" fmla="val 22222"/>
            </a:avLst>
          </a:prstGeom>
          <a:solidFill>
            <a:srgbClr val="12897B"/>
          </a:solidFill>
          <a:ln w="12700">
            <a:solidFill>
              <a:srgbClr val="12897B"/>
            </a:solidFill>
            <a:prstDash val="solid"/>
          </a:ln>
        </p:spPr>
      </p:sp>
      <p:sp>
        <p:nvSpPr>
          <p:cNvPr id="18" name="Text 16"/>
          <p:cNvSpPr/>
          <p:nvPr/>
        </p:nvSpPr>
        <p:spPr>
          <a:xfrm>
            <a:off x="5029200" y="3456432"/>
            <a:ext cx="16916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CONFIRMED</a:t>
            </a:r>
            <a:endParaRPr lang="en-US" sz="950" dirty="0"/>
          </a:p>
        </p:txBody>
      </p:sp>
      <p:sp>
        <p:nvSpPr>
          <p:cNvPr id="19" name="Text 17"/>
          <p:cNvSpPr/>
          <p:nvPr/>
        </p:nvSpPr>
        <p:spPr>
          <a:xfrm>
            <a:off x="6903720" y="3328416"/>
            <a:ext cx="4434840" cy="585216"/>
          </a:xfrm>
          <a:prstGeom prst="rect">
            <a:avLst/>
          </a:prstGeom>
          <a:noFill/>
          <a:ln/>
        </p:spPr>
        <p:txBody>
          <a:bodyPr wrap="square" lIns="0" tIns="0" rIns="0" bIns="0" rtlCol="0" anchor="ctr"/>
          <a:lstStyle/>
          <a:p>
            <a:pPr indent="0" marL="0">
              <a:buNone/>
            </a:pPr>
            <a:r>
              <a:rPr lang="en-US" sz="1150" dirty="0">
                <a:solidFill>
                  <a:srgbClr val="44506A"/>
                </a:solidFill>
                <a:latin typeface="Calibri" pitchFamily="34" charset="0"/>
                <a:ea typeface="Calibri" pitchFamily="34" charset="-122"/>
                <a:cs typeface="Calibri" pitchFamily="34" charset="-120"/>
              </a:rPr>
              <a:t>both runs positive, though the size varied (+3.7 and +1.8)</a:t>
            </a:r>
            <a:endParaRPr lang="en-US" sz="1150" dirty="0"/>
          </a:p>
        </p:txBody>
      </p:sp>
      <p:sp>
        <p:nvSpPr>
          <p:cNvPr id="20" name="Shape 18"/>
          <p:cNvSpPr/>
          <p:nvPr/>
        </p:nvSpPr>
        <p:spPr>
          <a:xfrm>
            <a:off x="548640" y="4023360"/>
            <a:ext cx="11064240" cy="585216"/>
          </a:xfrm>
          <a:prstGeom prst="roundRect">
            <a:avLst>
              <a:gd name="adj" fmla="val 15625"/>
            </a:avLst>
          </a:prstGeom>
          <a:solidFill>
            <a:srgbClr val="FFFFFF"/>
          </a:solidFill>
          <a:ln w="12700">
            <a:solidFill>
              <a:srgbClr val="D8E0EA"/>
            </a:solidFill>
            <a:prstDash val="solid"/>
          </a:ln>
          <a:effectLst>
            <a:outerShdw sx="100000" sy="100000" kx="0" ky="0" algn="bl" rotWithShape="0" blurRad="63500" dist="25400" dir="5400000">
              <a:srgbClr val="9AA6B8">
                <a:alpha val="15000"/>
              </a:srgbClr>
            </a:outerShdw>
          </a:effectLst>
        </p:spPr>
      </p:sp>
      <p:sp>
        <p:nvSpPr>
          <p:cNvPr id="21" name="Text 19"/>
          <p:cNvSpPr/>
          <p:nvPr/>
        </p:nvSpPr>
        <p:spPr>
          <a:xfrm>
            <a:off x="822960" y="4023360"/>
            <a:ext cx="4069080" cy="585216"/>
          </a:xfrm>
          <a:prstGeom prst="rect">
            <a:avLst/>
          </a:prstGeom>
          <a:noFill/>
          <a:ln/>
        </p:spPr>
        <p:txBody>
          <a:bodyPr wrap="square" lIns="0" tIns="0" rIns="0" bIns="0" rtlCol="0" anchor="ctr"/>
          <a:lstStyle/>
          <a:p>
            <a:pPr indent="0" marL="0">
              <a:buNone/>
            </a:pPr>
            <a:r>
              <a:rPr lang="en-US" sz="1300" b="1" dirty="0">
                <a:solidFill>
                  <a:srgbClr val="152238"/>
                </a:solidFill>
                <a:latin typeface="Calibri" pitchFamily="34" charset="0"/>
                <a:ea typeface="Calibri" pitchFamily="34" charset="-122"/>
                <a:cs typeface="Calibri" pitchFamily="34" charset="-120"/>
              </a:rPr>
              <a:t>Our class-pair idea helps</a:t>
            </a:r>
            <a:endParaRPr lang="en-US" sz="1300" dirty="0"/>
          </a:p>
        </p:txBody>
      </p:sp>
      <p:sp>
        <p:nvSpPr>
          <p:cNvPr id="22" name="Shape 20"/>
          <p:cNvSpPr/>
          <p:nvPr/>
        </p:nvSpPr>
        <p:spPr>
          <a:xfrm>
            <a:off x="5029200" y="4151376"/>
            <a:ext cx="1691640" cy="329184"/>
          </a:xfrm>
          <a:prstGeom prst="roundRect">
            <a:avLst>
              <a:gd name="adj" fmla="val 22222"/>
            </a:avLst>
          </a:prstGeom>
          <a:solidFill>
            <a:srgbClr val="C1121F"/>
          </a:solidFill>
          <a:ln w="12700">
            <a:solidFill>
              <a:srgbClr val="C1121F"/>
            </a:solidFill>
            <a:prstDash val="solid"/>
          </a:ln>
        </p:spPr>
      </p:sp>
      <p:sp>
        <p:nvSpPr>
          <p:cNvPr id="23" name="Text 21"/>
          <p:cNvSpPr/>
          <p:nvPr/>
        </p:nvSpPr>
        <p:spPr>
          <a:xfrm>
            <a:off x="5029200" y="4151376"/>
            <a:ext cx="16916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REJECTED</a:t>
            </a:r>
            <a:endParaRPr lang="en-US" sz="950" dirty="0"/>
          </a:p>
        </p:txBody>
      </p:sp>
      <p:sp>
        <p:nvSpPr>
          <p:cNvPr id="24" name="Text 22"/>
          <p:cNvSpPr/>
          <p:nvPr/>
        </p:nvSpPr>
        <p:spPr>
          <a:xfrm>
            <a:off x="6903720" y="4023360"/>
            <a:ext cx="4434840" cy="585216"/>
          </a:xfrm>
          <a:prstGeom prst="rect">
            <a:avLst/>
          </a:prstGeom>
          <a:noFill/>
          <a:ln/>
        </p:spPr>
        <p:txBody>
          <a:bodyPr wrap="square" lIns="0" tIns="0" rIns="0" bIns="0" rtlCol="0" anchor="ctr"/>
          <a:lstStyle/>
          <a:p>
            <a:pPr indent="0" marL="0">
              <a:buNone/>
            </a:pPr>
            <a:r>
              <a:rPr lang="en-US" sz="1150" dirty="0">
                <a:solidFill>
                  <a:srgbClr val="44506A"/>
                </a:solidFill>
                <a:latin typeface="Calibri" pitchFamily="34" charset="0"/>
                <a:ea typeface="Calibri" pitchFamily="34" charset="-122"/>
                <a:cs typeface="Calibri" pitchFamily="34" charset="-120"/>
              </a:rPr>
              <a:t>flat across all four testbeds, and not a tuning artefact</a:t>
            </a:r>
            <a:endParaRPr lang="en-US" sz="1150" dirty="0"/>
          </a:p>
        </p:txBody>
      </p:sp>
      <p:sp>
        <p:nvSpPr>
          <p:cNvPr id="25" name="Shape 23"/>
          <p:cNvSpPr/>
          <p:nvPr/>
        </p:nvSpPr>
        <p:spPr>
          <a:xfrm>
            <a:off x="548640" y="4718304"/>
            <a:ext cx="11064240" cy="585216"/>
          </a:xfrm>
          <a:prstGeom prst="roundRect">
            <a:avLst>
              <a:gd name="adj" fmla="val 15625"/>
            </a:avLst>
          </a:prstGeom>
          <a:solidFill>
            <a:srgbClr val="FFFFFF"/>
          </a:solidFill>
          <a:ln w="12700">
            <a:solidFill>
              <a:srgbClr val="D8E0EA"/>
            </a:solidFill>
            <a:prstDash val="solid"/>
          </a:ln>
          <a:effectLst>
            <a:outerShdw sx="100000" sy="100000" kx="0" ky="0" algn="bl" rotWithShape="0" blurRad="63500" dist="25400" dir="5400000">
              <a:srgbClr val="9AA6B8">
                <a:alpha val="15000"/>
              </a:srgbClr>
            </a:outerShdw>
          </a:effectLst>
        </p:spPr>
      </p:sp>
      <p:sp>
        <p:nvSpPr>
          <p:cNvPr id="26" name="Text 24"/>
          <p:cNvSpPr/>
          <p:nvPr/>
        </p:nvSpPr>
        <p:spPr>
          <a:xfrm>
            <a:off x="822960" y="4718304"/>
            <a:ext cx="4069080" cy="585216"/>
          </a:xfrm>
          <a:prstGeom prst="rect">
            <a:avLst/>
          </a:prstGeom>
          <a:noFill/>
          <a:ln/>
        </p:spPr>
        <p:txBody>
          <a:bodyPr wrap="square" lIns="0" tIns="0" rIns="0" bIns="0" rtlCol="0" anchor="ctr"/>
          <a:lstStyle/>
          <a:p>
            <a:pPr indent="0" marL="0">
              <a:buNone/>
            </a:pPr>
            <a:r>
              <a:rPr lang="en-US" sz="1300" b="1" dirty="0">
                <a:solidFill>
                  <a:srgbClr val="152238"/>
                </a:solidFill>
                <a:latin typeface="Calibri" pitchFamily="34" charset="0"/>
                <a:ea typeface="Calibri" pitchFamily="34" charset="-122"/>
                <a:cs typeface="Calibri" pitchFamily="34" charset="-120"/>
              </a:rPr>
              <a:t>+0.5 pts on best-case accuracy</a:t>
            </a:r>
            <a:endParaRPr lang="en-US" sz="1300" dirty="0"/>
          </a:p>
        </p:txBody>
      </p:sp>
      <p:sp>
        <p:nvSpPr>
          <p:cNvPr id="27" name="Shape 25"/>
          <p:cNvSpPr/>
          <p:nvPr/>
        </p:nvSpPr>
        <p:spPr>
          <a:xfrm>
            <a:off x="5029200" y="4846320"/>
            <a:ext cx="1691640" cy="329184"/>
          </a:xfrm>
          <a:prstGeom prst="roundRect">
            <a:avLst>
              <a:gd name="adj" fmla="val 22222"/>
            </a:avLst>
          </a:prstGeom>
          <a:solidFill>
            <a:srgbClr val="C97B1E"/>
          </a:solidFill>
          <a:ln w="12700">
            <a:solidFill>
              <a:srgbClr val="C97B1E"/>
            </a:solidFill>
            <a:prstDash val="solid"/>
          </a:ln>
        </p:spPr>
      </p:sp>
      <p:sp>
        <p:nvSpPr>
          <p:cNvPr id="28" name="Text 26"/>
          <p:cNvSpPr/>
          <p:nvPr/>
        </p:nvSpPr>
        <p:spPr>
          <a:xfrm>
            <a:off x="5029200" y="4846320"/>
            <a:ext cx="16916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NOT ESTABLISHED</a:t>
            </a:r>
            <a:endParaRPr lang="en-US" sz="950" dirty="0"/>
          </a:p>
        </p:txBody>
      </p:sp>
      <p:sp>
        <p:nvSpPr>
          <p:cNvPr id="29" name="Text 27"/>
          <p:cNvSpPr/>
          <p:nvPr/>
        </p:nvSpPr>
        <p:spPr>
          <a:xfrm>
            <a:off x="6903720" y="4718304"/>
            <a:ext cx="4434840" cy="585216"/>
          </a:xfrm>
          <a:prstGeom prst="rect">
            <a:avLst/>
          </a:prstGeom>
          <a:noFill/>
          <a:ln/>
        </p:spPr>
        <p:txBody>
          <a:bodyPr wrap="square" lIns="0" tIns="0" rIns="0" bIns="0" rtlCol="0" anchor="ctr"/>
          <a:lstStyle/>
          <a:p>
            <a:pPr indent="0" marL="0">
              <a:buNone/>
            </a:pPr>
            <a:r>
              <a:rPr lang="en-US" sz="1150" dirty="0">
                <a:solidFill>
                  <a:srgbClr val="44506A"/>
                </a:solidFill>
                <a:latin typeface="Calibri" pitchFamily="34" charset="0"/>
                <a:ea typeface="Calibri" pitchFamily="34" charset="-122"/>
                <a:cs typeface="Calibri" pitchFamily="34" charset="-120"/>
              </a:rPr>
              <a:t>one of the two runs produced the entire gap — we do not claim it</a:t>
            </a:r>
            <a:endParaRPr lang="en-US" sz="1150" dirty="0"/>
          </a:p>
        </p:txBody>
      </p:sp>
      <p:sp>
        <p:nvSpPr>
          <p:cNvPr id="30" name="Shape 28"/>
          <p:cNvSpPr/>
          <p:nvPr/>
        </p:nvSpPr>
        <p:spPr>
          <a:xfrm>
            <a:off x="548640" y="5413248"/>
            <a:ext cx="11064240" cy="585216"/>
          </a:xfrm>
          <a:prstGeom prst="roundRect">
            <a:avLst>
              <a:gd name="adj" fmla="val 15625"/>
            </a:avLst>
          </a:prstGeom>
          <a:solidFill>
            <a:srgbClr val="FFFFFF"/>
          </a:solidFill>
          <a:ln w="12700">
            <a:solidFill>
              <a:srgbClr val="D8E0EA"/>
            </a:solidFill>
            <a:prstDash val="solid"/>
          </a:ln>
          <a:effectLst>
            <a:outerShdw sx="100000" sy="100000" kx="0" ky="0" algn="bl" rotWithShape="0" blurRad="63500" dist="25400" dir="5400000">
              <a:srgbClr val="9AA6B8">
                <a:alpha val="15000"/>
              </a:srgbClr>
            </a:outerShdw>
          </a:effectLst>
        </p:spPr>
      </p:sp>
      <p:sp>
        <p:nvSpPr>
          <p:cNvPr id="31" name="Text 29"/>
          <p:cNvSpPr/>
          <p:nvPr/>
        </p:nvSpPr>
        <p:spPr>
          <a:xfrm>
            <a:off x="822960" y="5413248"/>
            <a:ext cx="4069080" cy="585216"/>
          </a:xfrm>
          <a:prstGeom prst="rect">
            <a:avLst/>
          </a:prstGeom>
          <a:noFill/>
          <a:ln/>
        </p:spPr>
        <p:txBody>
          <a:bodyPr wrap="square" lIns="0" tIns="0" rIns="0" bIns="0" rtlCol="0" anchor="ctr"/>
          <a:lstStyle/>
          <a:p>
            <a:pPr indent="0" marL="0">
              <a:buNone/>
            </a:pPr>
            <a:r>
              <a:rPr lang="en-US" sz="1300" b="1" dirty="0">
                <a:solidFill>
                  <a:srgbClr val="152238"/>
                </a:solidFill>
                <a:latin typeface="Calibri" pitchFamily="34" charset="0"/>
                <a:ea typeface="Calibri" pitchFamily="34" charset="-122"/>
                <a:cs typeface="Calibri" pitchFamily="34" charset="-120"/>
              </a:rPr>
              <a:t>Better calibration</a:t>
            </a:r>
            <a:endParaRPr lang="en-US" sz="1300" dirty="0"/>
          </a:p>
        </p:txBody>
      </p:sp>
      <p:sp>
        <p:nvSpPr>
          <p:cNvPr id="32" name="Shape 30"/>
          <p:cNvSpPr/>
          <p:nvPr/>
        </p:nvSpPr>
        <p:spPr>
          <a:xfrm>
            <a:off x="5029200" y="5541264"/>
            <a:ext cx="1691640" cy="329184"/>
          </a:xfrm>
          <a:prstGeom prst="roundRect">
            <a:avLst>
              <a:gd name="adj" fmla="val 22222"/>
            </a:avLst>
          </a:prstGeom>
          <a:solidFill>
            <a:srgbClr val="8A93A6"/>
          </a:solidFill>
          <a:ln w="12700">
            <a:solidFill>
              <a:srgbClr val="8A93A6"/>
            </a:solidFill>
            <a:prstDash val="solid"/>
          </a:ln>
        </p:spPr>
      </p:sp>
      <p:sp>
        <p:nvSpPr>
          <p:cNvPr id="33" name="Text 31"/>
          <p:cNvSpPr/>
          <p:nvPr/>
        </p:nvSpPr>
        <p:spPr>
          <a:xfrm>
            <a:off x="5029200" y="5541264"/>
            <a:ext cx="16916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NO CLAIM</a:t>
            </a:r>
            <a:endParaRPr lang="en-US" sz="950" dirty="0"/>
          </a:p>
        </p:txBody>
      </p:sp>
      <p:sp>
        <p:nvSpPr>
          <p:cNvPr id="34" name="Text 32"/>
          <p:cNvSpPr/>
          <p:nvPr/>
        </p:nvSpPr>
        <p:spPr>
          <a:xfrm>
            <a:off x="6903720" y="5413248"/>
            <a:ext cx="4434840" cy="585216"/>
          </a:xfrm>
          <a:prstGeom prst="rect">
            <a:avLst/>
          </a:prstGeom>
          <a:noFill/>
          <a:ln/>
        </p:spPr>
        <p:txBody>
          <a:bodyPr wrap="square" lIns="0" tIns="0" rIns="0" bIns="0" rtlCol="0" anchor="ctr"/>
          <a:lstStyle/>
          <a:p>
            <a:pPr indent="0" marL="0">
              <a:buNone/>
            </a:pPr>
            <a:r>
              <a:rPr lang="en-US" sz="1150" dirty="0">
                <a:solidFill>
                  <a:srgbClr val="44506A"/>
                </a:solidFill>
                <a:latin typeface="Calibri" pitchFamily="34" charset="0"/>
                <a:ea typeface="Calibri" pitchFamily="34" charset="-122"/>
                <a:cs typeface="Calibri" pitchFamily="34" charset="-120"/>
              </a:rPr>
              <a:t>the difference is an artefact of the method, not a real gain</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64240" cy="256032"/>
          </a:xfrm>
          <a:prstGeom prst="rect">
            <a:avLst/>
          </a:prstGeom>
          <a:noFill/>
          <a:ln/>
        </p:spPr>
        <p:txBody>
          <a:bodyPr wrap="square" lIns="0" tIns="0" rIns="0" bIns="0" rtlCol="0" anchor="ctr"/>
          <a:lstStyle/>
          <a:p>
            <a:pPr indent="0" marL="0">
              <a:buNone/>
            </a:pPr>
            <a:r>
              <a:rPr lang="en-US" sz="1200" b="1" spc="200" kern="0" dirty="0">
                <a:solidFill>
                  <a:srgbClr val="12897B"/>
                </a:solidFill>
                <a:latin typeface="Calibri" pitchFamily="34" charset="0"/>
                <a:ea typeface="Calibri" pitchFamily="34" charset="-122"/>
                <a:cs typeface="Calibri" pitchFamily="34" charset="-120"/>
              </a:rPr>
              <a:t>RESULTS · VERDICT</a:t>
            </a:r>
            <a:endParaRPr lang="en-US" sz="1200" dirty="0"/>
          </a:p>
        </p:txBody>
      </p:sp>
      <p:sp>
        <p:nvSpPr>
          <p:cNvPr id="3" name="Text 1"/>
          <p:cNvSpPr/>
          <p:nvPr/>
        </p:nvSpPr>
        <p:spPr>
          <a:xfrm>
            <a:off x="548640" y="603504"/>
            <a:ext cx="11064240" cy="685800"/>
          </a:xfrm>
          <a:prstGeom prst="rect">
            <a:avLst/>
          </a:prstGeom>
          <a:noFill/>
          <a:ln/>
        </p:spPr>
        <p:txBody>
          <a:bodyPr wrap="square" lIns="0" tIns="0" rIns="0" bIns="0" rtlCol="0" anchor="t"/>
          <a:lstStyle/>
          <a:p>
            <a:pPr indent="0" marL="0">
              <a:buNone/>
            </a:pPr>
            <a:r>
              <a:rPr lang="en-US" sz="3200" b="1" dirty="0">
                <a:solidFill>
                  <a:srgbClr val="152238"/>
                </a:solidFill>
                <a:latin typeface="Cambria" pitchFamily="34" charset="0"/>
                <a:ea typeface="Cambria" pitchFamily="34" charset="-122"/>
                <a:cs typeface="Cambria" pitchFamily="34" charset="-120"/>
              </a:rPr>
              <a:t>So — is it any good?</a:t>
            </a:r>
            <a:endParaRPr lang="en-US" sz="3200" dirty="0"/>
          </a:p>
        </p:txBody>
      </p:sp>
      <p:sp>
        <p:nvSpPr>
          <p:cNvPr id="4" name="Shape 2"/>
          <p:cNvSpPr/>
          <p:nvPr/>
        </p:nvSpPr>
        <p:spPr>
          <a:xfrm>
            <a:off x="548640" y="1417320"/>
            <a:ext cx="3538728" cy="2148840"/>
          </a:xfrm>
          <a:prstGeom prst="roundRect">
            <a:avLst>
              <a:gd name="adj" fmla="val 5106"/>
            </a:avLst>
          </a:prstGeom>
          <a:solidFill>
            <a:srgbClr val="E9F5F3"/>
          </a:solidFill>
          <a:ln w="12700">
            <a:solidFill>
              <a:srgbClr val="BFE0DA"/>
            </a:solidFill>
            <a:prstDash val="solid"/>
          </a:ln>
          <a:effectLst>
            <a:outerShdw sx="100000" sy="100000" kx="0" ky="0" algn="bl" rotWithShape="0" blurRad="127000" dist="25400" dir="5400000">
              <a:srgbClr val="9AA6B8">
                <a:alpha val="28000"/>
              </a:srgbClr>
            </a:outerShdw>
          </a:effectLst>
        </p:spPr>
      </p:sp>
      <p:sp>
        <p:nvSpPr>
          <p:cNvPr id="5" name="Shape 3"/>
          <p:cNvSpPr/>
          <p:nvPr/>
        </p:nvSpPr>
        <p:spPr>
          <a:xfrm>
            <a:off x="841248" y="1645920"/>
            <a:ext cx="420624" cy="420624"/>
          </a:xfrm>
          <a:prstGeom prst="ellipse">
            <a:avLst/>
          </a:prstGeom>
          <a:solidFill>
            <a:srgbClr val="12897B"/>
          </a:solidFill>
          <a:ln w="12700">
            <a:solidFill>
              <a:srgbClr val="12897B"/>
            </a:solidFill>
            <a:prstDash val="solid"/>
          </a:ln>
        </p:spPr>
      </p:sp>
      <p:sp>
        <p:nvSpPr>
          <p:cNvPr id="6" name="Text 4"/>
          <p:cNvSpPr/>
          <p:nvPr/>
        </p:nvSpPr>
        <p:spPr>
          <a:xfrm>
            <a:off x="841248" y="16459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7" name="Text 5"/>
          <p:cNvSpPr/>
          <p:nvPr/>
        </p:nvSpPr>
        <p:spPr>
          <a:xfrm>
            <a:off x="1371600" y="1645920"/>
            <a:ext cx="2468880" cy="420624"/>
          </a:xfrm>
          <a:prstGeom prst="rect">
            <a:avLst/>
          </a:prstGeom>
          <a:noFill/>
          <a:ln/>
        </p:spPr>
        <p:txBody>
          <a:bodyPr wrap="square" lIns="0" tIns="0" rIns="0" bIns="0" rtlCol="0" anchor="ctr"/>
          <a:lstStyle/>
          <a:p>
            <a:pPr indent="0" marL="0">
              <a:buNone/>
            </a:pPr>
            <a:r>
              <a:rPr lang="en-US" sz="1700" b="1" dirty="0">
                <a:solidFill>
                  <a:srgbClr val="152238"/>
                </a:solidFill>
                <a:latin typeface="Cambria" pitchFamily="34" charset="0"/>
                <a:ea typeface="Cambria" pitchFamily="34" charset="-122"/>
                <a:cs typeface="Cambria" pitchFamily="34" charset="-120"/>
              </a:rPr>
              <a:t>Yes, as a defence</a:t>
            </a:r>
            <a:endParaRPr lang="en-US" sz="1700" dirty="0"/>
          </a:p>
        </p:txBody>
      </p:sp>
      <p:sp>
        <p:nvSpPr>
          <p:cNvPr id="8" name="Text 6"/>
          <p:cNvSpPr/>
          <p:nvPr/>
        </p:nvSpPr>
        <p:spPr>
          <a:xfrm>
            <a:off x="841248" y="2194560"/>
            <a:ext cx="2971800" cy="1188720"/>
          </a:xfrm>
          <a:prstGeom prst="rect">
            <a:avLst/>
          </a:prstGeom>
          <a:noFill/>
          <a:ln/>
        </p:spPr>
        <p:txBody>
          <a:bodyPr wrap="square" lIns="0" tIns="0" rIns="0" bIns="0" rtlCol="0" anchor="ctr"/>
          <a:lstStyle/>
          <a:p>
            <a:pPr indent="0" marL="0">
              <a:lnSpc>
                <a:spcPts val="1700"/>
              </a:lnSpc>
              <a:buNone/>
            </a:pPr>
            <a:r>
              <a:rPr lang="en-US" sz="1250" dirty="0">
                <a:solidFill>
                  <a:srgbClr val="44506A"/>
                </a:solidFill>
                <a:latin typeface="Calibri" pitchFamily="34" charset="0"/>
                <a:ea typeface="Calibri" pitchFamily="34" charset="-122"/>
                <a:cs typeface="Calibri" pitchFamily="34" charset="-120"/>
              </a:rPr>
              <a:t>It substantially stops the model memorising wrong labels, the mechanism is understood, and the effect replicated.</a:t>
            </a:r>
            <a:endParaRPr lang="en-US" sz="1250" dirty="0"/>
          </a:p>
        </p:txBody>
      </p:sp>
      <p:sp>
        <p:nvSpPr>
          <p:cNvPr id="9" name="Shape 7"/>
          <p:cNvSpPr/>
          <p:nvPr/>
        </p:nvSpPr>
        <p:spPr>
          <a:xfrm>
            <a:off x="4315968" y="1417320"/>
            <a:ext cx="3538728" cy="2148840"/>
          </a:xfrm>
          <a:prstGeom prst="roundRect">
            <a:avLst>
              <a:gd name="adj" fmla="val 5106"/>
            </a:avLst>
          </a:prstGeom>
          <a:solidFill>
            <a:srgbClr val="FBEDEE"/>
          </a:solidFill>
          <a:ln w="12700">
            <a:solidFill>
              <a:srgbClr val="F0CFD2"/>
            </a:solidFill>
            <a:prstDash val="solid"/>
          </a:ln>
          <a:effectLst>
            <a:outerShdw sx="100000" sy="100000" kx="0" ky="0" algn="bl" rotWithShape="0" blurRad="127000" dist="25400" dir="5400000">
              <a:srgbClr val="9AA6B8">
                <a:alpha val="28000"/>
              </a:srgbClr>
            </a:outerShdw>
          </a:effectLst>
        </p:spPr>
      </p:sp>
      <p:sp>
        <p:nvSpPr>
          <p:cNvPr id="10" name="Shape 8"/>
          <p:cNvSpPr/>
          <p:nvPr/>
        </p:nvSpPr>
        <p:spPr>
          <a:xfrm>
            <a:off x="4608576" y="1645920"/>
            <a:ext cx="420624" cy="420624"/>
          </a:xfrm>
          <a:prstGeom prst="ellipse">
            <a:avLst/>
          </a:prstGeom>
          <a:solidFill>
            <a:srgbClr val="C1121F"/>
          </a:solidFill>
          <a:ln w="12700">
            <a:solidFill>
              <a:srgbClr val="C1121F"/>
            </a:solidFill>
            <a:prstDash val="solid"/>
          </a:ln>
        </p:spPr>
      </p:sp>
      <p:sp>
        <p:nvSpPr>
          <p:cNvPr id="11" name="Text 9"/>
          <p:cNvSpPr/>
          <p:nvPr/>
        </p:nvSpPr>
        <p:spPr>
          <a:xfrm>
            <a:off x="4608576" y="16459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2" name="Text 10"/>
          <p:cNvSpPr/>
          <p:nvPr/>
        </p:nvSpPr>
        <p:spPr>
          <a:xfrm>
            <a:off x="5138928" y="1645920"/>
            <a:ext cx="2468880" cy="420624"/>
          </a:xfrm>
          <a:prstGeom prst="rect">
            <a:avLst/>
          </a:prstGeom>
          <a:noFill/>
          <a:ln/>
        </p:spPr>
        <p:txBody>
          <a:bodyPr wrap="square" lIns="0" tIns="0" rIns="0" bIns="0" rtlCol="0" anchor="ctr"/>
          <a:lstStyle/>
          <a:p>
            <a:pPr indent="0" marL="0">
              <a:buNone/>
            </a:pPr>
            <a:r>
              <a:rPr lang="en-US" sz="1700" b="1" dirty="0">
                <a:solidFill>
                  <a:srgbClr val="152238"/>
                </a:solidFill>
                <a:latin typeface="Cambria" pitchFamily="34" charset="0"/>
                <a:ea typeface="Cambria" pitchFamily="34" charset="-122"/>
                <a:cs typeface="Cambria" pitchFamily="34" charset="-120"/>
              </a:rPr>
              <a:t>No, as an upgrade</a:t>
            </a:r>
            <a:endParaRPr lang="en-US" sz="1700" dirty="0"/>
          </a:p>
        </p:txBody>
      </p:sp>
      <p:sp>
        <p:nvSpPr>
          <p:cNvPr id="13" name="Text 11"/>
          <p:cNvSpPr/>
          <p:nvPr/>
        </p:nvSpPr>
        <p:spPr>
          <a:xfrm>
            <a:off x="4608576" y="2194560"/>
            <a:ext cx="2971800" cy="1188720"/>
          </a:xfrm>
          <a:prstGeom prst="rect">
            <a:avLst/>
          </a:prstGeom>
          <a:noFill/>
          <a:ln/>
        </p:spPr>
        <p:txBody>
          <a:bodyPr wrap="square" lIns="0" tIns="0" rIns="0" bIns="0" rtlCol="0" anchor="ctr"/>
          <a:lstStyle/>
          <a:p>
            <a:pPr indent="0" marL="0">
              <a:lnSpc>
                <a:spcPts val="1700"/>
              </a:lnSpc>
              <a:buNone/>
            </a:pPr>
            <a:r>
              <a:rPr lang="en-US" sz="1250" dirty="0">
                <a:solidFill>
                  <a:srgbClr val="44506A"/>
                </a:solidFill>
                <a:latin typeface="Calibri" pitchFamily="34" charset="0"/>
                <a:ea typeface="Calibri" pitchFamily="34" charset="-122"/>
                <a:cs typeface="Calibri" pitchFamily="34" charset="-120"/>
              </a:rPr>
              <a:t>It does not make the model more accurate at its best moment. Our original hypothesis — smarter gap, better accuracy — was wrong.</a:t>
            </a:r>
            <a:endParaRPr lang="en-US" sz="1250" dirty="0"/>
          </a:p>
        </p:txBody>
      </p:sp>
      <p:sp>
        <p:nvSpPr>
          <p:cNvPr id="14" name="Shape 12"/>
          <p:cNvSpPr/>
          <p:nvPr/>
        </p:nvSpPr>
        <p:spPr>
          <a:xfrm>
            <a:off x="8083296" y="1417320"/>
            <a:ext cx="3538728" cy="2148840"/>
          </a:xfrm>
          <a:prstGeom prst="roundRect">
            <a:avLst>
              <a:gd name="adj" fmla="val 5106"/>
            </a:avLst>
          </a:prstGeom>
          <a:solidFill>
            <a:srgbClr val="F0F4FA"/>
          </a:solidFill>
          <a:ln w="12700">
            <a:solidFill>
              <a:srgbClr val="CFDBEC"/>
            </a:solidFill>
            <a:prstDash val="solid"/>
          </a:ln>
          <a:effectLst>
            <a:outerShdw sx="100000" sy="100000" kx="0" ky="0" algn="bl" rotWithShape="0" blurRad="127000" dist="25400" dir="5400000">
              <a:srgbClr val="9AA6B8">
                <a:alpha val="28000"/>
              </a:srgbClr>
            </a:outerShdw>
          </a:effectLst>
        </p:spPr>
      </p:sp>
      <p:sp>
        <p:nvSpPr>
          <p:cNvPr id="15" name="Shape 13"/>
          <p:cNvSpPr/>
          <p:nvPr/>
        </p:nvSpPr>
        <p:spPr>
          <a:xfrm>
            <a:off x="8375904" y="1645920"/>
            <a:ext cx="420624" cy="420624"/>
          </a:xfrm>
          <a:prstGeom prst="ellipse">
            <a:avLst/>
          </a:prstGeom>
          <a:solidFill>
            <a:srgbClr val="3E6FA8"/>
          </a:solidFill>
          <a:ln w="12700">
            <a:solidFill>
              <a:srgbClr val="3E6FA8"/>
            </a:solidFill>
            <a:prstDash val="solid"/>
          </a:ln>
        </p:spPr>
      </p:sp>
      <p:sp>
        <p:nvSpPr>
          <p:cNvPr id="16" name="Text 14"/>
          <p:cNvSpPr/>
          <p:nvPr/>
        </p:nvSpPr>
        <p:spPr>
          <a:xfrm>
            <a:off x="8375904" y="16459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7" name="Text 15"/>
          <p:cNvSpPr/>
          <p:nvPr/>
        </p:nvSpPr>
        <p:spPr>
          <a:xfrm>
            <a:off x="8906256" y="1645920"/>
            <a:ext cx="2468880" cy="420624"/>
          </a:xfrm>
          <a:prstGeom prst="rect">
            <a:avLst/>
          </a:prstGeom>
          <a:noFill/>
          <a:ln/>
        </p:spPr>
        <p:txBody>
          <a:bodyPr wrap="square" lIns="0" tIns="0" rIns="0" bIns="0" rtlCol="0" anchor="ctr"/>
          <a:lstStyle/>
          <a:p>
            <a:pPr indent="0" marL="0">
              <a:buNone/>
            </a:pPr>
            <a:r>
              <a:rPr lang="en-US" sz="1700" b="1" dirty="0">
                <a:solidFill>
                  <a:srgbClr val="152238"/>
                </a:solidFill>
                <a:latin typeface="Cambria" pitchFamily="34" charset="0"/>
                <a:ea typeface="Cambria" pitchFamily="34" charset="-122"/>
                <a:cs typeface="Cambria" pitchFamily="34" charset="-120"/>
              </a:rPr>
              <a:t>It depends</a:t>
            </a:r>
            <a:endParaRPr lang="en-US" sz="1700" dirty="0"/>
          </a:p>
        </p:txBody>
      </p:sp>
      <p:sp>
        <p:nvSpPr>
          <p:cNvPr id="18" name="Text 16"/>
          <p:cNvSpPr/>
          <p:nvPr/>
        </p:nvSpPr>
        <p:spPr>
          <a:xfrm>
            <a:off x="8375904" y="2194560"/>
            <a:ext cx="2971800" cy="1188720"/>
          </a:xfrm>
          <a:prstGeom prst="rect">
            <a:avLst/>
          </a:prstGeom>
          <a:noFill/>
          <a:ln/>
        </p:spPr>
        <p:txBody>
          <a:bodyPr wrap="square" lIns="0" tIns="0" rIns="0" bIns="0" rtlCol="0" anchor="ctr"/>
          <a:lstStyle/>
          <a:p>
            <a:pPr indent="0" marL="0">
              <a:lnSpc>
                <a:spcPts val="1700"/>
              </a:lnSpc>
              <a:buNone/>
            </a:pPr>
            <a:r>
              <a:rPr lang="en-US" sz="1250" dirty="0">
                <a:solidFill>
                  <a:srgbClr val="44506A"/>
                </a:solidFill>
                <a:latin typeface="Calibri" pitchFamily="34" charset="0"/>
                <a:ea typeface="Calibri" pitchFamily="34" charset="-122"/>
                <a:cs typeface="Calibri" pitchFamily="34" charset="-120"/>
              </a:rPr>
              <a:t>The gain only shows up if you cannot stop training early using clean data — which is exactly the situation when your labels are noisy.</a:t>
            </a:r>
            <a:endParaRPr lang="en-US" sz="1250" dirty="0"/>
          </a:p>
        </p:txBody>
      </p:sp>
      <p:sp>
        <p:nvSpPr>
          <p:cNvPr id="19" name="Shape 17"/>
          <p:cNvSpPr/>
          <p:nvPr/>
        </p:nvSpPr>
        <p:spPr>
          <a:xfrm>
            <a:off x="548640" y="3794760"/>
            <a:ext cx="11073384" cy="960120"/>
          </a:xfrm>
          <a:prstGeom prst="roundRect">
            <a:avLst>
              <a:gd name="adj" fmla="val 11429"/>
            </a:avLst>
          </a:prstGeom>
          <a:solidFill>
            <a:srgbClr val="152238"/>
          </a:solidFill>
          <a:ln w="12700">
            <a:solidFill>
              <a:srgbClr val="152238"/>
            </a:solidFill>
            <a:prstDash val="solid"/>
          </a:ln>
        </p:spPr>
      </p:sp>
      <p:sp>
        <p:nvSpPr>
          <p:cNvPr id="20" name="Text 18"/>
          <p:cNvSpPr/>
          <p:nvPr/>
        </p:nvSpPr>
        <p:spPr>
          <a:xfrm>
            <a:off x="868680" y="3794760"/>
            <a:ext cx="10424160" cy="960120"/>
          </a:xfrm>
          <a:prstGeom prst="rect">
            <a:avLst/>
          </a:prstGeom>
          <a:noFill/>
          <a:ln/>
        </p:spPr>
        <p:txBody>
          <a:bodyPr wrap="square" lIns="0" tIns="0" rIns="0" bIns="0" rtlCol="0" anchor="ctr"/>
          <a:lstStyle/>
          <a:p>
            <a:pPr indent="0" marL="0">
              <a:lnSpc>
                <a:spcPts val="2200"/>
              </a:lnSpc>
              <a:buNone/>
            </a:pPr>
            <a:r>
              <a:rPr lang="en-US" sz="1600" dirty="0">
                <a:solidFill>
                  <a:srgbClr val="FFFFFF"/>
                </a:solidFill>
                <a:latin typeface="Cambria" pitchFamily="34" charset="0"/>
                <a:ea typeface="Cambria" pitchFamily="34" charset="-122"/>
                <a:cs typeface="Cambria" pitchFamily="34" charset="-120"/>
              </a:rPr>
              <a:t>The honest one-liner: we set out to improve accuracy and failed — but we found a real, repeatable defence against bad labels, and we can explain exactly why it works.</a:t>
            </a:r>
            <a:endParaRPr lang="en-US" sz="1600" dirty="0"/>
          </a:p>
        </p:txBody>
      </p:sp>
      <p:sp>
        <p:nvSpPr>
          <p:cNvPr id="21" name="Text 19"/>
          <p:cNvSpPr/>
          <p:nvPr/>
        </p:nvSpPr>
        <p:spPr>
          <a:xfrm>
            <a:off x="548640" y="4983480"/>
            <a:ext cx="11064240" cy="292608"/>
          </a:xfrm>
          <a:prstGeom prst="rect">
            <a:avLst/>
          </a:prstGeom>
          <a:noFill/>
          <a:ln/>
        </p:spPr>
        <p:txBody>
          <a:bodyPr wrap="square" lIns="0" tIns="0" rIns="0" bIns="0" rtlCol="0" anchor="ctr"/>
          <a:lstStyle/>
          <a:p>
            <a:pPr indent="0" marL="0">
              <a:buNone/>
            </a:pPr>
            <a:r>
              <a:rPr lang="en-US" sz="1250" b="1" dirty="0">
                <a:solidFill>
                  <a:srgbClr val="8A93A6"/>
                </a:solidFill>
                <a:latin typeface="Calibri" pitchFamily="34" charset="0"/>
                <a:ea typeface="Calibri" pitchFamily="34" charset="-122"/>
                <a:cs typeface="Calibri" pitchFamily="34" charset="-120"/>
              </a:rPr>
              <a:t>What this project taught us about doing research</a:t>
            </a:r>
            <a:endParaRPr lang="en-US" sz="1250" dirty="0"/>
          </a:p>
        </p:txBody>
      </p:sp>
      <p:sp>
        <p:nvSpPr>
          <p:cNvPr id="22" name="Shape 20"/>
          <p:cNvSpPr/>
          <p:nvPr/>
        </p:nvSpPr>
        <p:spPr>
          <a:xfrm>
            <a:off x="548640" y="5349240"/>
            <a:ext cx="365760" cy="365760"/>
          </a:xfrm>
          <a:prstGeom prst="ellipse">
            <a:avLst/>
          </a:prstGeom>
          <a:solidFill>
            <a:srgbClr val="3E6FA8"/>
          </a:solidFill>
          <a:ln w="12700">
            <a:solidFill>
              <a:srgbClr val="3E6FA8"/>
            </a:solidFill>
            <a:prstDash val="solid"/>
          </a:ln>
        </p:spPr>
      </p:sp>
      <p:sp>
        <p:nvSpPr>
          <p:cNvPr id="23" name="Text 21"/>
          <p:cNvSpPr/>
          <p:nvPr/>
        </p:nvSpPr>
        <p:spPr>
          <a:xfrm>
            <a:off x="548640" y="53492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24" name="Text 22"/>
          <p:cNvSpPr/>
          <p:nvPr/>
        </p:nvSpPr>
        <p:spPr>
          <a:xfrm>
            <a:off x="1042416" y="5330952"/>
            <a:ext cx="5029200" cy="256032"/>
          </a:xfrm>
          <a:prstGeom prst="rect">
            <a:avLst/>
          </a:prstGeom>
          <a:noFill/>
          <a:ln/>
        </p:spPr>
        <p:txBody>
          <a:bodyPr wrap="square" lIns="0" tIns="0" rIns="0" bIns="0" rtlCol="0" anchor="ctr"/>
          <a:lstStyle/>
          <a:p>
            <a:pPr indent="0" marL="0">
              <a:buNone/>
            </a:pPr>
            <a:r>
              <a:rPr lang="en-US" sz="1300" b="1" dirty="0">
                <a:solidFill>
                  <a:srgbClr val="152238"/>
                </a:solidFill>
                <a:latin typeface="Calibri" pitchFamily="34" charset="0"/>
                <a:ea typeface="Calibri" pitchFamily="34" charset="-122"/>
                <a:cs typeface="Calibri" pitchFamily="34" charset="-120"/>
              </a:rPr>
              <a:t>Check the foundation first</a:t>
            </a:r>
            <a:endParaRPr lang="en-US" sz="1300" dirty="0"/>
          </a:p>
        </p:txBody>
      </p:sp>
      <p:sp>
        <p:nvSpPr>
          <p:cNvPr id="25" name="Text 23"/>
          <p:cNvSpPr/>
          <p:nvPr/>
        </p:nvSpPr>
        <p:spPr>
          <a:xfrm>
            <a:off x="1042416" y="5586984"/>
            <a:ext cx="5029200" cy="457200"/>
          </a:xfrm>
          <a:prstGeom prst="rect">
            <a:avLst/>
          </a:prstGeom>
          <a:noFill/>
          <a:ln/>
        </p:spPr>
        <p:txBody>
          <a:bodyPr wrap="square" lIns="0" tIns="0" rIns="0" bIns="0" rtlCol="0" anchor="ctr"/>
          <a:lstStyle/>
          <a:p>
            <a:pPr indent="0" marL="0">
              <a:buNone/>
            </a:pPr>
            <a:r>
              <a:rPr lang="en-US" sz="1150" dirty="0">
                <a:solidFill>
                  <a:srgbClr val="8A93A6"/>
                </a:solidFill>
                <a:latin typeface="Calibri" pitchFamily="34" charset="0"/>
                <a:ea typeface="Calibri" pitchFamily="34" charset="-122"/>
                <a:cs typeface="Calibri" pitchFamily="34" charset="-120"/>
              </a:rPr>
              <a:t>we should have verified the baseline's advantage in week 1, not week 8</a:t>
            </a:r>
            <a:endParaRPr lang="en-US" sz="1150" dirty="0"/>
          </a:p>
        </p:txBody>
      </p:sp>
      <p:sp>
        <p:nvSpPr>
          <p:cNvPr id="26" name="Shape 24"/>
          <p:cNvSpPr/>
          <p:nvPr/>
        </p:nvSpPr>
        <p:spPr>
          <a:xfrm>
            <a:off x="6263640" y="5349240"/>
            <a:ext cx="365760" cy="365760"/>
          </a:xfrm>
          <a:prstGeom prst="ellipse">
            <a:avLst/>
          </a:prstGeom>
          <a:solidFill>
            <a:srgbClr val="3E6FA8"/>
          </a:solidFill>
          <a:ln w="12700">
            <a:solidFill>
              <a:srgbClr val="3E6FA8"/>
            </a:solidFill>
            <a:prstDash val="solid"/>
          </a:ln>
        </p:spPr>
      </p:sp>
      <p:sp>
        <p:nvSpPr>
          <p:cNvPr id="27" name="Text 25"/>
          <p:cNvSpPr/>
          <p:nvPr/>
        </p:nvSpPr>
        <p:spPr>
          <a:xfrm>
            <a:off x="6263640" y="53492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8" name="Text 26"/>
          <p:cNvSpPr/>
          <p:nvPr/>
        </p:nvSpPr>
        <p:spPr>
          <a:xfrm>
            <a:off x="6757416" y="5330952"/>
            <a:ext cx="5029200" cy="256032"/>
          </a:xfrm>
          <a:prstGeom prst="rect">
            <a:avLst/>
          </a:prstGeom>
          <a:noFill/>
          <a:ln/>
        </p:spPr>
        <p:txBody>
          <a:bodyPr wrap="square" lIns="0" tIns="0" rIns="0" bIns="0" rtlCol="0" anchor="ctr"/>
          <a:lstStyle/>
          <a:p>
            <a:pPr indent="0" marL="0">
              <a:buNone/>
            </a:pPr>
            <a:r>
              <a:rPr lang="en-US" sz="1300" b="1" dirty="0">
                <a:solidFill>
                  <a:srgbClr val="152238"/>
                </a:solidFill>
                <a:latin typeface="Calibri" pitchFamily="34" charset="0"/>
                <a:ea typeface="Calibri" pitchFamily="34" charset="-122"/>
                <a:cs typeface="Calibri" pitchFamily="34" charset="-120"/>
              </a:rPr>
              <a:t>Measure the mechanism, not just the score</a:t>
            </a:r>
            <a:endParaRPr lang="en-US" sz="1300" dirty="0"/>
          </a:p>
        </p:txBody>
      </p:sp>
      <p:sp>
        <p:nvSpPr>
          <p:cNvPr id="29" name="Text 27"/>
          <p:cNvSpPr/>
          <p:nvPr/>
        </p:nvSpPr>
        <p:spPr>
          <a:xfrm>
            <a:off x="6757416" y="5586984"/>
            <a:ext cx="5029200" cy="457200"/>
          </a:xfrm>
          <a:prstGeom prst="rect">
            <a:avLst/>
          </a:prstGeom>
          <a:noFill/>
          <a:ln/>
        </p:spPr>
        <p:txBody>
          <a:bodyPr wrap="square" lIns="0" tIns="0" rIns="0" bIns="0" rtlCol="0" anchor="ctr"/>
          <a:lstStyle/>
          <a:p>
            <a:pPr indent="0" marL="0">
              <a:buNone/>
            </a:pPr>
            <a:r>
              <a:rPr lang="en-US" sz="1150" dirty="0">
                <a:solidFill>
                  <a:srgbClr val="8A93A6"/>
                </a:solidFill>
                <a:latin typeface="Calibri" pitchFamily="34" charset="0"/>
                <a:ea typeface="Calibri" pitchFamily="34" charset="-122"/>
                <a:cs typeface="Calibri" pitchFamily="34" charset="-120"/>
              </a:rPr>
              <a:t>accuracy was flat for six weeks and explained nothing</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1064240" cy="256032"/>
          </a:xfrm>
          <a:prstGeom prst="rect">
            <a:avLst/>
          </a:prstGeom>
          <a:noFill/>
          <a:ln/>
        </p:spPr>
        <p:txBody>
          <a:bodyPr wrap="square" lIns="0" tIns="0" rIns="0" bIns="0" rtlCol="0" anchor="ctr"/>
          <a:lstStyle/>
          <a:p>
            <a:pPr indent="0" marL="0">
              <a:buNone/>
            </a:pPr>
            <a:r>
              <a:rPr lang="en-US" sz="1200" b="1" spc="200" kern="0" dirty="0">
                <a:solidFill>
                  <a:srgbClr val="12897B"/>
                </a:solidFill>
                <a:latin typeface="Calibri" pitchFamily="34" charset="0"/>
                <a:ea typeface="Calibri" pitchFamily="34" charset="-122"/>
                <a:cs typeface="Calibri" pitchFamily="34" charset="-120"/>
              </a:rPr>
              <a:t>RESULTS · NEXT STEPS</a:t>
            </a:r>
            <a:endParaRPr lang="en-US" sz="1200" dirty="0"/>
          </a:p>
        </p:txBody>
      </p:sp>
      <p:sp>
        <p:nvSpPr>
          <p:cNvPr id="3" name="Text 1"/>
          <p:cNvSpPr/>
          <p:nvPr/>
        </p:nvSpPr>
        <p:spPr>
          <a:xfrm>
            <a:off x="548640" y="603504"/>
            <a:ext cx="11064240" cy="685800"/>
          </a:xfrm>
          <a:prstGeom prst="rect">
            <a:avLst/>
          </a:prstGeom>
          <a:noFill/>
          <a:ln/>
        </p:spPr>
        <p:txBody>
          <a:bodyPr wrap="square" lIns="0" tIns="0" rIns="0" bIns="0" rtlCol="0" anchor="t"/>
          <a:lstStyle/>
          <a:p>
            <a:pPr indent="0" marL="0">
              <a:buNone/>
            </a:pPr>
            <a:r>
              <a:rPr lang="en-US" sz="3200" b="1" dirty="0">
                <a:solidFill>
                  <a:srgbClr val="152238"/>
                </a:solidFill>
                <a:latin typeface="Cambria" pitchFamily="34" charset="0"/>
                <a:ea typeface="Cambria" pitchFamily="34" charset="-122"/>
                <a:cs typeface="Cambria" pitchFamily="34" charset="-120"/>
              </a:rPr>
              <a:t>What we would do next</a:t>
            </a:r>
            <a:endParaRPr lang="en-US" sz="3200" dirty="0"/>
          </a:p>
        </p:txBody>
      </p:sp>
      <p:sp>
        <p:nvSpPr>
          <p:cNvPr id="4" name="Shape 2"/>
          <p:cNvSpPr/>
          <p:nvPr/>
        </p:nvSpPr>
        <p:spPr>
          <a:xfrm>
            <a:off x="548640" y="1481328"/>
            <a:ext cx="5358384" cy="1975104"/>
          </a:xfrm>
          <a:prstGeom prst="roundRect">
            <a:avLst>
              <a:gd name="adj" fmla="val 5556"/>
            </a:avLst>
          </a:prstGeom>
          <a:solidFill>
            <a:srgbClr val="FFFFFF"/>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5" name="Shape 3"/>
          <p:cNvSpPr/>
          <p:nvPr/>
        </p:nvSpPr>
        <p:spPr>
          <a:xfrm>
            <a:off x="822960" y="1719072"/>
            <a:ext cx="457200" cy="457200"/>
          </a:xfrm>
          <a:prstGeom prst="ellipse">
            <a:avLst/>
          </a:prstGeom>
          <a:solidFill>
            <a:srgbClr val="12897B"/>
          </a:solidFill>
          <a:ln w="12700">
            <a:solidFill>
              <a:srgbClr val="12897B"/>
            </a:solidFill>
            <a:prstDash val="solid"/>
          </a:ln>
        </p:spPr>
      </p:sp>
      <p:sp>
        <p:nvSpPr>
          <p:cNvPr id="6" name="Text 4"/>
          <p:cNvSpPr/>
          <p:nvPr/>
        </p:nvSpPr>
        <p:spPr>
          <a:xfrm>
            <a:off x="822960" y="171907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408176" y="1719072"/>
            <a:ext cx="4206240" cy="457200"/>
          </a:xfrm>
          <a:prstGeom prst="rect">
            <a:avLst/>
          </a:prstGeom>
          <a:noFill/>
          <a:ln/>
        </p:spPr>
        <p:txBody>
          <a:bodyPr wrap="square" lIns="0" tIns="0" rIns="0" bIns="0" rtlCol="0" anchor="ctr"/>
          <a:lstStyle/>
          <a:p>
            <a:pPr indent="0" marL="0">
              <a:buNone/>
            </a:pPr>
            <a:r>
              <a:rPr lang="en-US" sz="1650" b="1" dirty="0">
                <a:solidFill>
                  <a:srgbClr val="152238"/>
                </a:solidFill>
                <a:latin typeface="Cambria" pitchFamily="34" charset="0"/>
                <a:ea typeface="Cambria" pitchFamily="34" charset="-122"/>
                <a:cs typeface="Cambria" pitchFamily="34" charset="-120"/>
              </a:rPr>
              <a:t>Finish the dial test</a:t>
            </a:r>
            <a:endParaRPr lang="en-US" sz="1650" dirty="0"/>
          </a:p>
        </p:txBody>
      </p:sp>
      <p:sp>
        <p:nvSpPr>
          <p:cNvPr id="8" name="Text 6"/>
          <p:cNvSpPr/>
          <p:nvPr/>
        </p:nvSpPr>
        <p:spPr>
          <a:xfrm>
            <a:off x="822960" y="2276856"/>
            <a:ext cx="4809744" cy="777240"/>
          </a:xfrm>
          <a:prstGeom prst="rect">
            <a:avLst/>
          </a:prstGeom>
          <a:noFill/>
          <a:ln/>
        </p:spPr>
        <p:txBody>
          <a:bodyPr wrap="square" lIns="0" tIns="0" rIns="0" bIns="0" rtlCol="0" anchor="ctr"/>
          <a:lstStyle/>
          <a:p>
            <a:pPr indent="0" marL="0">
              <a:lnSpc>
                <a:spcPts val="1700"/>
              </a:lnSpc>
              <a:buNone/>
            </a:pPr>
            <a:r>
              <a:rPr lang="en-US" sz="1250" dirty="0">
                <a:solidFill>
                  <a:srgbClr val="44506A"/>
                </a:solidFill>
                <a:latin typeface="Calibri" pitchFamily="34" charset="0"/>
                <a:ea typeface="Calibri" pitchFamily="34" charset="-122"/>
                <a:cs typeface="Calibri" pitchFamily="34" charset="-120"/>
              </a:rPr>
              <a:t>Run the half-strength version. If halving the setting halves the effect, that is strong proof the mechanism is what we think it is.</a:t>
            </a:r>
            <a:endParaRPr lang="en-US" sz="1250" dirty="0"/>
          </a:p>
        </p:txBody>
      </p:sp>
      <p:sp>
        <p:nvSpPr>
          <p:cNvPr id="9" name="Text 7"/>
          <p:cNvSpPr/>
          <p:nvPr/>
        </p:nvSpPr>
        <p:spPr>
          <a:xfrm>
            <a:off x="822960" y="3054096"/>
            <a:ext cx="4809744" cy="274320"/>
          </a:xfrm>
          <a:prstGeom prst="rect">
            <a:avLst/>
          </a:prstGeom>
          <a:noFill/>
          <a:ln/>
        </p:spPr>
        <p:txBody>
          <a:bodyPr wrap="square" lIns="0" tIns="0" rIns="0" bIns="0" rtlCol="0" anchor="ctr"/>
          <a:lstStyle/>
          <a:p>
            <a:pPr indent="0" marL="0">
              <a:buNone/>
            </a:pPr>
            <a:r>
              <a:rPr lang="en-US" sz="1100" b="1" i="1" dirty="0">
                <a:solidFill>
                  <a:srgbClr val="12897B"/>
                </a:solidFill>
                <a:latin typeface="Calibri" pitchFamily="34" charset="0"/>
                <a:ea typeface="Calibri" pitchFamily="34" charset="-122"/>
                <a:cs typeface="Calibri" pitchFamily="34" charset="-120"/>
              </a:rPr>
              <a:t>≈1 hour of GPU</a:t>
            </a:r>
            <a:endParaRPr lang="en-US" sz="1100" dirty="0"/>
          </a:p>
        </p:txBody>
      </p:sp>
      <p:sp>
        <p:nvSpPr>
          <p:cNvPr id="10" name="Shape 8"/>
          <p:cNvSpPr/>
          <p:nvPr/>
        </p:nvSpPr>
        <p:spPr>
          <a:xfrm>
            <a:off x="6263640" y="1481328"/>
            <a:ext cx="5358384" cy="1975104"/>
          </a:xfrm>
          <a:prstGeom prst="roundRect">
            <a:avLst>
              <a:gd name="adj" fmla="val 5556"/>
            </a:avLst>
          </a:prstGeom>
          <a:solidFill>
            <a:srgbClr val="FFFFFF"/>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11" name="Shape 9"/>
          <p:cNvSpPr/>
          <p:nvPr/>
        </p:nvSpPr>
        <p:spPr>
          <a:xfrm>
            <a:off x="6537960" y="1719072"/>
            <a:ext cx="457200" cy="457200"/>
          </a:xfrm>
          <a:prstGeom prst="ellipse">
            <a:avLst/>
          </a:prstGeom>
          <a:solidFill>
            <a:srgbClr val="3E6FA8"/>
          </a:solidFill>
          <a:ln w="12700">
            <a:solidFill>
              <a:srgbClr val="3E6FA8"/>
            </a:solidFill>
            <a:prstDash val="solid"/>
          </a:ln>
        </p:spPr>
      </p:sp>
      <p:sp>
        <p:nvSpPr>
          <p:cNvPr id="12" name="Text 10"/>
          <p:cNvSpPr/>
          <p:nvPr/>
        </p:nvSpPr>
        <p:spPr>
          <a:xfrm>
            <a:off x="6537960" y="171907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3" name="Text 11"/>
          <p:cNvSpPr/>
          <p:nvPr/>
        </p:nvSpPr>
        <p:spPr>
          <a:xfrm>
            <a:off x="7123176" y="1719072"/>
            <a:ext cx="4206240" cy="457200"/>
          </a:xfrm>
          <a:prstGeom prst="rect">
            <a:avLst/>
          </a:prstGeom>
          <a:noFill/>
          <a:ln/>
        </p:spPr>
        <p:txBody>
          <a:bodyPr wrap="square" lIns="0" tIns="0" rIns="0" bIns="0" rtlCol="0" anchor="ctr"/>
          <a:lstStyle/>
          <a:p>
            <a:pPr indent="0" marL="0">
              <a:buNone/>
            </a:pPr>
            <a:r>
              <a:rPr lang="en-US" sz="1650" b="1" dirty="0">
                <a:solidFill>
                  <a:srgbClr val="152238"/>
                </a:solidFill>
                <a:latin typeface="Cambria" pitchFamily="34" charset="0"/>
                <a:ea typeface="Cambria" pitchFamily="34" charset="-122"/>
                <a:cs typeface="Cambria" pitchFamily="34" charset="-120"/>
              </a:rPr>
              <a:t>Compare against the real competition</a:t>
            </a:r>
            <a:endParaRPr lang="en-US" sz="1650" dirty="0"/>
          </a:p>
        </p:txBody>
      </p:sp>
      <p:sp>
        <p:nvSpPr>
          <p:cNvPr id="14" name="Text 12"/>
          <p:cNvSpPr/>
          <p:nvPr/>
        </p:nvSpPr>
        <p:spPr>
          <a:xfrm>
            <a:off x="6537960" y="2276856"/>
            <a:ext cx="4809744" cy="777240"/>
          </a:xfrm>
          <a:prstGeom prst="rect">
            <a:avLst/>
          </a:prstGeom>
          <a:noFill/>
          <a:ln/>
        </p:spPr>
        <p:txBody>
          <a:bodyPr wrap="square" lIns="0" tIns="0" rIns="0" bIns="0" rtlCol="0" anchor="ctr"/>
          <a:lstStyle/>
          <a:p>
            <a:pPr indent="0" marL="0">
              <a:lnSpc>
                <a:spcPts val="1700"/>
              </a:lnSpc>
              <a:buNone/>
            </a:pPr>
            <a:r>
              <a:rPr lang="en-US" sz="1250" dirty="0">
                <a:solidFill>
                  <a:srgbClr val="44506A"/>
                </a:solidFill>
                <a:latin typeface="Calibri" pitchFamily="34" charset="0"/>
                <a:ea typeface="Calibri" pitchFamily="34" charset="-122"/>
                <a:cs typeface="Calibri" pitchFamily="34" charset="-120"/>
              </a:rPr>
              <a:t>We beat cross-entropy and AS-Softmax. We have not compared against the methods actually designed for noisy labels.</a:t>
            </a:r>
            <a:endParaRPr lang="en-US" sz="1250" dirty="0"/>
          </a:p>
        </p:txBody>
      </p:sp>
      <p:sp>
        <p:nvSpPr>
          <p:cNvPr id="15" name="Text 13"/>
          <p:cNvSpPr/>
          <p:nvPr/>
        </p:nvSpPr>
        <p:spPr>
          <a:xfrm>
            <a:off x="6537960" y="3054096"/>
            <a:ext cx="4809744" cy="274320"/>
          </a:xfrm>
          <a:prstGeom prst="rect">
            <a:avLst/>
          </a:prstGeom>
          <a:noFill/>
          <a:ln/>
        </p:spPr>
        <p:txBody>
          <a:bodyPr wrap="square" lIns="0" tIns="0" rIns="0" bIns="0" rtlCol="0" anchor="ctr"/>
          <a:lstStyle/>
          <a:p>
            <a:pPr indent="0" marL="0">
              <a:buNone/>
            </a:pPr>
            <a:r>
              <a:rPr lang="en-US" sz="1100" b="1" i="1" dirty="0">
                <a:solidFill>
                  <a:srgbClr val="3E6FA8"/>
                </a:solidFill>
                <a:latin typeface="Calibri" pitchFamily="34" charset="0"/>
                <a:ea typeface="Calibri" pitchFamily="34" charset="-122"/>
                <a:cs typeface="Calibri" pitchFamily="34" charset="-120"/>
              </a:rPr>
              <a:t>the honest next bar</a:t>
            </a:r>
            <a:endParaRPr lang="en-US" sz="1100" dirty="0"/>
          </a:p>
        </p:txBody>
      </p:sp>
      <p:sp>
        <p:nvSpPr>
          <p:cNvPr id="16" name="Shape 14"/>
          <p:cNvSpPr/>
          <p:nvPr/>
        </p:nvSpPr>
        <p:spPr>
          <a:xfrm>
            <a:off x="548640" y="3694176"/>
            <a:ext cx="5358384" cy="1975104"/>
          </a:xfrm>
          <a:prstGeom prst="roundRect">
            <a:avLst>
              <a:gd name="adj" fmla="val 5556"/>
            </a:avLst>
          </a:prstGeom>
          <a:solidFill>
            <a:srgbClr val="FFFFFF"/>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17" name="Shape 15"/>
          <p:cNvSpPr/>
          <p:nvPr/>
        </p:nvSpPr>
        <p:spPr>
          <a:xfrm>
            <a:off x="822960" y="3931920"/>
            <a:ext cx="457200" cy="457200"/>
          </a:xfrm>
          <a:prstGeom prst="ellipse">
            <a:avLst/>
          </a:prstGeom>
          <a:solidFill>
            <a:srgbClr val="C97B1E"/>
          </a:solidFill>
          <a:ln w="12700">
            <a:solidFill>
              <a:srgbClr val="C97B1E"/>
            </a:solidFill>
            <a:prstDash val="solid"/>
          </a:ln>
        </p:spPr>
      </p:sp>
      <p:sp>
        <p:nvSpPr>
          <p:cNvPr id="18" name="Text 16"/>
          <p:cNvSpPr/>
          <p:nvPr/>
        </p:nvSpPr>
        <p:spPr>
          <a:xfrm>
            <a:off x="822960" y="393192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9" name="Text 17"/>
          <p:cNvSpPr/>
          <p:nvPr/>
        </p:nvSpPr>
        <p:spPr>
          <a:xfrm>
            <a:off x="1408176" y="3931920"/>
            <a:ext cx="4206240" cy="457200"/>
          </a:xfrm>
          <a:prstGeom prst="rect">
            <a:avLst/>
          </a:prstGeom>
          <a:noFill/>
          <a:ln/>
        </p:spPr>
        <p:txBody>
          <a:bodyPr wrap="square" lIns="0" tIns="0" rIns="0" bIns="0" rtlCol="0" anchor="ctr"/>
          <a:lstStyle/>
          <a:p>
            <a:pPr indent="0" marL="0">
              <a:buNone/>
            </a:pPr>
            <a:r>
              <a:rPr lang="en-US" sz="1650" b="1" dirty="0">
                <a:solidFill>
                  <a:srgbClr val="152238"/>
                </a:solidFill>
                <a:latin typeface="Cambria" pitchFamily="34" charset="0"/>
                <a:ea typeface="Cambria" pitchFamily="34" charset="-122"/>
                <a:cs typeface="Cambria" pitchFamily="34" charset="-120"/>
              </a:rPr>
              <a:t>Try realistic noise</a:t>
            </a:r>
            <a:endParaRPr lang="en-US" sz="1650" dirty="0"/>
          </a:p>
        </p:txBody>
      </p:sp>
      <p:sp>
        <p:nvSpPr>
          <p:cNvPr id="20" name="Text 18"/>
          <p:cNvSpPr/>
          <p:nvPr/>
        </p:nvSpPr>
        <p:spPr>
          <a:xfrm>
            <a:off x="822960" y="4489704"/>
            <a:ext cx="4809744" cy="777240"/>
          </a:xfrm>
          <a:prstGeom prst="rect">
            <a:avLst/>
          </a:prstGeom>
          <a:noFill/>
          <a:ln/>
        </p:spPr>
        <p:txBody>
          <a:bodyPr wrap="square" lIns="0" tIns="0" rIns="0" bIns="0" rtlCol="0" anchor="ctr"/>
          <a:lstStyle/>
          <a:p>
            <a:pPr indent="0" marL="0">
              <a:lnSpc>
                <a:spcPts val="1700"/>
              </a:lnSpc>
              <a:buNone/>
            </a:pPr>
            <a:r>
              <a:rPr lang="en-US" sz="1250" dirty="0">
                <a:solidFill>
                  <a:srgbClr val="44506A"/>
                </a:solidFill>
                <a:latin typeface="Calibri" pitchFamily="34" charset="0"/>
                <a:ea typeface="Calibri" pitchFamily="34" charset="-122"/>
                <a:cs typeface="Calibri" pitchFamily="34" charset="-120"/>
              </a:rPr>
              <a:t>Ours is random noise. Real mislabelling is systematic — confusable classes get swapped — and is much harder to detect.</a:t>
            </a:r>
            <a:endParaRPr lang="en-US" sz="1250" dirty="0"/>
          </a:p>
        </p:txBody>
      </p:sp>
      <p:sp>
        <p:nvSpPr>
          <p:cNvPr id="21" name="Text 19"/>
          <p:cNvSpPr/>
          <p:nvPr/>
        </p:nvSpPr>
        <p:spPr>
          <a:xfrm>
            <a:off x="822960" y="5266944"/>
            <a:ext cx="4809744" cy="274320"/>
          </a:xfrm>
          <a:prstGeom prst="rect">
            <a:avLst/>
          </a:prstGeom>
          <a:noFill/>
          <a:ln/>
        </p:spPr>
        <p:txBody>
          <a:bodyPr wrap="square" lIns="0" tIns="0" rIns="0" bIns="0" rtlCol="0" anchor="ctr"/>
          <a:lstStyle/>
          <a:p>
            <a:pPr indent="0" marL="0">
              <a:buNone/>
            </a:pPr>
            <a:r>
              <a:rPr lang="en-US" sz="1100" b="1" i="1" dirty="0">
                <a:solidFill>
                  <a:srgbClr val="C97B1E"/>
                </a:solidFill>
                <a:latin typeface="Calibri" pitchFamily="34" charset="0"/>
                <a:ea typeface="Calibri" pitchFamily="34" charset="-122"/>
                <a:cs typeface="Calibri" pitchFamily="34" charset="-120"/>
              </a:rPr>
              <a:t>harder test</a:t>
            </a:r>
            <a:endParaRPr lang="en-US" sz="1100" dirty="0"/>
          </a:p>
        </p:txBody>
      </p:sp>
      <p:sp>
        <p:nvSpPr>
          <p:cNvPr id="22" name="Shape 20"/>
          <p:cNvSpPr/>
          <p:nvPr/>
        </p:nvSpPr>
        <p:spPr>
          <a:xfrm>
            <a:off x="6263640" y="3694176"/>
            <a:ext cx="5358384" cy="1975104"/>
          </a:xfrm>
          <a:prstGeom prst="roundRect">
            <a:avLst>
              <a:gd name="adj" fmla="val 5556"/>
            </a:avLst>
          </a:prstGeom>
          <a:solidFill>
            <a:srgbClr val="FFFFFF"/>
          </a:solidFill>
          <a:ln w="12700">
            <a:solidFill>
              <a:srgbClr val="D8E0EA"/>
            </a:solidFill>
            <a:prstDash val="solid"/>
          </a:ln>
          <a:effectLst>
            <a:outerShdw sx="100000" sy="100000" kx="0" ky="0" algn="bl" rotWithShape="0" blurRad="127000" dist="25400" dir="5400000">
              <a:srgbClr val="9AA6B8">
                <a:alpha val="28000"/>
              </a:srgbClr>
            </a:outerShdw>
          </a:effectLst>
        </p:spPr>
      </p:sp>
      <p:sp>
        <p:nvSpPr>
          <p:cNvPr id="23" name="Shape 21"/>
          <p:cNvSpPr/>
          <p:nvPr/>
        </p:nvSpPr>
        <p:spPr>
          <a:xfrm>
            <a:off x="6537960" y="3931920"/>
            <a:ext cx="457200" cy="457200"/>
          </a:xfrm>
          <a:prstGeom prst="ellipse">
            <a:avLst/>
          </a:prstGeom>
          <a:solidFill>
            <a:srgbClr val="8A93A6"/>
          </a:solidFill>
          <a:ln w="12700">
            <a:solidFill>
              <a:srgbClr val="8A93A6"/>
            </a:solidFill>
            <a:prstDash val="solid"/>
          </a:ln>
        </p:spPr>
      </p:sp>
      <p:sp>
        <p:nvSpPr>
          <p:cNvPr id="24" name="Text 22"/>
          <p:cNvSpPr/>
          <p:nvPr/>
        </p:nvSpPr>
        <p:spPr>
          <a:xfrm>
            <a:off x="6537960" y="393192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25" name="Text 23"/>
          <p:cNvSpPr/>
          <p:nvPr/>
        </p:nvSpPr>
        <p:spPr>
          <a:xfrm>
            <a:off x="7123176" y="3931920"/>
            <a:ext cx="4206240" cy="457200"/>
          </a:xfrm>
          <a:prstGeom prst="rect">
            <a:avLst/>
          </a:prstGeom>
          <a:noFill/>
          <a:ln/>
        </p:spPr>
        <p:txBody>
          <a:bodyPr wrap="square" lIns="0" tIns="0" rIns="0" bIns="0" rtlCol="0" anchor="ctr"/>
          <a:lstStyle/>
          <a:p>
            <a:pPr indent="0" marL="0">
              <a:buNone/>
            </a:pPr>
            <a:r>
              <a:rPr lang="en-US" sz="1650" b="1" dirty="0">
                <a:solidFill>
                  <a:srgbClr val="152238"/>
                </a:solidFill>
                <a:latin typeface="Cambria" pitchFamily="34" charset="0"/>
                <a:ea typeface="Cambria" pitchFamily="34" charset="-122"/>
                <a:cs typeface="Cambria" pitchFamily="34" charset="-120"/>
              </a:rPr>
              <a:t>Test where margins should shine</a:t>
            </a:r>
            <a:endParaRPr lang="en-US" sz="1650" dirty="0"/>
          </a:p>
        </p:txBody>
      </p:sp>
      <p:sp>
        <p:nvSpPr>
          <p:cNvPr id="26" name="Text 24"/>
          <p:cNvSpPr/>
          <p:nvPr/>
        </p:nvSpPr>
        <p:spPr>
          <a:xfrm>
            <a:off x="6537960" y="4489704"/>
            <a:ext cx="4809744" cy="777240"/>
          </a:xfrm>
          <a:prstGeom prst="rect">
            <a:avLst/>
          </a:prstGeom>
          <a:noFill/>
          <a:ln/>
        </p:spPr>
        <p:txBody>
          <a:bodyPr wrap="square" lIns="0" tIns="0" rIns="0" bIns="0" rtlCol="0" anchor="ctr"/>
          <a:lstStyle/>
          <a:p>
            <a:pPr indent="0" marL="0">
              <a:lnSpc>
                <a:spcPts val="1700"/>
              </a:lnSpc>
              <a:buNone/>
            </a:pPr>
            <a:r>
              <a:rPr lang="en-US" sz="1250" dirty="0">
                <a:solidFill>
                  <a:srgbClr val="44506A"/>
                </a:solidFill>
                <a:latin typeface="Calibri" pitchFamily="34" charset="0"/>
                <a:ea typeface="Calibri" pitchFamily="34" charset="-122"/>
                <a:cs typeface="Calibri" pitchFamily="34" charset="-120"/>
              </a:rPr>
              <a:t>Thousands of classes, or heavily imbalanced data — the regimes where skipping easy answers actually matters.</a:t>
            </a:r>
            <a:endParaRPr lang="en-US" sz="1250" dirty="0"/>
          </a:p>
        </p:txBody>
      </p:sp>
      <p:sp>
        <p:nvSpPr>
          <p:cNvPr id="27" name="Text 25"/>
          <p:cNvSpPr/>
          <p:nvPr/>
        </p:nvSpPr>
        <p:spPr>
          <a:xfrm>
            <a:off x="6537960" y="5266944"/>
            <a:ext cx="4809744" cy="274320"/>
          </a:xfrm>
          <a:prstGeom prst="rect">
            <a:avLst/>
          </a:prstGeom>
          <a:noFill/>
          <a:ln/>
        </p:spPr>
        <p:txBody>
          <a:bodyPr wrap="square" lIns="0" tIns="0" rIns="0" bIns="0" rtlCol="0" anchor="ctr"/>
          <a:lstStyle/>
          <a:p>
            <a:pPr indent="0" marL="0">
              <a:buNone/>
            </a:pPr>
            <a:r>
              <a:rPr lang="en-US" sz="1100" b="1" i="1" dirty="0">
                <a:solidFill>
                  <a:srgbClr val="8A93A6"/>
                </a:solidFill>
                <a:latin typeface="Calibri" pitchFamily="34" charset="0"/>
                <a:ea typeface="Calibri" pitchFamily="34" charset="-122"/>
                <a:cs typeface="Calibri" pitchFamily="34" charset="-120"/>
              </a:rPr>
              <a:t>beyond our GPU</a:t>
            </a:r>
            <a:endParaRPr lang="en-US" sz="1100" dirty="0"/>
          </a:p>
        </p:txBody>
      </p:sp>
      <p:sp>
        <p:nvSpPr>
          <p:cNvPr id="28" name="Text 26"/>
          <p:cNvSpPr/>
          <p:nvPr/>
        </p:nvSpPr>
        <p:spPr>
          <a:xfrm>
            <a:off x="548640" y="5943600"/>
            <a:ext cx="11064240" cy="310896"/>
          </a:xfrm>
          <a:prstGeom prst="rect">
            <a:avLst/>
          </a:prstGeom>
          <a:noFill/>
          <a:ln/>
        </p:spPr>
        <p:txBody>
          <a:bodyPr wrap="square" lIns="0" tIns="0" rIns="0" bIns="0" rtlCol="0" anchor="ctr"/>
          <a:lstStyle/>
          <a:p>
            <a:pPr algn="ctr" indent="0" marL="0">
              <a:buNone/>
            </a:pPr>
            <a:r>
              <a:rPr lang="en-US" sz="1250" i="1" dirty="0">
                <a:solidFill>
                  <a:srgbClr val="8A93A6"/>
                </a:solidFill>
                <a:latin typeface="Calibri" pitchFamily="34" charset="0"/>
                <a:ea typeface="Calibri" pitchFamily="34" charset="-122"/>
                <a:cs typeface="Calibri" pitchFamily="34" charset="-120"/>
              </a:rPr>
              <a:t>Everything is reproducible: one command per experiment, results written as machine-readable records.</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52238"/>
        </a:solidFill>
      </p:bgPr>
    </p:bg>
    <p:spTree>
      <p:nvGrpSpPr>
        <p:cNvPr id="1" name=""/>
        <p:cNvGrpSpPr/>
        <p:nvPr/>
      </p:nvGrpSpPr>
      <p:grpSpPr>
        <a:xfrm>
          <a:off x="0" y="0"/>
          <a:ext cx="0" cy="0"/>
          <a:chOff x="0" y="0"/>
          <a:chExt cx="0" cy="0"/>
        </a:xfrm>
      </p:grpSpPr>
      <p:sp>
        <p:nvSpPr>
          <p:cNvPr id="2" name="Text 0"/>
          <p:cNvSpPr/>
          <p:nvPr/>
        </p:nvSpPr>
        <p:spPr>
          <a:xfrm>
            <a:off x="777240" y="1417320"/>
            <a:ext cx="10607040" cy="82296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Thank you</a:t>
            </a:r>
            <a:endParaRPr lang="en-US" sz="4200" dirty="0"/>
          </a:p>
        </p:txBody>
      </p:sp>
      <p:sp>
        <p:nvSpPr>
          <p:cNvPr id="3" name="Text 1"/>
          <p:cNvSpPr/>
          <p:nvPr/>
        </p:nvSpPr>
        <p:spPr>
          <a:xfrm>
            <a:off x="777240" y="2212848"/>
            <a:ext cx="10607040" cy="365760"/>
          </a:xfrm>
          <a:prstGeom prst="rect">
            <a:avLst/>
          </a:prstGeom>
          <a:noFill/>
          <a:ln/>
        </p:spPr>
        <p:txBody>
          <a:bodyPr wrap="square" lIns="0" tIns="0" rIns="0" bIns="0" rtlCol="0" anchor="ctr"/>
          <a:lstStyle/>
          <a:p>
            <a:pPr indent="0" marL="0">
              <a:buNone/>
            </a:pPr>
            <a:r>
              <a:rPr lang="en-US" sz="1600" dirty="0">
                <a:solidFill>
                  <a:srgbClr val="A9B6CC"/>
                </a:solidFill>
                <a:latin typeface="Calibri" pitchFamily="34" charset="0"/>
                <a:ea typeface="Calibri" pitchFamily="34" charset="-122"/>
                <a:cs typeface="Calibri" pitchFamily="34" charset="-120"/>
              </a:rPr>
              <a:t>Questions welcome — including the sceptical ones.</a:t>
            </a:r>
            <a:endParaRPr lang="en-US" sz="1600" dirty="0"/>
          </a:p>
        </p:txBody>
      </p:sp>
      <p:sp>
        <p:nvSpPr>
          <p:cNvPr id="4" name="Shape 2"/>
          <p:cNvSpPr/>
          <p:nvPr/>
        </p:nvSpPr>
        <p:spPr>
          <a:xfrm>
            <a:off x="777240" y="3063240"/>
            <a:ext cx="10607040" cy="804672"/>
          </a:xfrm>
          <a:prstGeom prst="roundRect">
            <a:avLst>
              <a:gd name="adj" fmla="val 11364"/>
            </a:avLst>
          </a:prstGeom>
          <a:solidFill>
            <a:srgbClr val="24354F"/>
          </a:solidFill>
          <a:ln w="12700">
            <a:solidFill>
              <a:srgbClr val="35496B"/>
            </a:solidFill>
            <a:prstDash val="solid"/>
          </a:ln>
        </p:spPr>
      </p:sp>
      <p:sp>
        <p:nvSpPr>
          <p:cNvPr id="5" name="Shape 3"/>
          <p:cNvSpPr/>
          <p:nvPr/>
        </p:nvSpPr>
        <p:spPr>
          <a:xfrm>
            <a:off x="1051560" y="3246120"/>
            <a:ext cx="438912" cy="438912"/>
          </a:xfrm>
          <a:prstGeom prst="ellipse">
            <a:avLst/>
          </a:prstGeom>
          <a:solidFill>
            <a:srgbClr val="6FD8C9"/>
          </a:solidFill>
          <a:ln w="12700">
            <a:solidFill>
              <a:srgbClr val="6FD8C9"/>
            </a:solidFill>
            <a:prstDash val="solid"/>
          </a:ln>
        </p:spPr>
      </p:sp>
      <p:sp>
        <p:nvSpPr>
          <p:cNvPr id="6" name="Text 4"/>
          <p:cNvSpPr/>
          <p:nvPr/>
        </p:nvSpPr>
        <p:spPr>
          <a:xfrm>
            <a:off x="1051560" y="3246120"/>
            <a:ext cx="438912" cy="438912"/>
          </a:xfrm>
          <a:prstGeom prst="rect">
            <a:avLst/>
          </a:prstGeom>
          <a:noFill/>
          <a:ln/>
        </p:spPr>
        <p:txBody>
          <a:bodyPr wrap="square" lIns="0" tIns="0" rIns="0" bIns="0" rtlCol="0" anchor="ctr"/>
          <a:lstStyle/>
          <a:p>
            <a:pPr algn="ctr" indent="0" marL="0">
              <a:buNone/>
            </a:pPr>
            <a:r>
              <a:rPr lang="en-US" sz="1700" b="1" dirty="0">
                <a:solidFill>
                  <a:srgbClr val="152238"/>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645920" y="3163824"/>
            <a:ext cx="95097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 margin can be negative.</a:t>
            </a:r>
            <a:endParaRPr lang="en-US" sz="1500" dirty="0"/>
          </a:p>
        </p:txBody>
      </p:sp>
      <p:sp>
        <p:nvSpPr>
          <p:cNvPr id="8" name="Text 6"/>
          <p:cNvSpPr/>
          <p:nvPr/>
        </p:nvSpPr>
        <p:spPr>
          <a:xfrm>
            <a:off x="1645920" y="3474720"/>
            <a:ext cx="9509760" cy="292608"/>
          </a:xfrm>
          <a:prstGeom prst="rect">
            <a:avLst/>
          </a:prstGeom>
          <a:noFill/>
          <a:ln/>
        </p:spPr>
        <p:txBody>
          <a:bodyPr wrap="square" lIns="0" tIns="0" rIns="0" bIns="0" rtlCol="0" anchor="ctr"/>
          <a:lstStyle/>
          <a:p>
            <a:pPr indent="0" marL="0">
              <a:buNone/>
            </a:pPr>
            <a:r>
              <a:rPr lang="en-US" sz="1200" dirty="0">
                <a:solidFill>
                  <a:srgbClr val="A9B6CC"/>
                </a:solidFill>
                <a:latin typeface="Calibri" pitchFamily="34" charset="0"/>
                <a:ea typeface="Calibri" pitchFamily="34" charset="-122"/>
                <a:cs typeface="Calibri" pitchFamily="34" charset="-120"/>
              </a:rPr>
              <a:t>and if you let it be, discarding suspicious training examples becomes a special case of a margin</a:t>
            </a:r>
            <a:endParaRPr lang="en-US" sz="1200" dirty="0"/>
          </a:p>
        </p:txBody>
      </p:sp>
      <p:sp>
        <p:nvSpPr>
          <p:cNvPr id="9" name="Shape 7"/>
          <p:cNvSpPr/>
          <p:nvPr/>
        </p:nvSpPr>
        <p:spPr>
          <a:xfrm>
            <a:off x="777240" y="3995928"/>
            <a:ext cx="10607040" cy="804672"/>
          </a:xfrm>
          <a:prstGeom prst="roundRect">
            <a:avLst>
              <a:gd name="adj" fmla="val 11364"/>
            </a:avLst>
          </a:prstGeom>
          <a:solidFill>
            <a:srgbClr val="24354F"/>
          </a:solidFill>
          <a:ln w="12700">
            <a:solidFill>
              <a:srgbClr val="35496B"/>
            </a:solidFill>
            <a:prstDash val="solid"/>
          </a:ln>
        </p:spPr>
      </p:sp>
      <p:sp>
        <p:nvSpPr>
          <p:cNvPr id="10" name="Shape 8"/>
          <p:cNvSpPr/>
          <p:nvPr/>
        </p:nvSpPr>
        <p:spPr>
          <a:xfrm>
            <a:off x="1051560" y="4178808"/>
            <a:ext cx="438912" cy="438912"/>
          </a:xfrm>
          <a:prstGeom prst="ellipse">
            <a:avLst/>
          </a:prstGeom>
          <a:solidFill>
            <a:srgbClr val="6FD8C9"/>
          </a:solidFill>
          <a:ln w="12700">
            <a:solidFill>
              <a:srgbClr val="6FD8C9"/>
            </a:solidFill>
            <a:prstDash val="solid"/>
          </a:ln>
        </p:spPr>
      </p:sp>
      <p:sp>
        <p:nvSpPr>
          <p:cNvPr id="11" name="Text 9"/>
          <p:cNvSpPr/>
          <p:nvPr/>
        </p:nvSpPr>
        <p:spPr>
          <a:xfrm>
            <a:off x="1051560" y="4178808"/>
            <a:ext cx="438912" cy="438912"/>
          </a:xfrm>
          <a:prstGeom prst="rect">
            <a:avLst/>
          </a:prstGeom>
          <a:noFill/>
          <a:ln/>
        </p:spPr>
        <p:txBody>
          <a:bodyPr wrap="square" lIns="0" tIns="0" rIns="0" bIns="0" rtlCol="0" anchor="ctr"/>
          <a:lstStyle/>
          <a:p>
            <a:pPr algn="ctr" indent="0" marL="0">
              <a:buNone/>
            </a:pPr>
            <a:r>
              <a:rPr lang="en-US" sz="1700" b="1" dirty="0">
                <a:solidFill>
                  <a:srgbClr val="152238"/>
                </a:solidFill>
                <a:latin typeface="Calibri" pitchFamily="34" charset="0"/>
                <a:ea typeface="Calibri" pitchFamily="34" charset="-122"/>
                <a:cs typeface="Calibri" pitchFamily="34" charset="-120"/>
              </a:rPr>
              <a:t>2</a:t>
            </a:r>
            <a:endParaRPr lang="en-US" sz="1700" dirty="0"/>
          </a:p>
        </p:txBody>
      </p:sp>
      <p:sp>
        <p:nvSpPr>
          <p:cNvPr id="12" name="Text 10"/>
          <p:cNvSpPr/>
          <p:nvPr/>
        </p:nvSpPr>
        <p:spPr>
          <a:xfrm>
            <a:off x="1645920" y="4096512"/>
            <a:ext cx="95097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It cut memorisation of wrong labels ~4×.</a:t>
            </a:r>
            <a:endParaRPr lang="en-US" sz="1500" dirty="0"/>
          </a:p>
        </p:txBody>
      </p:sp>
      <p:sp>
        <p:nvSpPr>
          <p:cNvPr id="13" name="Text 11"/>
          <p:cNvSpPr/>
          <p:nvPr/>
        </p:nvSpPr>
        <p:spPr>
          <a:xfrm>
            <a:off x="1645920" y="4407408"/>
            <a:ext cx="9509760" cy="292608"/>
          </a:xfrm>
          <a:prstGeom prst="rect">
            <a:avLst/>
          </a:prstGeom>
          <a:noFill/>
          <a:ln/>
        </p:spPr>
        <p:txBody>
          <a:bodyPr wrap="square" lIns="0" tIns="0" rIns="0" bIns="0" rtlCol="0" anchor="ctr"/>
          <a:lstStyle/>
          <a:p>
            <a:pPr indent="0" marL="0">
              <a:buNone/>
            </a:pPr>
            <a:r>
              <a:rPr lang="en-US" sz="1200" dirty="0">
                <a:solidFill>
                  <a:srgbClr val="A9B6CC"/>
                </a:solidFill>
                <a:latin typeface="Calibri" pitchFamily="34" charset="0"/>
                <a:ea typeface="Calibri" pitchFamily="34" charset="-122"/>
                <a:cs typeface="Calibri" pitchFamily="34" charset="-120"/>
              </a:rPr>
              <a:t>replicated on both runs, with the mechanism understood</a:t>
            </a:r>
            <a:endParaRPr lang="en-US" sz="1200" dirty="0"/>
          </a:p>
        </p:txBody>
      </p:sp>
      <p:sp>
        <p:nvSpPr>
          <p:cNvPr id="14" name="Shape 12"/>
          <p:cNvSpPr/>
          <p:nvPr/>
        </p:nvSpPr>
        <p:spPr>
          <a:xfrm>
            <a:off x="777240" y="4928616"/>
            <a:ext cx="10607040" cy="804672"/>
          </a:xfrm>
          <a:prstGeom prst="roundRect">
            <a:avLst>
              <a:gd name="adj" fmla="val 11364"/>
            </a:avLst>
          </a:prstGeom>
          <a:solidFill>
            <a:srgbClr val="24354F"/>
          </a:solidFill>
          <a:ln w="12700">
            <a:solidFill>
              <a:srgbClr val="35496B"/>
            </a:solidFill>
            <a:prstDash val="solid"/>
          </a:ln>
        </p:spPr>
      </p:sp>
      <p:sp>
        <p:nvSpPr>
          <p:cNvPr id="15" name="Shape 13"/>
          <p:cNvSpPr/>
          <p:nvPr/>
        </p:nvSpPr>
        <p:spPr>
          <a:xfrm>
            <a:off x="1051560" y="5111496"/>
            <a:ext cx="438912" cy="438912"/>
          </a:xfrm>
          <a:prstGeom prst="ellipse">
            <a:avLst/>
          </a:prstGeom>
          <a:solidFill>
            <a:srgbClr val="FF8A8F"/>
          </a:solidFill>
          <a:ln w="12700">
            <a:solidFill>
              <a:srgbClr val="FF8A8F"/>
            </a:solidFill>
            <a:prstDash val="solid"/>
          </a:ln>
        </p:spPr>
      </p:sp>
      <p:sp>
        <p:nvSpPr>
          <p:cNvPr id="16" name="Text 14"/>
          <p:cNvSpPr/>
          <p:nvPr/>
        </p:nvSpPr>
        <p:spPr>
          <a:xfrm>
            <a:off x="1051560" y="5111496"/>
            <a:ext cx="438912" cy="438912"/>
          </a:xfrm>
          <a:prstGeom prst="rect">
            <a:avLst/>
          </a:prstGeom>
          <a:noFill/>
          <a:ln/>
        </p:spPr>
        <p:txBody>
          <a:bodyPr wrap="square" lIns="0" tIns="0" rIns="0" bIns="0" rtlCol="0" anchor="ctr"/>
          <a:lstStyle/>
          <a:p>
            <a:pPr algn="ctr" indent="0" marL="0">
              <a:buNone/>
            </a:pPr>
            <a:r>
              <a:rPr lang="en-US" sz="1700" b="1" dirty="0">
                <a:solidFill>
                  <a:srgbClr val="152238"/>
                </a:solidFill>
                <a:latin typeface="Calibri" pitchFamily="34" charset="0"/>
                <a:ea typeface="Calibri" pitchFamily="34" charset="-122"/>
                <a:cs typeface="Calibri" pitchFamily="34" charset="-120"/>
              </a:rPr>
              <a:t>3</a:t>
            </a:r>
            <a:endParaRPr lang="en-US" sz="1700" dirty="0"/>
          </a:p>
        </p:txBody>
      </p:sp>
      <p:sp>
        <p:nvSpPr>
          <p:cNvPr id="17" name="Text 15"/>
          <p:cNvSpPr/>
          <p:nvPr/>
        </p:nvSpPr>
        <p:spPr>
          <a:xfrm>
            <a:off x="1645920" y="5029200"/>
            <a:ext cx="95097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It did not improve peak accuracy.</a:t>
            </a:r>
            <a:endParaRPr lang="en-US" sz="1500" dirty="0"/>
          </a:p>
        </p:txBody>
      </p:sp>
      <p:sp>
        <p:nvSpPr>
          <p:cNvPr id="18" name="Text 16"/>
          <p:cNvSpPr/>
          <p:nvPr/>
        </p:nvSpPr>
        <p:spPr>
          <a:xfrm>
            <a:off x="1645920" y="5340096"/>
            <a:ext cx="9509760" cy="292608"/>
          </a:xfrm>
          <a:prstGeom prst="rect">
            <a:avLst/>
          </a:prstGeom>
          <a:noFill/>
          <a:ln/>
        </p:spPr>
        <p:txBody>
          <a:bodyPr wrap="square" lIns="0" tIns="0" rIns="0" bIns="0" rtlCol="0" anchor="ctr"/>
          <a:lstStyle/>
          <a:p>
            <a:pPr indent="0" marL="0">
              <a:buNone/>
            </a:pPr>
            <a:r>
              <a:rPr lang="en-US" sz="1200" dirty="0">
                <a:solidFill>
                  <a:srgbClr val="A9B6CC"/>
                </a:solidFill>
                <a:latin typeface="Calibri" pitchFamily="34" charset="0"/>
                <a:ea typeface="Calibri" pitchFamily="34" charset="-122"/>
                <a:cs typeface="Calibri" pitchFamily="34" charset="-120"/>
              </a:rPr>
              <a:t>our original hypothesis was wrong, and we report it that way</a:t>
            </a:r>
            <a:endParaRPr lang="en-US" sz="1200" dirty="0"/>
          </a:p>
        </p:txBody>
      </p:sp>
      <p:sp>
        <p:nvSpPr>
          <p:cNvPr id="19" name="Text 17"/>
          <p:cNvSpPr/>
          <p:nvPr/>
        </p:nvSpPr>
        <p:spPr>
          <a:xfrm>
            <a:off x="777240" y="6080760"/>
            <a:ext cx="10607040" cy="292608"/>
          </a:xfrm>
          <a:prstGeom prst="rect">
            <a:avLst/>
          </a:prstGeom>
          <a:noFill/>
          <a:ln/>
        </p:spPr>
        <p:txBody>
          <a:bodyPr wrap="square" lIns="0" tIns="0" rIns="0" bIns="0" rtlCol="0" anchor="ctr"/>
          <a:lstStyle/>
          <a:p>
            <a:pPr indent="0" marL="0">
              <a:buNone/>
            </a:pPr>
            <a:r>
              <a:rPr lang="en-US" sz="1200" dirty="0">
                <a:solidFill>
                  <a:srgbClr val="7C8AA5"/>
                </a:solidFill>
                <a:latin typeface="Calibri" pitchFamily="34" charset="0"/>
                <a:ea typeface="Calibri" pitchFamily="34" charset="-122"/>
                <a:cs typeface="Calibri" pitchFamily="34" charset="-120"/>
              </a:rPr>
              <a:t>Code, full report and every result table:   FINAL_REPORT.md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GAM-Softmax</dc:title>
  <dc:subject>PptxGenJS Presentation</dc:subject>
  <dc:creator>Ashish Gupta</dc:creator>
  <cp:lastModifiedBy>Ashish Gupta</cp:lastModifiedBy>
  <cp:revision>1</cp:revision>
  <dcterms:created xsi:type="dcterms:W3CDTF">2026-07-31T15:37:09Z</dcterms:created>
  <dcterms:modified xsi:type="dcterms:W3CDTF">2026-07-31T15:37:09Z</dcterms:modified>
</cp:coreProperties>
</file>