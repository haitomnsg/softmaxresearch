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4506A"/>
                </a:solidFill>
                <a:latin typeface="Calibri"/>
              </a:defRPr>
            </a:pPr>
            <a:r>
              <a:rPr sz="1200" b="0" i="0" u="none" strike="noStrike">
                <a:solidFill>
                  <a:srgbClr val="44506A"/>
                </a:solidFill>
                <a:latin typeface="Calibri"/>
              </a:rPr>
              <a:t>How much of the wrong labels did it memorise?  (lower is better)</a:t>
            </a:r>
          </a:p>
        </c:rich>
      </c:tx>
      <c:layout/>
      <c:overlay val="0"/>
    </c:title>
    <c:autoTitleDeleted val="0"/>
    <c:plotArea>
      <c:layout/>
      <c:lineChart>
        <c:varyColors val="0"/>
        <c:ser>
          <c:idx val="0"/>
          <c:order val="0"/>
          <c:tx>
            <c:strRef>
              <c:f>Sheet1!$B$1</c:f>
              <c:strCache>
                <c:ptCount val="1"/>
                <c:pt idx="0">
                  <c:v>Plain cross-entropy</c:v>
                </c:pt>
              </c:strCache>
            </c:strRef>
          </c:tx>
          <c:spPr>
            <a:solidFill>
              <a:srgbClr val="8A93A6"/>
            </a:solidFill>
            <a:ln w="38100" cap="flat">
              <a:solidFill>
                <a:srgbClr val="8A93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93A6"/>
              </a:solidFill>
              <a:ln w="9525" cap="flat">
                <a:solidFill>
                  <a:srgbClr val="8A93A6"/>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Sheet1!$B$2:$B$5</c:f>
              <c:numCache>
                <c:formatCode>General</c:formatCode>
                <c:ptCount val="4"/>
                <c:pt idx="0">
                  <c:v>3.5</c:v>
                </c:pt>
                <c:pt idx="1">
                  <c:v>10</c:v>
                </c:pt>
                <c:pt idx="2">
                  <c:v>17.8</c:v>
                </c:pt>
                <c:pt idx="3">
                  <c:v>33.7</c:v>
                </c:pt>
              </c:numCache>
            </c:numRef>
          </c:val>
          <c:smooth val="0"/>
        </c:ser>
        <c:ser>
          <c:idx val="1"/>
          <c:order val="1"/>
          <c:tx>
            <c:strRef>
              <c:f>Sheet1!$C$1</c:f>
              <c:strCache>
                <c:ptCount val="1"/>
                <c:pt idx="0">
                  <c:v>AS-Softmax</c:v>
                </c:pt>
              </c:strCache>
            </c:strRef>
          </c:tx>
          <c:spPr>
            <a:solidFill>
              <a:srgbClr val="C1121F"/>
            </a:solidFill>
            <a:ln w="38100" cap="flat">
              <a:solidFill>
                <a:srgbClr val="C112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1121F"/>
              </a:solidFill>
              <a:ln w="9525" cap="flat">
                <a:solidFill>
                  <a:srgbClr val="C1121F"/>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Sheet1!$C$2:$C$5</c:f>
              <c:numCache>
                <c:formatCode>General</c:formatCode>
                <c:ptCount val="4"/>
                <c:pt idx="0">
                  <c:v>4</c:v>
                </c:pt>
                <c:pt idx="1">
                  <c:v>9.8</c:v>
                </c:pt>
                <c:pt idx="2">
                  <c:v>18.9</c:v>
                </c:pt>
                <c:pt idx="3">
                  <c:v>39.9</c:v>
                </c:pt>
              </c:numCache>
            </c:numRef>
          </c:val>
          <c:smooth val="0"/>
        </c:ser>
        <c:ser>
          <c:idx val="2"/>
          <c:order val="2"/>
          <c:tx>
            <c:strRef>
              <c:f>Sheet1!$D$1</c:f>
              <c:strCache>
                <c:ptCount val="1"/>
                <c:pt idx="0">
                  <c:v>Ours: class-pair gap</c:v>
                </c:pt>
              </c:strCache>
            </c:strRef>
          </c:tx>
          <c:spPr>
            <a:solidFill>
              <a:srgbClr val="C97B1E"/>
            </a:solidFill>
            <a:ln w="38100" cap="flat">
              <a:solidFill>
                <a:srgbClr val="C97B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7B1E"/>
              </a:solidFill>
              <a:ln w="9525" cap="flat">
                <a:solidFill>
                  <a:srgbClr val="C97B1E"/>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Sheet1!$D$2:$D$5</c:f>
              <c:numCache>
                <c:formatCode>General</c:formatCode>
                <c:ptCount val="4"/>
                <c:pt idx="0">
                  <c:v>3.6</c:v>
                </c:pt>
                <c:pt idx="1">
                  <c:v>8.4</c:v>
                </c:pt>
                <c:pt idx="2">
                  <c:v>17.3</c:v>
                </c:pt>
                <c:pt idx="3">
                  <c:v>35.2</c:v>
                </c:pt>
              </c:numCache>
            </c:numRef>
          </c:val>
          <c:smooth val="0"/>
        </c:ser>
        <c:ser>
          <c:idx val="3"/>
          <c:order val="3"/>
          <c:tx>
            <c:strRef>
              <c:f>Sheet1!$E$1</c:f>
              <c:strCache>
                <c:ptCount val="1"/>
                <c:pt idx="0">
                  <c:v>Ours: sample gap</c:v>
                </c:pt>
              </c:strCache>
            </c:strRef>
          </c:tx>
          <c:spPr>
            <a:solidFill>
              <a:srgbClr val="12897B"/>
            </a:solidFill>
            <a:ln w="38100" cap="flat">
              <a:solidFill>
                <a:srgbClr val="1289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2897B"/>
              </a:solidFill>
              <a:ln w="9525" cap="flat">
                <a:solidFill>
                  <a:srgbClr val="12897B"/>
                </a:solidFill>
                <a:prstDash val="solid"/>
                <a:round/>
              </a:ln>
              <a:effectLst/>
            </c:spPr>
          </c:marker>
          <c:cat>
            <c:multiLvlStrRef>
              <c:f>Sheet1!$A$2:$A$5</c:f>
              <c:multiLvlStrCache>
                <c:ptCount val="4"/>
                <c:lvl>
                  <c:pt idx="0">
                    <c:v>Epoch 1</c:v>
                  </c:pt>
                  <c:pt idx="1">
                    <c:v>Epoch 2</c:v>
                  </c:pt>
                  <c:pt idx="2">
                    <c:v>Epoch 3</c:v>
                  </c:pt>
                  <c:pt idx="3">
                    <c:v>Epoch 4</c:v>
                  </c:pt>
                </c:lvl>
              </c:multiLvlStrCache>
            </c:multiLvlStrRef>
          </c:cat>
          <c:val>
            <c:numRef>
              <c:f>Sheet1!$E$2:$E$5</c:f>
              <c:numCache>
                <c:formatCode>General</c:formatCode>
                <c:ptCount val="4"/>
                <c:pt idx="0">
                  <c:v>4</c:v>
                </c:pt>
                <c:pt idx="1">
                  <c:v>10.2</c:v>
                </c:pt>
                <c:pt idx="2">
                  <c:v>15.4</c:v>
                </c:pt>
                <c:pt idx="3">
                  <c:v>19.3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A93A6"/>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6EAF0"/>
              </a:solidFill>
              <a:prstDash val="solid"/>
              <a:round/>
            </a:ln>
          </c:spPr>
        </c:majorGridlines>
        <c:title>
          <c:tx>
            <c:rich>
              <a:bodyPr/>
              <a:lstStyle/>
              <a:p>
                <a:pPr>
                  <a:defRPr sz="1000" b="0" i="0" u="none" strike="noStrike">
                    <a:solidFill>
                      <a:srgbClr val="8A93A6"/>
                    </a:solidFill>
                    <a:latin typeface="Calibri"/>
                  </a:defRPr>
                </a:pPr>
                <a:r>
                  <a:rPr sz="1000" b="0" i="0" u="none" strike="noStrike">
                    <a:solidFill>
                      <a:srgbClr val="8A93A6"/>
                    </a:solidFill>
                    <a:latin typeface="Calibri"/>
                  </a:rPr>
                  <a:t>% of corrupted examples memorised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A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   clock 0:30]
Hi everyone. This is a research project on classification loss functions.
The one-line version: there's a published method that replaces the usual training objective with a 'margin' rule. We tried to make that margin smarter. I'll tell you what we tried, what failed, and the one thing that actually worked.
I'm going to start from the absolute basics, so nobody gets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[35s   ·   clock 1:05]
Simplest possible framing. A classifier is a student answering multiple-choice questions.
For each question it scores every option, and softmax squashes those scores into percentages that sum to 100.
Here the model reads a bad film review and puts 55% on 'very negative'. It's right — because 'very negative' is AHEAD of everything else.
Key point to plant now: being right only requires being ahead. It does NOT require 100%. That gap is where this entire project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   clock 1:45]
Here's the problem. Standard training — cross-entropy — is never satisfied.
Left: the model is already right, 55% on the correct answer. Test passed.
Right: cross-entropy keeps pushing anyway, to 99%. That extra work buys you nothing at test time, because the test only asked 'is it ahead?'
Three costs: wasted effort; overfitting, because to reach 99% on hard examples it starts memorising them; and the loss stops correlating with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clock 2:30]
This is the paper we build on — AS-Softmax, 2023.
Their fix: don't demand 100%, demand a gap. Once the right answer beats a wrong one by delta, drop that wrong answer and stop pushing.
They reported better accuracy, better calibration, less overfitting, about 1.2x faster training — and this striking number: the correlation between loss and validation accuracy went from basically zero to minus 0.95. The loss finally tracks quality.
Tested broadly — six text datasets, images, audio.
And here is the door they leave open, our starting point: delta is ONE number, for every class pair, every example, every moment of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clock 3:15]
So here's our idea. If one gap is good, a gap that ADAPTS should be better.
Three directions it could adapt in.
One, class-pair: cat versus dog is a harder distinction than cat versus aeroplane, so they shouldn't share a gap.
Two, sample: individual examples differ. Some are ambiguous, some are just wrong.
Three, time: at the start the model is guessing, so a strict gap is dangerous. Start loose and tighten.
Important methodological point: we test these ONE AT A TIME, so if something improves we know exactly what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   clock 3:55]
Briefly, what we built — because the result only matters if the code is trustworthy.
Nine loss functions, seventy passing tests, three margin variants, all on one 6 GB laptop GPU.
Two things worth noting. There is a test proving our loss becomes EXACTLY AS-Softmax when the gap is held constant — so we always compare a strict generalisation, not a different loss. And we set the success bar in advance: beat AS-Softmax by 0.3%. Setting that before you see results is what stops you fooling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   clock 4:45]
Then we ran it, and it did not work. I want to be straight about that.
Four testbeds. Our class-pair gap never beat AS-Softmax by more than the noise between two runs of the same method. We checked whether we had simply under-tuned it — we let the gap learn harder and it got monotonically WORSE. So not a tuning problem.
The diagnosis is at the bottom, and it is the real finding. The problem was not our idea, it was underneath us: AS-Softmax itself did not reliably beat plain cross-entropy in our hands. We were generalising an advantage that was not there.
That is where a lot of projects quietly stop. We changed the question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clock 5:30]
So we changed the question — from 'is it more accurate' to 'does it resist bad labels'.
Every real dataset contains wrong labels, and a model like BERT will cheerfully memorise them. That is what wrecks accuracy late in training, and margin methods are supposed to be good at exactly this.
So: we corrupt 40% of training labels. Validation stays clean, so we always measure real quality. And every method sees the IDENTICAL corrupted labels — an exact comparison, not a statistical one.
We also added the measurement that unlocked the project: how much of the corrupted labels did the model actually memorise?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[70s   ·   clock 6:40]
This is the idea I'd most like you to take away.
A margin doesn't have to be positive. The gap between two probabilities runs from minus one to plus one, so a NEGATIVE margin is perfectly legal. It means: drop this wrong answer even if it's currently winning.
Why that's powerful — left box. Take an example whose label is wrong. The model has seen thousands of correct examples, so it correctly distrusts this label and gives it low probability. But that means nothing ever gets far enough ahead to be dropped, so the model keeps getting pushed to fit the wrong label. That IS memorisation.
Right box: with a negative gap, every competitor gets dropped, there's nothing left to train against, and the example removes itself from training.
And the nice part: 'throw away suspicious examples' is a known trick in this field. Written our way it isn't a separate trick any more — it's just a margin that went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   clock 7:40]
And this worked.
The chart is memorisation of the corrupted labels over training — lower is better.
Grey is plain cross-entropy, climbing to 34%. Red is AS-Softmax, and notice it's the WORST at 40% — I'll come back to that. Amber is our class-pair idea, no better than cross-entropy. Teal is the sample gap: it flattens out at 19%.
Roughly four times less memorisation, and at the end of training it's 2.8 points more accurate than cross-entropy. And it replicated on both random seeds — the two runs gave almost identical numbers, so this isn't a lucky seed.
One more thing worth flagging: AS-Softmax memorised MORE than plain cross-entropy, on both seeds. That contradicts the standard argument for why margin methods should help with noisy labels. That's a genuine negative finding and nobody could have seen it by looking at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clock 8:25]
A moment on rigour, because this is where a project like this earns trust or loses it.
Two runs per method is not many, so we graded every claim separately.
Confirmed: the memorisation result — both runs nearly identical, and the effect is about twenty times the measurement's own noise. Rejected: our original class-pair idea.
This row matters most. The half-point gain on best-case accuracy clears the 0.3% bar we set in advance — but one of the two runs produced the entire gap. So we do NOT claim it. It would have been easy to report and move on. It would not have replicated.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clock 9:10]
So, is it any good? Three answers.
As a defence against bad labels — yes. Real, replicated, mechanism understood.
As a general upgrade — no. Our original hypothesis was wrong and I am not going to dress that up.
And it depends: the gain only appears if you cannot early-stop on clean data — which is precisely the situation when labels are noisy. The condition and the use case coincide.
Two lessons: check the foundation first, and measure the mechanism, not just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   clock 9:40]
Four next steps, in order of value per hour.
One, about an hour of GPU: run the half-strength version. If halving the setting halves the effect, that is strong evidence the mechanism is what we say. We ran out of time.
Two, the honest one: we have not compared against methods actually built for noisy labels. Until we do, our claim stays narrow.
Three, realistic noise — real mislabelling is systematic, and harder to detect.
Four, the regimes where margins should shine: thousands of classes, or imbalanced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   clock 10:00]
Three things to take away.
A margin can be negative — and once you allow that, discarding suspicious examples becomes a special case of a margin.
That cut memorisation of wrong labels about fourfold, replicated.
And it did not improve peak accuracy — our hypothesis was wrong and we report it that way, because a negative result you can trust beats a positive one you cannot.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Text 0"/>
          <p:cNvSpPr/>
          <p:nvPr/>
        </p:nvSpPr>
        <p:spPr>
          <a:xfrm>
            <a:off x="7772400" y="3611880"/>
            <a:ext cx="4023360" cy="1737360"/>
          </a:xfrm>
          <a:prstGeom prst="rect">
            <a:avLst/>
          </a:prstGeom>
          <a:noFill/>
          <a:ln/>
        </p:spPr>
        <p:txBody>
          <a:bodyPr wrap="square" lIns="0" tIns="0" rIns="0" bIns="0" rtlCol="0" anchor="ctr"/>
          <a:lstStyle/>
          <a:p>
            <a:pPr algn="r" indent="0" marL="0">
              <a:buNone/>
            </a:pPr>
            <a:r>
              <a:rPr lang="en-US" sz="11800" b="1" dirty="0">
                <a:solidFill>
                  <a:srgbClr val="1E3050"/>
                </a:solidFill>
                <a:latin typeface="Cambria" pitchFamily="34" charset="0"/>
                <a:ea typeface="Cambria" pitchFamily="34" charset="-122"/>
                <a:cs typeface="Cambria" pitchFamily="34" charset="-120"/>
              </a:rPr>
              <a:t>δ</a:t>
            </a:r>
            <a:endParaRPr lang="en-US" sz="11800" dirty="0"/>
          </a:p>
        </p:txBody>
      </p:sp>
      <p:sp>
        <p:nvSpPr>
          <p:cNvPr id="3" name="Text 1"/>
          <p:cNvSpPr/>
          <p:nvPr/>
        </p:nvSpPr>
        <p:spPr>
          <a:xfrm>
            <a:off x="777240" y="1828800"/>
            <a:ext cx="10607040" cy="105156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GAM-Softmax</a:t>
            </a:r>
            <a:endParaRPr lang="en-US" sz="5600" dirty="0"/>
          </a:p>
        </p:txBody>
      </p:sp>
      <p:sp>
        <p:nvSpPr>
          <p:cNvPr id="4" name="Text 2"/>
          <p:cNvSpPr/>
          <p:nvPr/>
        </p:nvSpPr>
        <p:spPr>
          <a:xfrm>
            <a:off x="777240" y="2880360"/>
            <a:ext cx="10607040" cy="548640"/>
          </a:xfrm>
          <a:prstGeom prst="rect">
            <a:avLst/>
          </a:prstGeom>
          <a:noFill/>
          <a:ln/>
        </p:spPr>
        <p:txBody>
          <a:bodyPr wrap="square" lIns="0" tIns="0" rIns="0" bIns="0" rtlCol="0" anchor="ctr"/>
          <a:lstStyle/>
          <a:p>
            <a:pPr indent="0" marL="0">
              <a:buNone/>
            </a:pPr>
            <a:r>
              <a:rPr lang="en-US" sz="2500" dirty="0">
                <a:solidFill>
                  <a:srgbClr val="6FD8C9"/>
                </a:solidFill>
                <a:latin typeface="Cambria" pitchFamily="34" charset="0"/>
                <a:ea typeface="Cambria" pitchFamily="34" charset="-122"/>
                <a:cs typeface="Cambria" pitchFamily="34" charset="-120"/>
              </a:rPr>
              <a:t>Can a smarter margin beat plain cross-entropy?</a:t>
            </a:r>
            <a:endParaRPr lang="en-US" sz="2500" dirty="0"/>
          </a:p>
        </p:txBody>
      </p:sp>
      <p:sp>
        <p:nvSpPr>
          <p:cNvPr id="5" name="Shape 3"/>
          <p:cNvSpPr/>
          <p:nvPr/>
        </p:nvSpPr>
        <p:spPr>
          <a:xfrm>
            <a:off x="777240" y="3767328"/>
            <a:ext cx="4754880" cy="566928"/>
          </a:xfrm>
          <a:prstGeom prst="roundRect">
            <a:avLst>
              <a:gd name="adj" fmla="val 22581"/>
            </a:avLst>
          </a:prstGeom>
          <a:solidFill>
            <a:srgbClr val="24354F"/>
          </a:solidFill>
          <a:ln w="12700">
            <a:solidFill>
              <a:srgbClr val="35496B"/>
            </a:solidFill>
            <a:prstDash val="solid"/>
          </a:ln>
        </p:spPr>
      </p:sp>
      <p:sp>
        <p:nvSpPr>
          <p:cNvPr id="6" name="Text 4"/>
          <p:cNvSpPr/>
          <p:nvPr/>
        </p:nvSpPr>
        <p:spPr>
          <a:xfrm>
            <a:off x="777240" y="3767328"/>
            <a:ext cx="47548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p_t  −  p_j   ≥   δ</a:t>
            </a:r>
            <a:endParaRPr lang="en-US" sz="1900" dirty="0"/>
          </a:p>
        </p:txBody>
      </p:sp>
      <p:sp>
        <p:nvSpPr>
          <p:cNvPr id="7" name="Text 5"/>
          <p:cNvSpPr/>
          <p:nvPr/>
        </p:nvSpPr>
        <p:spPr>
          <a:xfrm>
            <a:off x="777240" y="4617720"/>
            <a:ext cx="10607040" cy="320040"/>
          </a:xfrm>
          <a:prstGeom prst="rect">
            <a:avLst/>
          </a:prstGeom>
          <a:noFill/>
          <a:ln/>
        </p:spPr>
        <p:txBody>
          <a:bodyPr wrap="square" lIns="0" tIns="0" rIns="0" bIns="0" rtlCol="0" anchor="ctr"/>
          <a:lstStyle/>
          <a:p>
            <a:pPr indent="0" marL="0">
              <a:buNone/>
            </a:pPr>
            <a:r>
              <a:rPr lang="en-US" sz="1450" dirty="0">
                <a:solidFill>
                  <a:srgbClr val="A9B6CC"/>
                </a:solidFill>
                <a:latin typeface="Calibri" pitchFamily="34" charset="0"/>
                <a:ea typeface="Calibri" pitchFamily="34" charset="-122"/>
                <a:cs typeface="Calibri" pitchFamily="34" charset="-120"/>
              </a:rPr>
              <a:t>Generalising the margin of AS-Softmax along class-pair, sample and time</a:t>
            </a:r>
            <a:endParaRPr lang="en-US" sz="1450" dirty="0"/>
          </a:p>
        </p:txBody>
      </p:sp>
      <p:sp>
        <p:nvSpPr>
          <p:cNvPr id="8" name="Text 6"/>
          <p:cNvSpPr/>
          <p:nvPr/>
        </p:nvSpPr>
        <p:spPr>
          <a:xfrm>
            <a:off x="777240" y="5806440"/>
            <a:ext cx="10607040" cy="320040"/>
          </a:xfrm>
          <a:prstGeom prst="rect">
            <a:avLst/>
          </a:prstGeom>
          <a:noFill/>
          <a:ln/>
        </p:spPr>
        <p:txBody>
          <a:bodyPr wrap="square" lIns="0" tIns="0" rIns="0" bIns="0" rtlCol="0" anchor="ctr"/>
          <a:lstStyle/>
          <a:p>
            <a:pPr indent="0" marL="0">
              <a:buNone/>
            </a:pPr>
            <a:r>
              <a:rPr lang="en-US" sz="1300" dirty="0">
                <a:solidFill>
                  <a:srgbClr val="7C8AA5"/>
                </a:solidFill>
                <a:latin typeface="Calibri" pitchFamily="34" charset="0"/>
                <a:ea typeface="Calibri" pitchFamily="34" charset="-122"/>
                <a:cs typeface="Calibri" pitchFamily="34" charset="-120"/>
              </a:rPr>
              <a:t>Ashish Gupta   ·   End-of-semester research report   ·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THE BASICS</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A classifier is a student taking a multiple-choice test</a:t>
            </a:r>
            <a:endParaRPr lang="en-US" sz="3200" dirty="0"/>
          </a:p>
        </p:txBody>
      </p:sp>
      <p:sp>
        <p:nvSpPr>
          <p:cNvPr id="4" name="Text 2"/>
          <p:cNvSpPr/>
          <p:nvPr/>
        </p:nvSpPr>
        <p:spPr>
          <a:xfrm>
            <a:off x="548640" y="1463040"/>
            <a:ext cx="5577840" cy="822960"/>
          </a:xfrm>
          <a:prstGeom prst="rect">
            <a:avLst/>
          </a:prstGeom>
          <a:noFill/>
          <a:ln/>
        </p:spPr>
        <p:txBody>
          <a:bodyPr wrap="square" lIns="0" tIns="0" rIns="0" bIns="0" rtlCol="0" anchor="ctr"/>
          <a:lstStyle/>
          <a:p>
            <a:pPr indent="0" marL="0">
              <a:lnSpc>
                <a:spcPts val="2200"/>
              </a:lnSpc>
              <a:buNone/>
            </a:pPr>
            <a:r>
              <a:rPr lang="en-US" sz="1550" dirty="0">
                <a:solidFill>
                  <a:srgbClr val="44506A"/>
                </a:solidFill>
                <a:latin typeface="Calibri" pitchFamily="34" charset="0"/>
                <a:ea typeface="Calibri" pitchFamily="34" charset="-122"/>
                <a:cs typeface="Calibri" pitchFamily="34" charset="-120"/>
              </a:rPr>
              <a:t>For every input, the model gives each possible answer a score. Softmax turns those raw scores into probabilities that add up to 100%.</a:t>
            </a:r>
            <a:endParaRPr lang="en-US" sz="1550" dirty="0"/>
          </a:p>
        </p:txBody>
      </p:sp>
      <p:sp>
        <p:nvSpPr>
          <p:cNvPr id="5" name="Shape 3"/>
          <p:cNvSpPr/>
          <p:nvPr/>
        </p:nvSpPr>
        <p:spPr>
          <a:xfrm>
            <a:off x="548640" y="2651760"/>
            <a:ext cx="5577840" cy="1828800"/>
          </a:xfrm>
          <a:prstGeom prst="roundRect">
            <a:avLst>
              <a:gd name="adj" fmla="val 6000"/>
            </a:avLst>
          </a:prstGeom>
          <a:solidFill>
            <a:srgbClr val="EEF2F7"/>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6" name="Text 4"/>
          <p:cNvSpPr/>
          <p:nvPr/>
        </p:nvSpPr>
        <p:spPr>
          <a:xfrm>
            <a:off x="822960" y="2926080"/>
            <a:ext cx="5029200" cy="274320"/>
          </a:xfrm>
          <a:prstGeom prst="rect">
            <a:avLst/>
          </a:prstGeom>
          <a:noFill/>
          <a:ln/>
        </p:spPr>
        <p:txBody>
          <a:bodyPr wrap="square" lIns="0" tIns="0" rIns="0" bIns="0" rtlCol="0" anchor="ctr"/>
          <a:lstStyle/>
          <a:p>
            <a:pPr indent="0" marL="0">
              <a:buNone/>
            </a:pPr>
            <a:r>
              <a:rPr lang="en-US" sz="1300" dirty="0">
                <a:solidFill>
                  <a:srgbClr val="8A93A6"/>
                </a:solidFill>
                <a:latin typeface="Calibri" pitchFamily="34" charset="0"/>
                <a:ea typeface="Calibri" pitchFamily="34" charset="-122"/>
                <a:cs typeface="Calibri" pitchFamily="34" charset="-120"/>
              </a:rPr>
              <a:t>The question we actually care about at test time:</a:t>
            </a:r>
            <a:endParaRPr lang="en-US" sz="1300" dirty="0"/>
          </a:p>
        </p:txBody>
      </p:sp>
      <p:sp>
        <p:nvSpPr>
          <p:cNvPr id="7" name="Text 5"/>
          <p:cNvSpPr/>
          <p:nvPr/>
        </p:nvSpPr>
        <p:spPr>
          <a:xfrm>
            <a:off x="822960" y="3337560"/>
            <a:ext cx="5029200" cy="365760"/>
          </a:xfrm>
          <a:prstGeom prst="rect">
            <a:avLst/>
          </a:prstGeom>
          <a:noFill/>
          <a:ln/>
        </p:spPr>
        <p:txBody>
          <a:bodyPr wrap="square" lIns="0" tIns="0" rIns="0" bIns="0"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Is the right answer simply AHEAD of the others?</a:t>
            </a:r>
            <a:endParaRPr lang="en-US" sz="1800" dirty="0"/>
          </a:p>
        </p:txBody>
      </p:sp>
      <p:sp>
        <p:nvSpPr>
          <p:cNvPr id="8" name="Text 6"/>
          <p:cNvSpPr/>
          <p:nvPr/>
        </p:nvSpPr>
        <p:spPr>
          <a:xfrm>
            <a:off x="822960" y="3840480"/>
            <a:ext cx="5029200" cy="320040"/>
          </a:xfrm>
          <a:prstGeom prst="rect">
            <a:avLst/>
          </a:prstGeom>
          <a:noFill/>
          <a:ln/>
        </p:spPr>
        <p:txBody>
          <a:bodyPr wrap="square" lIns="0" tIns="0" rIns="0" bIns="0" rtlCol="0" anchor="ctr"/>
          <a:lstStyle/>
          <a:p>
            <a:pPr indent="0" marL="0">
              <a:buNone/>
            </a:pPr>
            <a:r>
              <a:rPr lang="en-US" sz="1500" i="1" dirty="0">
                <a:solidFill>
                  <a:srgbClr val="C1121F"/>
                </a:solidFill>
                <a:latin typeface="Calibri" pitchFamily="34" charset="0"/>
                <a:ea typeface="Calibri" pitchFamily="34" charset="-122"/>
                <a:cs typeface="Calibri" pitchFamily="34" charset="-120"/>
              </a:rPr>
              <a:t>Not: is it at 100%?</a:t>
            </a:r>
            <a:endParaRPr lang="en-US" sz="1500" dirty="0"/>
          </a:p>
        </p:txBody>
      </p:sp>
      <p:sp>
        <p:nvSpPr>
          <p:cNvPr id="9" name="Text 7"/>
          <p:cNvSpPr/>
          <p:nvPr/>
        </p:nvSpPr>
        <p:spPr>
          <a:xfrm>
            <a:off x="548640" y="4800600"/>
            <a:ext cx="5577840" cy="365760"/>
          </a:xfrm>
          <a:prstGeom prst="rect">
            <a:avLst/>
          </a:prstGeom>
          <a:noFill/>
          <a:ln/>
        </p:spPr>
        <p:txBody>
          <a:bodyPr wrap="square" lIns="0" tIns="0" rIns="0" bIns="0" rtlCol="0" anchor="ctr"/>
          <a:lstStyle/>
          <a:p>
            <a:pPr indent="0" marL="0">
              <a:buNone/>
            </a:pPr>
            <a:r>
              <a:rPr lang="en-US" sz="1350" i="1" dirty="0">
                <a:solidFill>
                  <a:srgbClr val="8A93A6"/>
                </a:solidFill>
                <a:latin typeface="Calibri" pitchFamily="34" charset="0"/>
                <a:ea typeface="Calibri" pitchFamily="34" charset="-122"/>
                <a:cs typeface="Calibri" pitchFamily="34" charset="-120"/>
              </a:rPr>
              <a:t>Remember that gap — the whole project lives there.</a:t>
            </a:r>
            <a:endParaRPr lang="en-US" sz="1350" dirty="0"/>
          </a:p>
        </p:txBody>
      </p:sp>
      <p:sp>
        <p:nvSpPr>
          <p:cNvPr id="10" name="Shape 8"/>
          <p:cNvSpPr/>
          <p:nvPr/>
        </p:nvSpPr>
        <p:spPr>
          <a:xfrm>
            <a:off x="6492240" y="1463040"/>
            <a:ext cx="5120640" cy="4069080"/>
          </a:xfrm>
          <a:prstGeom prst="roundRect">
            <a:avLst>
              <a:gd name="adj" fmla="val 2697"/>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1" name="Text 9"/>
          <p:cNvSpPr/>
          <p:nvPr/>
        </p:nvSpPr>
        <p:spPr>
          <a:xfrm>
            <a:off x="6812280" y="1783080"/>
            <a:ext cx="4480560" cy="320040"/>
          </a:xfrm>
          <a:prstGeom prst="rect">
            <a:avLst/>
          </a:prstGeom>
          <a:noFill/>
          <a:ln/>
        </p:spPr>
        <p:txBody>
          <a:bodyPr wrap="square" lIns="0" tIns="0" rIns="0" bIns="0" rtlCol="0" anchor="ctr"/>
          <a:lstStyle/>
          <a:p>
            <a:pPr indent="0" marL="0">
              <a:buNone/>
            </a:pPr>
            <a:r>
              <a:rPr lang="en-US" sz="1350" i="1" dirty="0">
                <a:solidFill>
                  <a:srgbClr val="152238"/>
                </a:solidFill>
                <a:latin typeface="Calibri" pitchFamily="34" charset="0"/>
                <a:ea typeface="Calibri" pitchFamily="34" charset="-122"/>
                <a:cs typeface="Calibri" pitchFamily="34" charset="-120"/>
              </a:rPr>
              <a:t>Review: "a dull, lifeless film"</a:t>
            </a:r>
            <a:endParaRPr lang="en-US" sz="1350" dirty="0"/>
          </a:p>
        </p:txBody>
      </p:sp>
      <p:sp>
        <p:nvSpPr>
          <p:cNvPr id="12" name="Text 10"/>
          <p:cNvSpPr/>
          <p:nvPr/>
        </p:nvSpPr>
        <p:spPr>
          <a:xfrm>
            <a:off x="6812280" y="2148840"/>
            <a:ext cx="4480560" cy="27432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The model's answer, as probabilities</a:t>
            </a:r>
            <a:endParaRPr lang="en-US" sz="1150" dirty="0"/>
          </a:p>
        </p:txBody>
      </p:sp>
      <p:sp>
        <p:nvSpPr>
          <p:cNvPr id="13" name="Text 11"/>
          <p:cNvSpPr/>
          <p:nvPr/>
        </p:nvSpPr>
        <p:spPr>
          <a:xfrm>
            <a:off x="6812280" y="2606040"/>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very negative</a:t>
            </a:r>
            <a:endParaRPr lang="en-US" sz="1200" dirty="0"/>
          </a:p>
        </p:txBody>
      </p:sp>
      <p:sp>
        <p:nvSpPr>
          <p:cNvPr id="14" name="Shape 12"/>
          <p:cNvSpPr/>
          <p:nvPr/>
        </p:nvSpPr>
        <p:spPr>
          <a:xfrm>
            <a:off x="8183880" y="2651760"/>
            <a:ext cx="2423160" cy="201168"/>
          </a:xfrm>
          <a:prstGeom prst="roundRect">
            <a:avLst>
              <a:gd name="adj" fmla="val 50000"/>
            </a:avLst>
          </a:prstGeom>
          <a:solidFill>
            <a:srgbClr val="E3E8EF"/>
          </a:solidFill>
          <a:ln w="12700">
            <a:solidFill>
              <a:srgbClr val="E3E8EF"/>
            </a:solidFill>
            <a:prstDash val="solid"/>
          </a:ln>
        </p:spPr>
      </p:sp>
      <p:sp>
        <p:nvSpPr>
          <p:cNvPr id="15" name="Shape 13"/>
          <p:cNvSpPr/>
          <p:nvPr/>
        </p:nvSpPr>
        <p:spPr>
          <a:xfrm>
            <a:off x="8183880" y="2651760"/>
            <a:ext cx="2221230" cy="201168"/>
          </a:xfrm>
          <a:prstGeom prst="roundRect">
            <a:avLst>
              <a:gd name="adj" fmla="val 50000"/>
            </a:avLst>
          </a:prstGeom>
          <a:solidFill>
            <a:srgbClr val="12897B"/>
          </a:solidFill>
          <a:ln w="12700">
            <a:solidFill>
              <a:srgbClr val="12897B"/>
            </a:solidFill>
            <a:prstDash val="solid"/>
          </a:ln>
        </p:spPr>
      </p:sp>
      <p:sp>
        <p:nvSpPr>
          <p:cNvPr id="16" name="Text 14"/>
          <p:cNvSpPr/>
          <p:nvPr/>
        </p:nvSpPr>
        <p:spPr>
          <a:xfrm>
            <a:off x="10661904" y="2606040"/>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55%</a:t>
            </a:r>
            <a:endParaRPr lang="en-US" sz="1150" dirty="0"/>
          </a:p>
        </p:txBody>
      </p:sp>
      <p:sp>
        <p:nvSpPr>
          <p:cNvPr id="17" name="Text 15"/>
          <p:cNvSpPr/>
          <p:nvPr/>
        </p:nvSpPr>
        <p:spPr>
          <a:xfrm>
            <a:off x="6812280" y="3118104"/>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negative</a:t>
            </a:r>
            <a:endParaRPr lang="en-US" sz="1200" dirty="0"/>
          </a:p>
        </p:txBody>
      </p:sp>
      <p:sp>
        <p:nvSpPr>
          <p:cNvPr id="18" name="Shape 16"/>
          <p:cNvSpPr/>
          <p:nvPr/>
        </p:nvSpPr>
        <p:spPr>
          <a:xfrm>
            <a:off x="8183880" y="3163824"/>
            <a:ext cx="2423160" cy="201168"/>
          </a:xfrm>
          <a:prstGeom prst="roundRect">
            <a:avLst>
              <a:gd name="adj" fmla="val 50000"/>
            </a:avLst>
          </a:prstGeom>
          <a:solidFill>
            <a:srgbClr val="E3E8EF"/>
          </a:solidFill>
          <a:ln w="12700">
            <a:solidFill>
              <a:srgbClr val="E3E8EF"/>
            </a:solidFill>
            <a:prstDash val="solid"/>
          </a:ln>
        </p:spPr>
      </p:sp>
      <p:sp>
        <p:nvSpPr>
          <p:cNvPr id="19" name="Shape 17"/>
          <p:cNvSpPr/>
          <p:nvPr/>
        </p:nvSpPr>
        <p:spPr>
          <a:xfrm>
            <a:off x="8183880" y="3163824"/>
            <a:ext cx="1130808" cy="201168"/>
          </a:xfrm>
          <a:prstGeom prst="roundRect">
            <a:avLst>
              <a:gd name="adj" fmla="val 50000"/>
            </a:avLst>
          </a:prstGeom>
          <a:solidFill>
            <a:srgbClr val="9AA6B8"/>
          </a:solidFill>
          <a:ln w="12700">
            <a:solidFill>
              <a:srgbClr val="9AA6B8"/>
            </a:solidFill>
            <a:prstDash val="solid"/>
          </a:ln>
        </p:spPr>
      </p:sp>
      <p:sp>
        <p:nvSpPr>
          <p:cNvPr id="20" name="Text 18"/>
          <p:cNvSpPr/>
          <p:nvPr/>
        </p:nvSpPr>
        <p:spPr>
          <a:xfrm>
            <a:off x="10661904" y="3118104"/>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28%</a:t>
            </a:r>
            <a:endParaRPr lang="en-US" sz="1150" dirty="0"/>
          </a:p>
        </p:txBody>
      </p:sp>
      <p:sp>
        <p:nvSpPr>
          <p:cNvPr id="21" name="Text 19"/>
          <p:cNvSpPr/>
          <p:nvPr/>
        </p:nvSpPr>
        <p:spPr>
          <a:xfrm>
            <a:off x="6812280" y="3630168"/>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neutral</a:t>
            </a:r>
            <a:endParaRPr lang="en-US" sz="1200" dirty="0"/>
          </a:p>
        </p:txBody>
      </p:sp>
      <p:sp>
        <p:nvSpPr>
          <p:cNvPr id="22" name="Shape 20"/>
          <p:cNvSpPr/>
          <p:nvPr/>
        </p:nvSpPr>
        <p:spPr>
          <a:xfrm>
            <a:off x="8183880" y="3675888"/>
            <a:ext cx="2423160" cy="201168"/>
          </a:xfrm>
          <a:prstGeom prst="roundRect">
            <a:avLst>
              <a:gd name="adj" fmla="val 50000"/>
            </a:avLst>
          </a:prstGeom>
          <a:solidFill>
            <a:srgbClr val="E3E8EF"/>
          </a:solidFill>
          <a:ln w="12700">
            <a:solidFill>
              <a:srgbClr val="E3E8EF"/>
            </a:solidFill>
            <a:prstDash val="solid"/>
          </a:ln>
        </p:spPr>
      </p:sp>
      <p:sp>
        <p:nvSpPr>
          <p:cNvPr id="23" name="Shape 21"/>
          <p:cNvSpPr/>
          <p:nvPr/>
        </p:nvSpPr>
        <p:spPr>
          <a:xfrm>
            <a:off x="8183880" y="3675888"/>
            <a:ext cx="444246" cy="201168"/>
          </a:xfrm>
          <a:prstGeom prst="roundRect">
            <a:avLst>
              <a:gd name="adj" fmla="val 50000"/>
            </a:avLst>
          </a:prstGeom>
          <a:solidFill>
            <a:srgbClr val="9AA6B8"/>
          </a:solidFill>
          <a:ln w="12700">
            <a:solidFill>
              <a:srgbClr val="9AA6B8"/>
            </a:solidFill>
            <a:prstDash val="solid"/>
          </a:ln>
        </p:spPr>
      </p:sp>
      <p:sp>
        <p:nvSpPr>
          <p:cNvPr id="24" name="Text 22"/>
          <p:cNvSpPr/>
          <p:nvPr/>
        </p:nvSpPr>
        <p:spPr>
          <a:xfrm>
            <a:off x="10661904" y="3630168"/>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11%</a:t>
            </a:r>
            <a:endParaRPr lang="en-US" sz="1150" dirty="0"/>
          </a:p>
        </p:txBody>
      </p:sp>
      <p:sp>
        <p:nvSpPr>
          <p:cNvPr id="25" name="Text 23"/>
          <p:cNvSpPr/>
          <p:nvPr/>
        </p:nvSpPr>
        <p:spPr>
          <a:xfrm>
            <a:off x="6812280" y="4142232"/>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positive</a:t>
            </a:r>
            <a:endParaRPr lang="en-US" sz="1200" dirty="0"/>
          </a:p>
        </p:txBody>
      </p:sp>
      <p:sp>
        <p:nvSpPr>
          <p:cNvPr id="26" name="Shape 24"/>
          <p:cNvSpPr/>
          <p:nvPr/>
        </p:nvSpPr>
        <p:spPr>
          <a:xfrm>
            <a:off x="8183880" y="4187952"/>
            <a:ext cx="2423160" cy="201168"/>
          </a:xfrm>
          <a:prstGeom prst="roundRect">
            <a:avLst>
              <a:gd name="adj" fmla="val 50000"/>
            </a:avLst>
          </a:prstGeom>
          <a:solidFill>
            <a:srgbClr val="E3E8EF"/>
          </a:solidFill>
          <a:ln w="12700">
            <a:solidFill>
              <a:srgbClr val="E3E8EF"/>
            </a:solidFill>
            <a:prstDash val="solid"/>
          </a:ln>
        </p:spPr>
      </p:sp>
      <p:sp>
        <p:nvSpPr>
          <p:cNvPr id="27" name="Shape 25"/>
          <p:cNvSpPr/>
          <p:nvPr/>
        </p:nvSpPr>
        <p:spPr>
          <a:xfrm>
            <a:off x="8183880" y="4187952"/>
            <a:ext cx="161544" cy="201168"/>
          </a:xfrm>
          <a:prstGeom prst="roundRect">
            <a:avLst>
              <a:gd name="adj" fmla="val 62264"/>
            </a:avLst>
          </a:prstGeom>
          <a:solidFill>
            <a:srgbClr val="9AA6B8"/>
          </a:solidFill>
          <a:ln w="12700">
            <a:solidFill>
              <a:srgbClr val="9AA6B8"/>
            </a:solidFill>
            <a:prstDash val="solid"/>
          </a:ln>
        </p:spPr>
      </p:sp>
      <p:sp>
        <p:nvSpPr>
          <p:cNvPr id="28" name="Text 26"/>
          <p:cNvSpPr/>
          <p:nvPr/>
        </p:nvSpPr>
        <p:spPr>
          <a:xfrm>
            <a:off x="10661904" y="4142232"/>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4%</a:t>
            </a:r>
            <a:endParaRPr lang="en-US" sz="1150" dirty="0"/>
          </a:p>
        </p:txBody>
      </p:sp>
      <p:sp>
        <p:nvSpPr>
          <p:cNvPr id="29" name="Text 27"/>
          <p:cNvSpPr/>
          <p:nvPr/>
        </p:nvSpPr>
        <p:spPr>
          <a:xfrm>
            <a:off x="6812280" y="4654296"/>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very positive</a:t>
            </a:r>
            <a:endParaRPr lang="en-US" sz="1200" dirty="0"/>
          </a:p>
        </p:txBody>
      </p:sp>
      <p:sp>
        <p:nvSpPr>
          <p:cNvPr id="30" name="Shape 28"/>
          <p:cNvSpPr/>
          <p:nvPr/>
        </p:nvSpPr>
        <p:spPr>
          <a:xfrm>
            <a:off x="8183880" y="4700016"/>
            <a:ext cx="2423160" cy="201168"/>
          </a:xfrm>
          <a:prstGeom prst="roundRect">
            <a:avLst>
              <a:gd name="adj" fmla="val 50000"/>
            </a:avLst>
          </a:prstGeom>
          <a:solidFill>
            <a:srgbClr val="E3E8EF"/>
          </a:solidFill>
          <a:ln w="12700">
            <a:solidFill>
              <a:srgbClr val="E3E8EF"/>
            </a:solidFill>
            <a:prstDash val="solid"/>
          </a:ln>
        </p:spPr>
      </p:sp>
      <p:sp>
        <p:nvSpPr>
          <p:cNvPr id="31" name="Shape 29"/>
          <p:cNvSpPr/>
          <p:nvPr/>
        </p:nvSpPr>
        <p:spPr>
          <a:xfrm>
            <a:off x="8183880" y="4700016"/>
            <a:ext cx="80772" cy="201168"/>
          </a:xfrm>
          <a:prstGeom prst="roundRect">
            <a:avLst>
              <a:gd name="adj" fmla="val 124528"/>
            </a:avLst>
          </a:prstGeom>
          <a:solidFill>
            <a:srgbClr val="9AA6B8"/>
          </a:solidFill>
          <a:ln w="12700">
            <a:solidFill>
              <a:srgbClr val="9AA6B8"/>
            </a:solidFill>
            <a:prstDash val="solid"/>
          </a:ln>
        </p:spPr>
      </p:sp>
      <p:sp>
        <p:nvSpPr>
          <p:cNvPr id="32" name="Text 30"/>
          <p:cNvSpPr/>
          <p:nvPr/>
        </p:nvSpPr>
        <p:spPr>
          <a:xfrm>
            <a:off x="10661904" y="4654296"/>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2%</a:t>
            </a:r>
            <a:endParaRPr lang="en-US" sz="1150" dirty="0"/>
          </a:p>
        </p:txBody>
      </p:sp>
      <p:sp>
        <p:nvSpPr>
          <p:cNvPr id="33" name="Text 31"/>
          <p:cNvSpPr/>
          <p:nvPr/>
        </p:nvSpPr>
        <p:spPr>
          <a:xfrm>
            <a:off x="6812280" y="5120640"/>
            <a:ext cx="4480560" cy="274320"/>
          </a:xfrm>
          <a:prstGeom prst="rect">
            <a:avLst/>
          </a:prstGeom>
          <a:noFill/>
          <a:ln/>
        </p:spPr>
        <p:txBody>
          <a:bodyPr wrap="square" lIns="0" tIns="0" rIns="0" bIns="0" rtlCol="0" anchor="ctr"/>
          <a:lstStyle/>
          <a:p>
            <a:pPr indent="0" marL="0">
              <a:buNone/>
            </a:pPr>
            <a:r>
              <a:rPr lang="en-US" sz="1200" b="1" dirty="0">
                <a:solidFill>
                  <a:srgbClr val="12897B"/>
                </a:solidFill>
                <a:latin typeface="Calibri" pitchFamily="34" charset="0"/>
                <a:ea typeface="Calibri" pitchFamily="34" charset="-122"/>
                <a:cs typeface="Calibri" pitchFamily="34" charset="-120"/>
              </a:rPr>
              <a:t>It is already right — the top answer is ahead.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But normal training demands 100% — forever</a:t>
            </a:r>
            <a:endParaRPr lang="en-US" sz="3200" dirty="0"/>
          </a:p>
        </p:txBody>
      </p:sp>
      <p:sp>
        <p:nvSpPr>
          <p:cNvPr id="4" name="Text 2"/>
          <p:cNvSpPr/>
          <p:nvPr/>
        </p:nvSpPr>
        <p:spPr>
          <a:xfrm>
            <a:off x="548640" y="1463040"/>
            <a:ext cx="11064240" cy="685800"/>
          </a:xfrm>
          <a:prstGeom prst="rect">
            <a:avLst/>
          </a:prstGeom>
          <a:noFill/>
          <a:ln/>
        </p:spPr>
        <p:txBody>
          <a:bodyPr wrap="square" lIns="0" tIns="0" rIns="0" bIns="0" rtlCol="0" anchor="ctr"/>
          <a:lstStyle/>
          <a:p>
            <a:pPr indent="0" marL="0">
              <a:lnSpc>
                <a:spcPts val="2200"/>
              </a:lnSpc>
              <a:buNone/>
            </a:pPr>
            <a:r>
              <a:rPr lang="en-US" sz="1550" dirty="0">
                <a:solidFill>
                  <a:srgbClr val="44506A"/>
                </a:solidFill>
                <a:latin typeface="Calibri" pitchFamily="34" charset="0"/>
                <a:ea typeface="Calibri" pitchFamily="34" charset="-122"/>
                <a:cs typeface="Calibri" pitchFamily="34" charset="-120"/>
              </a:rPr>
              <a:t>Cross-entropy, the standard training objective, keeps pushing the correct answer toward 100% and every wrong answer toward 0% — even on examples the model already gets right.</a:t>
            </a:r>
            <a:endParaRPr lang="en-US" sz="1550" dirty="0"/>
          </a:p>
        </p:txBody>
      </p:sp>
      <p:sp>
        <p:nvSpPr>
          <p:cNvPr id="5" name="Shape 3"/>
          <p:cNvSpPr/>
          <p:nvPr/>
        </p:nvSpPr>
        <p:spPr>
          <a:xfrm>
            <a:off x="548640" y="2377440"/>
            <a:ext cx="5394960" cy="2697480"/>
          </a:xfrm>
          <a:prstGeom prst="roundRect">
            <a:avLst>
              <a:gd name="adj" fmla="val 4068"/>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6" name="Text 4"/>
          <p:cNvSpPr/>
          <p:nvPr/>
        </p:nvSpPr>
        <p:spPr>
          <a:xfrm>
            <a:off x="868680" y="2606040"/>
            <a:ext cx="4754880" cy="274320"/>
          </a:xfrm>
          <a:prstGeom prst="rect">
            <a:avLst/>
          </a:prstGeom>
          <a:noFill/>
          <a:ln/>
        </p:spPr>
        <p:txBody>
          <a:bodyPr wrap="square" lIns="0" tIns="0" rIns="0" bIns="0" rtlCol="0" anchor="ctr"/>
          <a:lstStyle/>
          <a:p>
            <a:pPr indent="0" marL="0">
              <a:buNone/>
            </a:pPr>
            <a:r>
              <a:rPr lang="en-US" sz="1250" b="1" dirty="0">
                <a:solidFill>
                  <a:srgbClr val="8A93A6"/>
                </a:solidFill>
                <a:latin typeface="Calibri" pitchFamily="34" charset="0"/>
                <a:ea typeface="Calibri" pitchFamily="34" charset="-122"/>
                <a:cs typeface="Calibri" pitchFamily="34" charset="-120"/>
              </a:rPr>
              <a:t>Already correct at epoch 1</a:t>
            </a:r>
            <a:endParaRPr lang="en-US" sz="1250" dirty="0"/>
          </a:p>
        </p:txBody>
      </p:sp>
      <p:sp>
        <p:nvSpPr>
          <p:cNvPr id="7" name="Text 5"/>
          <p:cNvSpPr/>
          <p:nvPr/>
        </p:nvSpPr>
        <p:spPr>
          <a:xfrm>
            <a:off x="868680" y="3063240"/>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very negative</a:t>
            </a:r>
            <a:endParaRPr lang="en-US" sz="1200" dirty="0"/>
          </a:p>
        </p:txBody>
      </p:sp>
      <p:sp>
        <p:nvSpPr>
          <p:cNvPr id="8" name="Shape 6"/>
          <p:cNvSpPr/>
          <p:nvPr/>
        </p:nvSpPr>
        <p:spPr>
          <a:xfrm>
            <a:off x="2240280" y="3108960"/>
            <a:ext cx="2697480" cy="201168"/>
          </a:xfrm>
          <a:prstGeom prst="roundRect">
            <a:avLst>
              <a:gd name="adj" fmla="val 50000"/>
            </a:avLst>
          </a:prstGeom>
          <a:solidFill>
            <a:srgbClr val="E3E8EF"/>
          </a:solidFill>
          <a:ln w="12700">
            <a:solidFill>
              <a:srgbClr val="E3E8EF"/>
            </a:solidFill>
            <a:prstDash val="solid"/>
          </a:ln>
        </p:spPr>
      </p:sp>
      <p:sp>
        <p:nvSpPr>
          <p:cNvPr id="9" name="Shape 7"/>
          <p:cNvSpPr/>
          <p:nvPr/>
        </p:nvSpPr>
        <p:spPr>
          <a:xfrm>
            <a:off x="2240280" y="3108960"/>
            <a:ext cx="1483614" cy="201168"/>
          </a:xfrm>
          <a:prstGeom prst="roundRect">
            <a:avLst>
              <a:gd name="adj" fmla="val 50000"/>
            </a:avLst>
          </a:prstGeom>
          <a:solidFill>
            <a:srgbClr val="12897B"/>
          </a:solidFill>
          <a:ln w="12700">
            <a:solidFill>
              <a:srgbClr val="12897B"/>
            </a:solidFill>
            <a:prstDash val="solid"/>
          </a:ln>
        </p:spPr>
      </p:sp>
      <p:sp>
        <p:nvSpPr>
          <p:cNvPr id="10" name="Text 8"/>
          <p:cNvSpPr/>
          <p:nvPr/>
        </p:nvSpPr>
        <p:spPr>
          <a:xfrm>
            <a:off x="4992624" y="3063240"/>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55%</a:t>
            </a:r>
            <a:endParaRPr lang="en-US" sz="1150" dirty="0"/>
          </a:p>
        </p:txBody>
      </p:sp>
      <p:sp>
        <p:nvSpPr>
          <p:cNvPr id="11" name="Text 9"/>
          <p:cNvSpPr/>
          <p:nvPr/>
        </p:nvSpPr>
        <p:spPr>
          <a:xfrm>
            <a:off x="868680" y="3611880"/>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negative</a:t>
            </a:r>
            <a:endParaRPr lang="en-US" sz="1200" dirty="0"/>
          </a:p>
        </p:txBody>
      </p:sp>
      <p:sp>
        <p:nvSpPr>
          <p:cNvPr id="12" name="Shape 10"/>
          <p:cNvSpPr/>
          <p:nvPr/>
        </p:nvSpPr>
        <p:spPr>
          <a:xfrm>
            <a:off x="2240280" y="3657600"/>
            <a:ext cx="2697480" cy="201168"/>
          </a:xfrm>
          <a:prstGeom prst="roundRect">
            <a:avLst>
              <a:gd name="adj" fmla="val 50000"/>
            </a:avLst>
          </a:prstGeom>
          <a:solidFill>
            <a:srgbClr val="E3E8EF"/>
          </a:solidFill>
          <a:ln w="12700">
            <a:solidFill>
              <a:srgbClr val="E3E8EF"/>
            </a:solidFill>
            <a:prstDash val="solid"/>
          </a:ln>
        </p:spPr>
      </p:sp>
      <p:sp>
        <p:nvSpPr>
          <p:cNvPr id="13" name="Shape 11"/>
          <p:cNvSpPr/>
          <p:nvPr/>
        </p:nvSpPr>
        <p:spPr>
          <a:xfrm>
            <a:off x="2240280" y="3657600"/>
            <a:ext cx="755294" cy="201168"/>
          </a:xfrm>
          <a:prstGeom prst="roundRect">
            <a:avLst>
              <a:gd name="adj" fmla="val 50000"/>
            </a:avLst>
          </a:prstGeom>
          <a:solidFill>
            <a:srgbClr val="9AA6B8"/>
          </a:solidFill>
          <a:ln w="12700">
            <a:solidFill>
              <a:srgbClr val="9AA6B8"/>
            </a:solidFill>
            <a:prstDash val="solid"/>
          </a:ln>
        </p:spPr>
      </p:sp>
      <p:sp>
        <p:nvSpPr>
          <p:cNvPr id="14" name="Text 12"/>
          <p:cNvSpPr/>
          <p:nvPr/>
        </p:nvSpPr>
        <p:spPr>
          <a:xfrm>
            <a:off x="4992624" y="3611880"/>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28%</a:t>
            </a:r>
            <a:endParaRPr lang="en-US" sz="1150" dirty="0"/>
          </a:p>
        </p:txBody>
      </p:sp>
      <p:sp>
        <p:nvSpPr>
          <p:cNvPr id="15" name="Text 13"/>
          <p:cNvSpPr/>
          <p:nvPr/>
        </p:nvSpPr>
        <p:spPr>
          <a:xfrm>
            <a:off x="868680" y="4343400"/>
            <a:ext cx="4754880" cy="502920"/>
          </a:xfrm>
          <a:prstGeom prst="rect">
            <a:avLst/>
          </a:prstGeom>
          <a:noFill/>
          <a:ln/>
        </p:spPr>
        <p:txBody>
          <a:bodyPr wrap="square" lIns="0" tIns="0" rIns="0" bIns="0" rtlCol="0" anchor="ctr"/>
          <a:lstStyle/>
          <a:p>
            <a:pPr indent="0" marL="0">
              <a:buNone/>
            </a:pPr>
            <a:r>
              <a:rPr lang="en-US" sz="1250" dirty="0">
                <a:solidFill>
                  <a:srgbClr val="44506A"/>
                </a:solidFill>
                <a:latin typeface="Calibri" pitchFamily="34" charset="0"/>
                <a:ea typeface="Calibri" pitchFamily="34" charset="-122"/>
                <a:cs typeface="Calibri" pitchFamily="34" charset="-120"/>
              </a:rPr>
              <a:t>Test would already score this correct.</a:t>
            </a:r>
            <a:endParaRPr lang="en-US" sz="1250" dirty="0"/>
          </a:p>
        </p:txBody>
      </p:sp>
      <p:sp>
        <p:nvSpPr>
          <p:cNvPr id="16" name="Shape 14"/>
          <p:cNvSpPr/>
          <p:nvPr/>
        </p:nvSpPr>
        <p:spPr>
          <a:xfrm>
            <a:off x="6217920" y="2377440"/>
            <a:ext cx="5394960" cy="2697480"/>
          </a:xfrm>
          <a:prstGeom prst="roundRect">
            <a:avLst>
              <a:gd name="adj" fmla="val 4068"/>
            </a:avLst>
          </a:prstGeom>
          <a:solidFill>
            <a:srgbClr val="FBEDEE"/>
          </a:solidFill>
          <a:ln w="12700">
            <a:solidFill>
              <a:srgbClr val="F0CFD2"/>
            </a:solidFill>
            <a:prstDash val="solid"/>
          </a:ln>
          <a:effectLst>
            <a:outerShdw sx="100000" sy="100000" kx="0" ky="0" algn="bl" rotWithShape="0" blurRad="127000" dist="25400" dir="5400000">
              <a:srgbClr val="9AA6B8">
                <a:alpha val="28000"/>
              </a:srgbClr>
            </a:outerShdw>
          </a:effectLst>
        </p:spPr>
      </p:sp>
      <p:sp>
        <p:nvSpPr>
          <p:cNvPr id="17" name="Text 15"/>
          <p:cNvSpPr/>
          <p:nvPr/>
        </p:nvSpPr>
        <p:spPr>
          <a:xfrm>
            <a:off x="6537960" y="2606040"/>
            <a:ext cx="4754880" cy="274320"/>
          </a:xfrm>
          <a:prstGeom prst="rect">
            <a:avLst/>
          </a:prstGeom>
          <a:noFill/>
          <a:ln/>
        </p:spPr>
        <p:txBody>
          <a:bodyPr wrap="square" lIns="0" tIns="0" rIns="0" bIns="0" rtlCol="0" anchor="ctr"/>
          <a:lstStyle/>
          <a:p>
            <a:pPr indent="0" marL="0">
              <a:buNone/>
            </a:pPr>
            <a:r>
              <a:rPr lang="en-US" sz="1250" b="1" dirty="0">
                <a:solidFill>
                  <a:srgbClr val="C1121F"/>
                </a:solidFill>
                <a:latin typeface="Calibri" pitchFamily="34" charset="0"/>
                <a:ea typeface="Calibri" pitchFamily="34" charset="-122"/>
                <a:cs typeface="Calibri" pitchFamily="34" charset="-120"/>
              </a:rPr>
              <a:t>Cross-entropy keeps going anyway</a:t>
            </a:r>
            <a:endParaRPr lang="en-US" sz="1250" dirty="0"/>
          </a:p>
        </p:txBody>
      </p:sp>
      <p:sp>
        <p:nvSpPr>
          <p:cNvPr id="18" name="Text 16"/>
          <p:cNvSpPr/>
          <p:nvPr/>
        </p:nvSpPr>
        <p:spPr>
          <a:xfrm>
            <a:off x="6537960" y="3063240"/>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very negative</a:t>
            </a:r>
            <a:endParaRPr lang="en-US" sz="1200" dirty="0"/>
          </a:p>
        </p:txBody>
      </p:sp>
      <p:sp>
        <p:nvSpPr>
          <p:cNvPr id="19" name="Shape 17"/>
          <p:cNvSpPr/>
          <p:nvPr/>
        </p:nvSpPr>
        <p:spPr>
          <a:xfrm>
            <a:off x="7909560" y="3108960"/>
            <a:ext cx="2697480" cy="201168"/>
          </a:xfrm>
          <a:prstGeom prst="roundRect">
            <a:avLst>
              <a:gd name="adj" fmla="val 50000"/>
            </a:avLst>
          </a:prstGeom>
          <a:solidFill>
            <a:srgbClr val="E3E8EF"/>
          </a:solidFill>
          <a:ln w="12700">
            <a:solidFill>
              <a:srgbClr val="E3E8EF"/>
            </a:solidFill>
            <a:prstDash val="solid"/>
          </a:ln>
        </p:spPr>
      </p:sp>
      <p:sp>
        <p:nvSpPr>
          <p:cNvPr id="20" name="Shape 18"/>
          <p:cNvSpPr/>
          <p:nvPr/>
        </p:nvSpPr>
        <p:spPr>
          <a:xfrm>
            <a:off x="7909560" y="3108960"/>
            <a:ext cx="2670505" cy="201168"/>
          </a:xfrm>
          <a:prstGeom prst="roundRect">
            <a:avLst>
              <a:gd name="adj" fmla="val 50000"/>
            </a:avLst>
          </a:prstGeom>
          <a:solidFill>
            <a:srgbClr val="C1121F"/>
          </a:solidFill>
          <a:ln w="12700">
            <a:solidFill>
              <a:srgbClr val="C1121F"/>
            </a:solidFill>
            <a:prstDash val="solid"/>
          </a:ln>
        </p:spPr>
      </p:sp>
      <p:sp>
        <p:nvSpPr>
          <p:cNvPr id="21" name="Text 19"/>
          <p:cNvSpPr/>
          <p:nvPr/>
        </p:nvSpPr>
        <p:spPr>
          <a:xfrm>
            <a:off x="10661904" y="3063240"/>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99%</a:t>
            </a:r>
            <a:endParaRPr lang="en-US" sz="1150" dirty="0"/>
          </a:p>
        </p:txBody>
      </p:sp>
      <p:sp>
        <p:nvSpPr>
          <p:cNvPr id="22" name="Text 20"/>
          <p:cNvSpPr/>
          <p:nvPr/>
        </p:nvSpPr>
        <p:spPr>
          <a:xfrm>
            <a:off x="6537960" y="3611880"/>
            <a:ext cx="1325880" cy="274320"/>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negative</a:t>
            </a:r>
            <a:endParaRPr lang="en-US" sz="1200" dirty="0"/>
          </a:p>
        </p:txBody>
      </p:sp>
      <p:sp>
        <p:nvSpPr>
          <p:cNvPr id="23" name="Shape 21"/>
          <p:cNvSpPr/>
          <p:nvPr/>
        </p:nvSpPr>
        <p:spPr>
          <a:xfrm>
            <a:off x="7909560" y="3657600"/>
            <a:ext cx="2697480" cy="201168"/>
          </a:xfrm>
          <a:prstGeom prst="roundRect">
            <a:avLst>
              <a:gd name="adj" fmla="val 50000"/>
            </a:avLst>
          </a:prstGeom>
          <a:solidFill>
            <a:srgbClr val="E3E8EF"/>
          </a:solidFill>
          <a:ln w="12700">
            <a:solidFill>
              <a:srgbClr val="E3E8EF"/>
            </a:solidFill>
            <a:prstDash val="solid"/>
          </a:ln>
        </p:spPr>
      </p:sp>
      <p:sp>
        <p:nvSpPr>
          <p:cNvPr id="24" name="Shape 22"/>
          <p:cNvSpPr/>
          <p:nvPr/>
        </p:nvSpPr>
        <p:spPr>
          <a:xfrm>
            <a:off x="7909560" y="3657600"/>
            <a:ext cx="54864" cy="201168"/>
          </a:xfrm>
          <a:prstGeom prst="roundRect">
            <a:avLst>
              <a:gd name="adj" fmla="val 183333"/>
            </a:avLst>
          </a:prstGeom>
          <a:solidFill>
            <a:srgbClr val="E3A3A8"/>
          </a:solidFill>
          <a:ln w="12700">
            <a:solidFill>
              <a:srgbClr val="E3A3A8"/>
            </a:solidFill>
            <a:prstDash val="solid"/>
          </a:ln>
        </p:spPr>
      </p:sp>
      <p:sp>
        <p:nvSpPr>
          <p:cNvPr id="25" name="Text 23"/>
          <p:cNvSpPr/>
          <p:nvPr/>
        </p:nvSpPr>
        <p:spPr>
          <a:xfrm>
            <a:off x="10661904" y="3611880"/>
            <a:ext cx="640080" cy="274320"/>
          </a:xfrm>
          <a:prstGeom prst="rect">
            <a:avLst/>
          </a:prstGeom>
          <a:noFill/>
          <a:ln/>
        </p:spPr>
        <p:txBody>
          <a:bodyPr wrap="square" lIns="0" tIns="0" rIns="0" bIns="0" rtlCol="0" anchor="ctr"/>
          <a:lstStyle/>
          <a:p>
            <a:pPr indent="0" marL="0">
              <a:buNone/>
            </a:pPr>
            <a:r>
              <a:rPr lang="en-US" sz="1150" b="1" dirty="0">
                <a:solidFill>
                  <a:srgbClr val="44506A"/>
                </a:solidFill>
                <a:latin typeface="Calibri" pitchFamily="34" charset="0"/>
                <a:ea typeface="Calibri" pitchFamily="34" charset="-122"/>
                <a:cs typeface="Calibri" pitchFamily="34" charset="-120"/>
              </a:rPr>
              <a:t>1%</a:t>
            </a:r>
            <a:endParaRPr lang="en-US" sz="1150" dirty="0"/>
          </a:p>
        </p:txBody>
      </p:sp>
      <p:sp>
        <p:nvSpPr>
          <p:cNvPr id="26" name="Text 24"/>
          <p:cNvSpPr/>
          <p:nvPr/>
        </p:nvSpPr>
        <p:spPr>
          <a:xfrm>
            <a:off x="6537960" y="4343400"/>
            <a:ext cx="4754880" cy="502920"/>
          </a:xfrm>
          <a:prstGeom prst="rect">
            <a:avLst/>
          </a:prstGeom>
          <a:noFill/>
          <a:ln/>
        </p:spPr>
        <p:txBody>
          <a:bodyPr wrap="square" lIns="0" tIns="0" rIns="0" bIns="0" rtlCol="0" anchor="ctr"/>
          <a:lstStyle/>
          <a:p>
            <a:pPr indent="0" marL="0">
              <a:buNone/>
            </a:pPr>
            <a:r>
              <a:rPr lang="en-US" sz="1250" dirty="0">
                <a:solidFill>
                  <a:srgbClr val="C1121F"/>
                </a:solidFill>
                <a:latin typeface="Calibri" pitchFamily="34" charset="0"/>
                <a:ea typeface="Calibri" pitchFamily="34" charset="-122"/>
                <a:cs typeface="Calibri" pitchFamily="34" charset="-120"/>
              </a:rPr>
              <a:t>All this extra work buys zero extra correctness.</a:t>
            </a:r>
            <a:endParaRPr lang="en-US" sz="1250" dirty="0"/>
          </a:p>
        </p:txBody>
      </p:sp>
      <p:sp>
        <p:nvSpPr>
          <p:cNvPr id="27" name="Shape 25"/>
          <p:cNvSpPr/>
          <p:nvPr/>
        </p:nvSpPr>
        <p:spPr>
          <a:xfrm>
            <a:off x="548640" y="5440680"/>
            <a:ext cx="475488" cy="475488"/>
          </a:xfrm>
          <a:prstGeom prst="ellipse">
            <a:avLst/>
          </a:prstGeom>
          <a:solidFill>
            <a:srgbClr val="C1121F"/>
          </a:solidFill>
          <a:ln w="12700">
            <a:solidFill>
              <a:srgbClr val="C1121F"/>
            </a:solidFill>
            <a:prstDash val="solid"/>
          </a:ln>
        </p:spPr>
      </p:sp>
      <p:sp>
        <p:nvSpPr>
          <p:cNvPr id="28" name="Text 26"/>
          <p:cNvSpPr/>
          <p:nvPr/>
        </p:nvSpPr>
        <p:spPr>
          <a:xfrm>
            <a:off x="548640" y="54406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29" name="Text 27"/>
          <p:cNvSpPr/>
          <p:nvPr/>
        </p:nvSpPr>
        <p:spPr>
          <a:xfrm>
            <a:off x="1152144" y="5440680"/>
            <a:ext cx="2971800" cy="274320"/>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Wasted effort</a:t>
            </a:r>
            <a:endParaRPr lang="en-US" sz="1350" dirty="0"/>
          </a:p>
        </p:txBody>
      </p:sp>
      <p:sp>
        <p:nvSpPr>
          <p:cNvPr id="30" name="Text 28"/>
          <p:cNvSpPr/>
          <p:nvPr/>
        </p:nvSpPr>
        <p:spPr>
          <a:xfrm>
            <a:off x="1152144" y="5724144"/>
            <a:ext cx="2971800" cy="50292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training on answers it already knows</a:t>
            </a:r>
            <a:endParaRPr lang="en-US" sz="1150" dirty="0"/>
          </a:p>
        </p:txBody>
      </p:sp>
      <p:sp>
        <p:nvSpPr>
          <p:cNvPr id="31" name="Shape 29"/>
          <p:cNvSpPr/>
          <p:nvPr/>
        </p:nvSpPr>
        <p:spPr>
          <a:xfrm>
            <a:off x="4261104" y="5440680"/>
            <a:ext cx="475488" cy="475488"/>
          </a:xfrm>
          <a:prstGeom prst="ellipse">
            <a:avLst/>
          </a:prstGeom>
          <a:solidFill>
            <a:srgbClr val="C1121F"/>
          </a:solidFill>
          <a:ln w="12700">
            <a:solidFill>
              <a:srgbClr val="C1121F"/>
            </a:solidFill>
            <a:prstDash val="solid"/>
          </a:ln>
        </p:spPr>
      </p:sp>
      <p:sp>
        <p:nvSpPr>
          <p:cNvPr id="32" name="Text 30"/>
          <p:cNvSpPr/>
          <p:nvPr/>
        </p:nvSpPr>
        <p:spPr>
          <a:xfrm>
            <a:off x="4261104" y="54406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33" name="Text 31"/>
          <p:cNvSpPr/>
          <p:nvPr/>
        </p:nvSpPr>
        <p:spPr>
          <a:xfrm>
            <a:off x="4864608" y="5440680"/>
            <a:ext cx="2971800" cy="274320"/>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Overfitting</a:t>
            </a:r>
            <a:endParaRPr lang="en-US" sz="1350" dirty="0"/>
          </a:p>
        </p:txBody>
      </p:sp>
      <p:sp>
        <p:nvSpPr>
          <p:cNvPr id="34" name="Text 32"/>
          <p:cNvSpPr/>
          <p:nvPr/>
        </p:nvSpPr>
        <p:spPr>
          <a:xfrm>
            <a:off x="4864608" y="5724144"/>
            <a:ext cx="2971800" cy="50292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it starts memorising instead of learning</a:t>
            </a:r>
            <a:endParaRPr lang="en-US" sz="1150" dirty="0"/>
          </a:p>
        </p:txBody>
      </p:sp>
      <p:sp>
        <p:nvSpPr>
          <p:cNvPr id="35" name="Shape 33"/>
          <p:cNvSpPr/>
          <p:nvPr/>
        </p:nvSpPr>
        <p:spPr>
          <a:xfrm>
            <a:off x="7973568" y="5440680"/>
            <a:ext cx="475488" cy="475488"/>
          </a:xfrm>
          <a:prstGeom prst="ellipse">
            <a:avLst/>
          </a:prstGeom>
          <a:solidFill>
            <a:srgbClr val="C1121F"/>
          </a:solidFill>
          <a:ln w="12700">
            <a:solidFill>
              <a:srgbClr val="C1121F"/>
            </a:solidFill>
            <a:prstDash val="solid"/>
          </a:ln>
        </p:spPr>
      </p:sp>
      <p:sp>
        <p:nvSpPr>
          <p:cNvPr id="36" name="Text 34"/>
          <p:cNvSpPr/>
          <p:nvPr/>
        </p:nvSpPr>
        <p:spPr>
          <a:xfrm>
            <a:off x="7973568" y="54406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37" name="Text 35"/>
          <p:cNvSpPr/>
          <p:nvPr/>
        </p:nvSpPr>
        <p:spPr>
          <a:xfrm>
            <a:off x="8577072" y="5440680"/>
            <a:ext cx="2971800" cy="274320"/>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Loss stops tracking accuracy</a:t>
            </a:r>
            <a:endParaRPr lang="en-US" sz="1350" dirty="0"/>
          </a:p>
        </p:txBody>
      </p:sp>
      <p:sp>
        <p:nvSpPr>
          <p:cNvPr id="38" name="Text 36"/>
          <p:cNvSpPr/>
          <p:nvPr/>
        </p:nvSpPr>
        <p:spPr>
          <a:xfrm>
            <a:off x="8577072" y="5724144"/>
            <a:ext cx="2971800" cy="50292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the number you watch stops meaning anything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PRIOR WORK</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The paper we build on: AS-Softmax (Lv et al., 2023)</a:t>
            </a:r>
            <a:endParaRPr lang="en-US" sz="3200" dirty="0"/>
          </a:p>
        </p:txBody>
      </p:sp>
      <p:sp>
        <p:nvSpPr>
          <p:cNvPr id="4" name="Shape 2"/>
          <p:cNvSpPr/>
          <p:nvPr/>
        </p:nvSpPr>
        <p:spPr>
          <a:xfrm>
            <a:off x="548640" y="1417320"/>
            <a:ext cx="11064240" cy="1371600"/>
          </a:xfrm>
          <a:prstGeom prst="roundRect">
            <a:avLst>
              <a:gd name="adj" fmla="val 8000"/>
            </a:avLst>
          </a:prstGeom>
          <a:solidFill>
            <a:srgbClr val="E9F5F3"/>
          </a:solidFill>
          <a:ln w="12700">
            <a:solidFill>
              <a:srgbClr val="BFE0DA"/>
            </a:solidFill>
            <a:prstDash val="solid"/>
          </a:ln>
          <a:effectLst>
            <a:outerShdw sx="100000" sy="100000" kx="0" ky="0" algn="bl" rotWithShape="0" blurRad="127000" dist="25400" dir="5400000">
              <a:srgbClr val="9AA6B8">
                <a:alpha val="28000"/>
              </a:srgbClr>
            </a:outerShdw>
          </a:effectLst>
        </p:spPr>
      </p:sp>
      <p:sp>
        <p:nvSpPr>
          <p:cNvPr id="5" name="Text 3"/>
          <p:cNvSpPr/>
          <p:nvPr/>
        </p:nvSpPr>
        <p:spPr>
          <a:xfrm>
            <a:off x="868680" y="1700784"/>
            <a:ext cx="1463040" cy="320040"/>
          </a:xfrm>
          <a:prstGeom prst="rect">
            <a:avLst/>
          </a:prstGeom>
          <a:noFill/>
          <a:ln/>
        </p:spPr>
        <p:txBody>
          <a:bodyPr wrap="square" lIns="0" tIns="0" rIns="0" bIns="0" rtlCol="0" anchor="ctr"/>
          <a:lstStyle/>
          <a:p>
            <a:pPr indent="0" marL="0">
              <a:buNone/>
            </a:pPr>
            <a:r>
              <a:rPr lang="en-US" sz="1400" b="1" dirty="0">
                <a:solidFill>
                  <a:srgbClr val="12897B"/>
                </a:solidFill>
                <a:latin typeface="Calibri" pitchFamily="34" charset="0"/>
                <a:ea typeface="Calibri" pitchFamily="34" charset="-122"/>
                <a:cs typeface="Calibri" pitchFamily="34" charset="-120"/>
              </a:rPr>
              <a:t>Their rule:</a:t>
            </a:r>
            <a:endParaRPr lang="en-US" sz="1400" dirty="0"/>
          </a:p>
        </p:txBody>
      </p:sp>
      <p:sp>
        <p:nvSpPr>
          <p:cNvPr id="6" name="Text 4"/>
          <p:cNvSpPr/>
          <p:nvPr/>
        </p:nvSpPr>
        <p:spPr>
          <a:xfrm>
            <a:off x="2194560" y="1645920"/>
            <a:ext cx="9052560" cy="411480"/>
          </a:xfrm>
          <a:prstGeom prst="rect">
            <a:avLst/>
          </a:prstGeom>
          <a:noFill/>
          <a:ln/>
        </p:spPr>
        <p:txBody>
          <a:bodyPr wrap="square" lIns="0" tIns="0" rIns="0" bIns="0" rtlCol="0" anchor="ctr"/>
          <a:lstStyle/>
          <a:p>
            <a:pPr indent="0" marL="0">
              <a:buNone/>
            </a:pPr>
            <a:r>
              <a:rPr lang="en-US" sz="1900" b="1" dirty="0">
                <a:solidFill>
                  <a:srgbClr val="152238"/>
                </a:solidFill>
                <a:latin typeface="Calibri" pitchFamily="34" charset="0"/>
                <a:ea typeface="Calibri" pitchFamily="34" charset="-122"/>
                <a:cs typeface="Calibri" pitchFamily="34" charset="-120"/>
              </a:rPr>
              <a:t>if   p_t  −  p_j   ≥   δ     →   stop training against wrong answer j</a:t>
            </a:r>
            <a:endParaRPr lang="en-US" sz="1900" dirty="0"/>
          </a:p>
        </p:txBody>
      </p:sp>
      <p:sp>
        <p:nvSpPr>
          <p:cNvPr id="7" name="Text 5"/>
          <p:cNvSpPr/>
          <p:nvPr/>
        </p:nvSpPr>
        <p:spPr>
          <a:xfrm>
            <a:off x="868680" y="2139696"/>
            <a:ext cx="10424160" cy="548640"/>
          </a:xfrm>
          <a:prstGeom prst="rect">
            <a:avLst/>
          </a:prstGeom>
          <a:noFill/>
          <a:ln/>
        </p:spPr>
        <p:txBody>
          <a:bodyPr wrap="square" lIns="0" tIns="0" rIns="0" bIns="0" rtlCol="0" anchor="ctr"/>
          <a:lstStyle/>
          <a:p>
            <a:pPr indent="0" marL="0">
              <a:lnSpc>
                <a:spcPts val="1800"/>
              </a:lnSpc>
              <a:buNone/>
            </a:pPr>
            <a:r>
              <a:rPr lang="en-US" sz="1350" dirty="0">
                <a:solidFill>
                  <a:srgbClr val="44506A"/>
                </a:solidFill>
                <a:latin typeface="Calibri" pitchFamily="34" charset="0"/>
                <a:ea typeface="Calibri" pitchFamily="34" charset="-122"/>
                <a:cs typeface="Calibri" pitchFamily="34" charset="-120"/>
              </a:rPr>
              <a:t>Once the right answer beats a wrong one by a fixed gap δ, that wrong answer is dropped from the loss. Like a student who only needs to pass comfortably — not score 100 on every question.</a:t>
            </a:r>
            <a:endParaRPr lang="en-US" sz="1350" dirty="0"/>
          </a:p>
        </p:txBody>
      </p:sp>
      <p:sp>
        <p:nvSpPr>
          <p:cNvPr id="8" name="Text 6"/>
          <p:cNvSpPr/>
          <p:nvPr/>
        </p:nvSpPr>
        <p:spPr>
          <a:xfrm>
            <a:off x="548640" y="3108960"/>
            <a:ext cx="5486400" cy="292608"/>
          </a:xfrm>
          <a:prstGeom prst="rect">
            <a:avLst/>
          </a:prstGeom>
          <a:noFill/>
          <a:ln/>
        </p:spPr>
        <p:txBody>
          <a:bodyPr wrap="square" lIns="0" tIns="0" rIns="0" bIns="0" rtlCol="0" anchor="ctr"/>
          <a:lstStyle/>
          <a:p>
            <a:pPr indent="0" marL="0">
              <a:buNone/>
            </a:pPr>
            <a:r>
              <a:rPr lang="en-US" sz="1300" b="1" dirty="0">
                <a:solidFill>
                  <a:srgbClr val="8A93A6"/>
                </a:solidFill>
                <a:latin typeface="Calibri" pitchFamily="34" charset="0"/>
                <a:ea typeface="Calibri" pitchFamily="34" charset="-122"/>
                <a:cs typeface="Calibri" pitchFamily="34" charset="-120"/>
              </a:rPr>
              <a:t>What they reported</a:t>
            </a:r>
            <a:endParaRPr lang="en-US" sz="1300" dirty="0"/>
          </a:p>
        </p:txBody>
      </p:sp>
      <p:sp>
        <p:nvSpPr>
          <p:cNvPr id="9" name="Shape 7"/>
          <p:cNvSpPr/>
          <p:nvPr/>
        </p:nvSpPr>
        <p:spPr>
          <a:xfrm>
            <a:off x="548640" y="3520440"/>
            <a:ext cx="329184" cy="329184"/>
          </a:xfrm>
          <a:prstGeom prst="ellipse">
            <a:avLst/>
          </a:prstGeom>
          <a:solidFill>
            <a:srgbClr val="12897B"/>
          </a:solidFill>
          <a:ln w="12700">
            <a:solidFill>
              <a:srgbClr val="12897B"/>
            </a:solidFill>
            <a:prstDash val="solid"/>
          </a:ln>
        </p:spPr>
      </p:sp>
      <p:sp>
        <p:nvSpPr>
          <p:cNvPr id="10" name="Text 8"/>
          <p:cNvSpPr/>
          <p:nvPr/>
        </p:nvSpPr>
        <p:spPr>
          <a:xfrm>
            <a:off x="548640" y="35204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87552" y="3520440"/>
            <a:ext cx="5029200" cy="32918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Better accuracy &amp; F1 — across most tasks</a:t>
            </a:r>
            <a:endParaRPr lang="en-US" sz="1350" dirty="0"/>
          </a:p>
        </p:txBody>
      </p:sp>
      <p:sp>
        <p:nvSpPr>
          <p:cNvPr id="12" name="Shape 10"/>
          <p:cNvSpPr/>
          <p:nvPr/>
        </p:nvSpPr>
        <p:spPr>
          <a:xfrm>
            <a:off x="548640" y="4178808"/>
            <a:ext cx="329184" cy="329184"/>
          </a:xfrm>
          <a:prstGeom prst="ellipse">
            <a:avLst/>
          </a:prstGeom>
          <a:solidFill>
            <a:srgbClr val="12897B"/>
          </a:solidFill>
          <a:ln w="12700">
            <a:solidFill>
              <a:srgbClr val="12897B"/>
            </a:solidFill>
            <a:prstDash val="solid"/>
          </a:ln>
        </p:spPr>
      </p:sp>
      <p:sp>
        <p:nvSpPr>
          <p:cNvPr id="13" name="Text 11"/>
          <p:cNvSpPr/>
          <p:nvPr/>
        </p:nvSpPr>
        <p:spPr>
          <a:xfrm>
            <a:off x="548640" y="4178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987552" y="4178808"/>
            <a:ext cx="5029200" cy="32918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Better calibration, less overfitting</a:t>
            </a:r>
            <a:endParaRPr lang="en-US" sz="1350" dirty="0"/>
          </a:p>
        </p:txBody>
      </p:sp>
      <p:sp>
        <p:nvSpPr>
          <p:cNvPr id="15" name="Shape 13"/>
          <p:cNvSpPr/>
          <p:nvPr/>
        </p:nvSpPr>
        <p:spPr>
          <a:xfrm>
            <a:off x="548640" y="4837176"/>
            <a:ext cx="329184" cy="329184"/>
          </a:xfrm>
          <a:prstGeom prst="ellipse">
            <a:avLst/>
          </a:prstGeom>
          <a:solidFill>
            <a:srgbClr val="12897B"/>
          </a:solidFill>
          <a:ln w="12700">
            <a:solidFill>
              <a:srgbClr val="12897B"/>
            </a:solidFill>
            <a:prstDash val="solid"/>
          </a:ln>
        </p:spPr>
      </p:sp>
      <p:sp>
        <p:nvSpPr>
          <p:cNvPr id="16" name="Text 14"/>
          <p:cNvSpPr/>
          <p:nvPr/>
        </p:nvSpPr>
        <p:spPr>
          <a:xfrm>
            <a:off x="548640" y="48371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87552" y="4837176"/>
            <a:ext cx="5029200" cy="32918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≈1.2× faster training — via their AS-Speed trick</a:t>
            </a:r>
            <a:endParaRPr lang="en-US" sz="1350" dirty="0"/>
          </a:p>
        </p:txBody>
      </p:sp>
      <p:sp>
        <p:nvSpPr>
          <p:cNvPr id="18" name="Shape 16"/>
          <p:cNvSpPr/>
          <p:nvPr/>
        </p:nvSpPr>
        <p:spPr>
          <a:xfrm>
            <a:off x="6309360" y="3383280"/>
            <a:ext cx="5303520" cy="1645920"/>
          </a:xfrm>
          <a:prstGeom prst="roundRect">
            <a:avLst>
              <a:gd name="adj" fmla="val 6667"/>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9" name="Text 17"/>
          <p:cNvSpPr/>
          <p:nvPr/>
        </p:nvSpPr>
        <p:spPr>
          <a:xfrm>
            <a:off x="6583680" y="3566160"/>
            <a:ext cx="4754880" cy="256032"/>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Their headline number (SST-5)</a:t>
            </a:r>
            <a:endParaRPr lang="en-US" sz="1150" dirty="0"/>
          </a:p>
        </p:txBody>
      </p:sp>
      <p:sp>
        <p:nvSpPr>
          <p:cNvPr id="20" name="Text 18"/>
          <p:cNvSpPr/>
          <p:nvPr/>
        </p:nvSpPr>
        <p:spPr>
          <a:xfrm>
            <a:off x="6583680" y="3840480"/>
            <a:ext cx="4754880" cy="457200"/>
          </a:xfrm>
          <a:prstGeom prst="rect">
            <a:avLst/>
          </a:prstGeom>
          <a:noFill/>
          <a:ln/>
        </p:spPr>
        <p:txBody>
          <a:bodyPr wrap="square" lIns="0" tIns="0" rIns="0" bIns="0" rtlCol="0" anchor="ctr"/>
          <a:lstStyle/>
          <a:p>
            <a:pPr indent="0" marL="0">
              <a:buNone/>
            </a:pPr>
            <a:r>
              <a:rPr lang="en-US" sz="2600" b="1" dirty="0">
                <a:solidFill>
                  <a:srgbClr val="12897B"/>
                </a:solidFill>
                <a:latin typeface="Cambria" pitchFamily="34" charset="0"/>
                <a:ea typeface="Cambria" pitchFamily="34" charset="-122"/>
                <a:cs typeface="Cambria" pitchFamily="34" charset="-120"/>
              </a:rPr>
              <a:t>0.038   →   −0.952</a:t>
            </a:r>
            <a:endParaRPr lang="en-US" sz="2600" dirty="0"/>
          </a:p>
        </p:txBody>
      </p:sp>
      <p:sp>
        <p:nvSpPr>
          <p:cNvPr id="21" name="Text 19"/>
          <p:cNvSpPr/>
          <p:nvPr/>
        </p:nvSpPr>
        <p:spPr>
          <a:xfrm>
            <a:off x="6583680" y="4325112"/>
            <a:ext cx="4754880" cy="502920"/>
          </a:xfrm>
          <a:prstGeom prst="rect">
            <a:avLst/>
          </a:prstGeom>
          <a:noFill/>
          <a:ln/>
        </p:spPr>
        <p:txBody>
          <a:bodyPr wrap="square" lIns="0" tIns="0" rIns="0" bIns="0" rtlCol="0" anchor="ctr"/>
          <a:lstStyle/>
          <a:p>
            <a:pPr indent="0" marL="0">
              <a:buNone/>
            </a:pPr>
            <a:r>
              <a:rPr lang="en-US" sz="1100" dirty="0">
                <a:solidFill>
                  <a:srgbClr val="44506A"/>
                </a:solidFill>
                <a:latin typeface="Calibri" pitchFamily="34" charset="0"/>
                <a:ea typeface="Calibri" pitchFamily="34" charset="-122"/>
                <a:cs typeface="Calibri" pitchFamily="34" charset="-120"/>
              </a:rPr>
              <a:t>correlation between loss and validation accuracy: the loss finally tracks what we care about</a:t>
            </a:r>
            <a:endParaRPr lang="en-US" sz="1100" dirty="0"/>
          </a:p>
        </p:txBody>
      </p:sp>
      <p:sp>
        <p:nvSpPr>
          <p:cNvPr id="22" name="Text 20"/>
          <p:cNvSpPr/>
          <p:nvPr/>
        </p:nvSpPr>
        <p:spPr>
          <a:xfrm>
            <a:off x="548640" y="5349240"/>
            <a:ext cx="11064240" cy="310896"/>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Tested on:   SST-5 · CLINC150 · CoNLL2003 · SIGHAN2015 · Eurlex · WOS-46985   (text)   ·   WikiArt   (images)   ·   Chest-falsetto   (audio)</a:t>
            </a:r>
            <a:endParaRPr lang="en-US" sz="1200" dirty="0"/>
          </a:p>
        </p:txBody>
      </p:sp>
      <p:sp>
        <p:nvSpPr>
          <p:cNvPr id="23" name="Text 21"/>
          <p:cNvSpPr/>
          <p:nvPr/>
        </p:nvSpPr>
        <p:spPr>
          <a:xfrm>
            <a:off x="548640" y="5779008"/>
            <a:ext cx="11064240" cy="329184"/>
          </a:xfrm>
          <a:prstGeom prst="rect">
            <a:avLst/>
          </a:prstGeom>
          <a:noFill/>
          <a:ln/>
        </p:spPr>
        <p:txBody>
          <a:bodyPr wrap="square" lIns="0" tIns="0" rIns="0" bIns="0" rtlCol="0" anchor="ctr"/>
          <a:lstStyle/>
          <a:p>
            <a:pPr indent="0" marL="0">
              <a:buNone/>
            </a:pPr>
            <a:r>
              <a:rPr lang="en-US" sz="1450" b="1" i="1" dirty="0">
                <a:solidFill>
                  <a:srgbClr val="C1121F"/>
                </a:solidFill>
                <a:latin typeface="Calibri" pitchFamily="34" charset="0"/>
                <a:ea typeface="Calibri" pitchFamily="34" charset="-122"/>
                <a:cs typeface="Calibri" pitchFamily="34" charset="-120"/>
              </a:rPr>
              <a:t>The opening they leave: δ is a single global number, hand-tuned per dataset.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Our idea: one number for everything is too crude</a:t>
            </a:r>
            <a:endParaRPr lang="en-US" sz="3200" dirty="0"/>
          </a:p>
        </p:txBody>
      </p:sp>
      <p:sp>
        <p:nvSpPr>
          <p:cNvPr id="4" name="Shape 2"/>
          <p:cNvSpPr/>
          <p:nvPr/>
        </p:nvSpPr>
        <p:spPr>
          <a:xfrm>
            <a:off x="3246120" y="1371600"/>
            <a:ext cx="5669280" cy="658368"/>
          </a:xfrm>
          <a:prstGeom prst="roundRect">
            <a:avLst>
              <a:gd name="adj" fmla="val 19444"/>
            </a:avLst>
          </a:prstGeom>
          <a:solidFill>
            <a:srgbClr val="152238"/>
          </a:solidFill>
          <a:ln w="12700">
            <a:solidFill>
              <a:srgbClr val="152238"/>
            </a:solidFill>
            <a:prstDash val="solid"/>
          </a:ln>
        </p:spPr>
      </p:sp>
      <p:sp>
        <p:nvSpPr>
          <p:cNvPr id="5" name="Text 3"/>
          <p:cNvSpPr/>
          <p:nvPr/>
        </p:nvSpPr>
        <p:spPr>
          <a:xfrm>
            <a:off x="3246120" y="1371600"/>
            <a:ext cx="5669280"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δ      →      δ t,j (x, τ)</a:t>
            </a:r>
            <a:endParaRPr lang="en-US" sz="2100" dirty="0"/>
          </a:p>
        </p:txBody>
      </p:sp>
      <p:sp>
        <p:nvSpPr>
          <p:cNvPr id="6" name="Text 4"/>
          <p:cNvSpPr/>
          <p:nvPr/>
        </p:nvSpPr>
        <p:spPr>
          <a:xfrm>
            <a:off x="3246120" y="2103120"/>
            <a:ext cx="5669280" cy="274320"/>
          </a:xfrm>
          <a:prstGeom prst="rect">
            <a:avLst/>
          </a:prstGeom>
          <a:noFill/>
          <a:ln/>
        </p:spPr>
        <p:txBody>
          <a:bodyPr wrap="square" lIns="0" tIns="0" rIns="0" bIns="0" rtlCol="0" anchor="ctr"/>
          <a:lstStyle/>
          <a:p>
            <a:pPr algn="ctr" indent="0" marL="0">
              <a:buNone/>
            </a:pPr>
            <a:r>
              <a:rPr lang="en-US" sz="1250" i="1" dirty="0">
                <a:solidFill>
                  <a:srgbClr val="8A93A6"/>
                </a:solidFill>
                <a:latin typeface="Calibri" pitchFamily="34" charset="0"/>
                <a:ea typeface="Calibri" pitchFamily="34" charset="-122"/>
                <a:cs typeface="Calibri" pitchFamily="34" charset="-120"/>
              </a:rPr>
              <a:t>one fixed gap  →  a gap that adapts</a:t>
            </a:r>
            <a:endParaRPr lang="en-US" sz="1250" dirty="0"/>
          </a:p>
        </p:txBody>
      </p:sp>
      <p:sp>
        <p:nvSpPr>
          <p:cNvPr id="7" name="Shape 5"/>
          <p:cNvSpPr/>
          <p:nvPr/>
        </p:nvSpPr>
        <p:spPr>
          <a:xfrm>
            <a:off x="548640" y="2651760"/>
            <a:ext cx="3401568" cy="2880360"/>
          </a:xfrm>
          <a:prstGeom prst="roundRect">
            <a:avLst>
              <a:gd name="adj" fmla="val 381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8" name="Shape 6"/>
          <p:cNvSpPr/>
          <p:nvPr/>
        </p:nvSpPr>
        <p:spPr>
          <a:xfrm>
            <a:off x="841248" y="2907792"/>
            <a:ext cx="475488" cy="475488"/>
          </a:xfrm>
          <a:prstGeom prst="ellipse">
            <a:avLst/>
          </a:prstGeom>
          <a:solidFill>
            <a:srgbClr val="12897B"/>
          </a:solidFill>
          <a:ln w="12700">
            <a:solidFill>
              <a:srgbClr val="12897B"/>
            </a:solidFill>
            <a:prstDash val="solid"/>
          </a:ln>
        </p:spPr>
      </p:sp>
      <p:sp>
        <p:nvSpPr>
          <p:cNvPr id="9" name="Text 7"/>
          <p:cNvSpPr/>
          <p:nvPr/>
        </p:nvSpPr>
        <p:spPr>
          <a:xfrm>
            <a:off x="841248" y="29077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1444752" y="2926080"/>
            <a:ext cx="2286000" cy="411480"/>
          </a:xfrm>
          <a:prstGeom prst="rect">
            <a:avLst/>
          </a:prstGeom>
          <a:noFill/>
          <a:ln/>
        </p:spPr>
        <p:txBody>
          <a:bodyPr wrap="square" lIns="0" tIns="0" rIns="0" bIns="0" rtlCol="0" anchor="ctr"/>
          <a:lstStyle/>
          <a:p>
            <a:pPr indent="0" marL="0">
              <a:buNone/>
            </a:pPr>
            <a:r>
              <a:rPr lang="en-US" sz="1900" b="1" dirty="0">
                <a:solidFill>
                  <a:srgbClr val="152238"/>
                </a:solidFill>
                <a:latin typeface="Cambria" pitchFamily="34" charset="0"/>
                <a:ea typeface="Cambria" pitchFamily="34" charset="-122"/>
                <a:cs typeface="Cambria" pitchFamily="34" charset="-120"/>
              </a:rPr>
              <a:t>Class-pair</a:t>
            </a:r>
            <a:endParaRPr lang="en-US" sz="1900" dirty="0"/>
          </a:p>
        </p:txBody>
      </p:sp>
      <p:sp>
        <p:nvSpPr>
          <p:cNvPr id="11" name="Text 9"/>
          <p:cNvSpPr/>
          <p:nvPr/>
        </p:nvSpPr>
        <p:spPr>
          <a:xfrm>
            <a:off x="841248" y="3611880"/>
            <a:ext cx="2834640" cy="731520"/>
          </a:xfrm>
          <a:prstGeom prst="rect">
            <a:avLst/>
          </a:prstGeom>
          <a:noFill/>
          <a:ln/>
        </p:spPr>
        <p:txBody>
          <a:bodyPr wrap="square" lIns="0" tIns="0" rIns="0" bIns="0" rtlCol="0" anchor="ctr"/>
          <a:lstStyle/>
          <a:p>
            <a:pPr indent="0" marL="0">
              <a:lnSpc>
                <a:spcPts val="1800"/>
              </a:lnSpc>
              <a:buNone/>
            </a:pPr>
            <a:r>
              <a:rPr lang="en-US" sz="1300" dirty="0">
                <a:solidFill>
                  <a:srgbClr val="44506A"/>
                </a:solidFill>
                <a:latin typeface="Calibri" pitchFamily="34" charset="0"/>
                <a:ea typeface="Calibri" pitchFamily="34" charset="-122"/>
                <a:cs typeface="Calibri" pitchFamily="34" charset="-120"/>
              </a:rPr>
              <a:t>Some answers are genuinely easy to confuse.</a:t>
            </a:r>
            <a:endParaRPr lang="en-US" sz="1300" dirty="0"/>
          </a:p>
        </p:txBody>
      </p:sp>
      <p:sp>
        <p:nvSpPr>
          <p:cNvPr id="12" name="Text 10"/>
          <p:cNvSpPr/>
          <p:nvPr/>
        </p:nvSpPr>
        <p:spPr>
          <a:xfrm>
            <a:off x="841248" y="4480560"/>
            <a:ext cx="2834640" cy="868680"/>
          </a:xfrm>
          <a:prstGeom prst="rect">
            <a:avLst/>
          </a:prstGeom>
          <a:noFill/>
          <a:ln/>
        </p:spPr>
        <p:txBody>
          <a:bodyPr wrap="square" lIns="0" tIns="0" rIns="0" bIns="0" rtlCol="0" anchor="ctr"/>
          <a:lstStyle/>
          <a:p>
            <a:pPr indent="0" marL="0">
              <a:lnSpc>
                <a:spcPts val="1600"/>
              </a:lnSpc>
              <a:buNone/>
            </a:pPr>
            <a:r>
              <a:rPr lang="en-US" sz="1150" i="1" dirty="0">
                <a:solidFill>
                  <a:srgbClr val="8A93A6"/>
                </a:solidFill>
                <a:latin typeface="Calibri" pitchFamily="34" charset="0"/>
                <a:ea typeface="Calibri" pitchFamily="34" charset="-122"/>
                <a:cs typeface="Calibri" pitchFamily="34" charset="-120"/>
              </a:rPr>
              <a:t>"cat vs dog" deserves a bigger gap than "cat vs aeroplane"</a:t>
            </a:r>
            <a:endParaRPr lang="en-US" sz="1150" dirty="0"/>
          </a:p>
        </p:txBody>
      </p:sp>
      <p:sp>
        <p:nvSpPr>
          <p:cNvPr id="13" name="Shape 11"/>
          <p:cNvSpPr/>
          <p:nvPr/>
        </p:nvSpPr>
        <p:spPr>
          <a:xfrm>
            <a:off x="4261104" y="2651760"/>
            <a:ext cx="3401568" cy="2880360"/>
          </a:xfrm>
          <a:prstGeom prst="roundRect">
            <a:avLst>
              <a:gd name="adj" fmla="val 381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4" name="Shape 12"/>
          <p:cNvSpPr/>
          <p:nvPr/>
        </p:nvSpPr>
        <p:spPr>
          <a:xfrm>
            <a:off x="4553712" y="2907792"/>
            <a:ext cx="475488" cy="475488"/>
          </a:xfrm>
          <a:prstGeom prst="ellipse">
            <a:avLst/>
          </a:prstGeom>
          <a:solidFill>
            <a:srgbClr val="C97B1E"/>
          </a:solidFill>
          <a:ln w="12700">
            <a:solidFill>
              <a:srgbClr val="C97B1E"/>
            </a:solidFill>
            <a:prstDash val="solid"/>
          </a:ln>
        </p:spPr>
      </p:sp>
      <p:sp>
        <p:nvSpPr>
          <p:cNvPr id="15" name="Text 13"/>
          <p:cNvSpPr/>
          <p:nvPr/>
        </p:nvSpPr>
        <p:spPr>
          <a:xfrm>
            <a:off x="4553712" y="29077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5157216" y="2926080"/>
            <a:ext cx="2286000" cy="411480"/>
          </a:xfrm>
          <a:prstGeom prst="rect">
            <a:avLst/>
          </a:prstGeom>
          <a:noFill/>
          <a:ln/>
        </p:spPr>
        <p:txBody>
          <a:bodyPr wrap="square" lIns="0" tIns="0" rIns="0" bIns="0" rtlCol="0" anchor="ctr"/>
          <a:lstStyle/>
          <a:p>
            <a:pPr indent="0" marL="0">
              <a:buNone/>
            </a:pPr>
            <a:r>
              <a:rPr lang="en-US" sz="1900" b="1" dirty="0">
                <a:solidFill>
                  <a:srgbClr val="152238"/>
                </a:solidFill>
                <a:latin typeface="Cambria" pitchFamily="34" charset="0"/>
                <a:ea typeface="Cambria" pitchFamily="34" charset="-122"/>
                <a:cs typeface="Cambria" pitchFamily="34" charset="-120"/>
              </a:rPr>
              <a:t>Sample</a:t>
            </a:r>
            <a:endParaRPr lang="en-US" sz="1900" dirty="0"/>
          </a:p>
        </p:txBody>
      </p:sp>
      <p:sp>
        <p:nvSpPr>
          <p:cNvPr id="17" name="Text 15"/>
          <p:cNvSpPr/>
          <p:nvPr/>
        </p:nvSpPr>
        <p:spPr>
          <a:xfrm>
            <a:off x="4553712" y="3611880"/>
            <a:ext cx="2834640" cy="731520"/>
          </a:xfrm>
          <a:prstGeom prst="rect">
            <a:avLst/>
          </a:prstGeom>
          <a:noFill/>
          <a:ln/>
        </p:spPr>
        <p:txBody>
          <a:bodyPr wrap="square" lIns="0" tIns="0" rIns="0" bIns="0" rtlCol="0" anchor="ctr"/>
          <a:lstStyle/>
          <a:p>
            <a:pPr indent="0" marL="0">
              <a:lnSpc>
                <a:spcPts val="1800"/>
              </a:lnSpc>
              <a:buNone/>
            </a:pPr>
            <a:r>
              <a:rPr lang="en-US" sz="1300" dirty="0">
                <a:solidFill>
                  <a:srgbClr val="44506A"/>
                </a:solidFill>
                <a:latin typeface="Calibri" pitchFamily="34" charset="0"/>
                <a:ea typeface="Calibri" pitchFamily="34" charset="-122"/>
                <a:cs typeface="Calibri" pitchFamily="34" charset="-120"/>
              </a:rPr>
              <a:t>Some individual examples are ambiguous or plain wrong.</a:t>
            </a:r>
            <a:endParaRPr lang="en-US" sz="1300" dirty="0"/>
          </a:p>
        </p:txBody>
      </p:sp>
      <p:sp>
        <p:nvSpPr>
          <p:cNvPr id="18" name="Text 16"/>
          <p:cNvSpPr/>
          <p:nvPr/>
        </p:nvSpPr>
        <p:spPr>
          <a:xfrm>
            <a:off x="4553712" y="4480560"/>
            <a:ext cx="2834640" cy="868680"/>
          </a:xfrm>
          <a:prstGeom prst="rect">
            <a:avLst/>
          </a:prstGeom>
          <a:noFill/>
          <a:ln/>
        </p:spPr>
        <p:txBody>
          <a:bodyPr wrap="square" lIns="0" tIns="0" rIns="0" bIns="0" rtlCol="0" anchor="ctr"/>
          <a:lstStyle/>
          <a:p>
            <a:pPr indent="0" marL="0">
              <a:lnSpc>
                <a:spcPts val="1600"/>
              </a:lnSpc>
              <a:buNone/>
            </a:pPr>
            <a:r>
              <a:rPr lang="en-US" sz="1150" i="1" dirty="0">
                <a:solidFill>
                  <a:srgbClr val="8A93A6"/>
                </a:solidFill>
                <a:latin typeface="Calibri" pitchFamily="34" charset="0"/>
                <a:ea typeface="Calibri" pitchFamily="34" charset="-122"/>
                <a:cs typeface="Calibri" pitchFamily="34" charset="-120"/>
              </a:rPr>
              <a:t>A blurry photo should not be treated like a clear one</a:t>
            </a:r>
            <a:endParaRPr lang="en-US" sz="1150" dirty="0"/>
          </a:p>
        </p:txBody>
      </p:sp>
      <p:sp>
        <p:nvSpPr>
          <p:cNvPr id="19" name="Shape 17"/>
          <p:cNvSpPr/>
          <p:nvPr/>
        </p:nvSpPr>
        <p:spPr>
          <a:xfrm>
            <a:off x="7973568" y="2651760"/>
            <a:ext cx="3401568" cy="2880360"/>
          </a:xfrm>
          <a:prstGeom prst="roundRect">
            <a:avLst>
              <a:gd name="adj" fmla="val 381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20" name="Shape 18"/>
          <p:cNvSpPr/>
          <p:nvPr/>
        </p:nvSpPr>
        <p:spPr>
          <a:xfrm>
            <a:off x="8266176" y="2907792"/>
            <a:ext cx="475488" cy="475488"/>
          </a:xfrm>
          <a:prstGeom prst="ellipse">
            <a:avLst/>
          </a:prstGeom>
          <a:solidFill>
            <a:srgbClr val="3E6FA8"/>
          </a:solidFill>
          <a:ln w="12700">
            <a:solidFill>
              <a:srgbClr val="3E6FA8"/>
            </a:solidFill>
            <a:prstDash val="solid"/>
          </a:ln>
        </p:spPr>
      </p:sp>
      <p:sp>
        <p:nvSpPr>
          <p:cNvPr id="21" name="Text 19"/>
          <p:cNvSpPr/>
          <p:nvPr/>
        </p:nvSpPr>
        <p:spPr>
          <a:xfrm>
            <a:off x="8266176" y="29077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20"/>
          <p:cNvSpPr/>
          <p:nvPr/>
        </p:nvSpPr>
        <p:spPr>
          <a:xfrm>
            <a:off x="8869680" y="2926080"/>
            <a:ext cx="2286000" cy="411480"/>
          </a:xfrm>
          <a:prstGeom prst="rect">
            <a:avLst/>
          </a:prstGeom>
          <a:noFill/>
          <a:ln/>
        </p:spPr>
        <p:txBody>
          <a:bodyPr wrap="square" lIns="0" tIns="0" rIns="0" bIns="0" rtlCol="0" anchor="ctr"/>
          <a:lstStyle/>
          <a:p>
            <a:pPr indent="0" marL="0">
              <a:buNone/>
            </a:pPr>
            <a:r>
              <a:rPr lang="en-US" sz="1900" b="1" dirty="0">
                <a:solidFill>
                  <a:srgbClr val="152238"/>
                </a:solidFill>
                <a:latin typeface="Cambria" pitchFamily="34" charset="0"/>
                <a:ea typeface="Cambria" pitchFamily="34" charset="-122"/>
                <a:cs typeface="Cambria" pitchFamily="34" charset="-120"/>
              </a:rPr>
              <a:t>Time</a:t>
            </a:r>
            <a:endParaRPr lang="en-US" sz="1900" dirty="0"/>
          </a:p>
        </p:txBody>
      </p:sp>
      <p:sp>
        <p:nvSpPr>
          <p:cNvPr id="23" name="Text 21"/>
          <p:cNvSpPr/>
          <p:nvPr/>
        </p:nvSpPr>
        <p:spPr>
          <a:xfrm>
            <a:off x="8266176" y="3611880"/>
            <a:ext cx="2834640" cy="731520"/>
          </a:xfrm>
          <a:prstGeom prst="rect">
            <a:avLst/>
          </a:prstGeom>
          <a:noFill/>
          <a:ln/>
        </p:spPr>
        <p:txBody>
          <a:bodyPr wrap="square" lIns="0" tIns="0" rIns="0" bIns="0" rtlCol="0" anchor="ctr"/>
          <a:lstStyle/>
          <a:p>
            <a:pPr indent="0" marL="0">
              <a:lnSpc>
                <a:spcPts val="1800"/>
              </a:lnSpc>
              <a:buNone/>
            </a:pPr>
            <a:r>
              <a:rPr lang="en-US" sz="1300" dirty="0">
                <a:solidFill>
                  <a:srgbClr val="44506A"/>
                </a:solidFill>
                <a:latin typeface="Calibri" pitchFamily="34" charset="0"/>
                <a:ea typeface="Calibri" pitchFamily="34" charset="-122"/>
                <a:cs typeface="Calibri" pitchFamily="34" charset="-120"/>
              </a:rPr>
              <a:t>Early training is basically guessing.</a:t>
            </a:r>
            <a:endParaRPr lang="en-US" sz="1300" dirty="0"/>
          </a:p>
        </p:txBody>
      </p:sp>
      <p:sp>
        <p:nvSpPr>
          <p:cNvPr id="24" name="Text 22"/>
          <p:cNvSpPr/>
          <p:nvPr/>
        </p:nvSpPr>
        <p:spPr>
          <a:xfrm>
            <a:off x="8266176" y="4480560"/>
            <a:ext cx="2834640" cy="868680"/>
          </a:xfrm>
          <a:prstGeom prst="rect">
            <a:avLst/>
          </a:prstGeom>
          <a:noFill/>
          <a:ln/>
        </p:spPr>
        <p:txBody>
          <a:bodyPr wrap="square" lIns="0" tIns="0" rIns="0" bIns="0" rtlCol="0" anchor="ctr"/>
          <a:lstStyle/>
          <a:p>
            <a:pPr indent="0" marL="0">
              <a:lnSpc>
                <a:spcPts val="1600"/>
              </a:lnSpc>
              <a:buNone/>
            </a:pPr>
            <a:r>
              <a:rPr lang="en-US" sz="1150" i="1" dirty="0">
                <a:solidFill>
                  <a:srgbClr val="8A93A6"/>
                </a:solidFill>
                <a:latin typeface="Calibri" pitchFamily="34" charset="0"/>
                <a:ea typeface="Calibri" pitchFamily="34" charset="-122"/>
                <a:cs typeface="Calibri" pitchFamily="34" charset="-120"/>
              </a:rPr>
              <a:t>Start loose, tighten as the model becomes trustworthy</a:t>
            </a:r>
            <a:endParaRPr lang="en-US" sz="1150" dirty="0"/>
          </a:p>
        </p:txBody>
      </p:sp>
      <p:sp>
        <p:nvSpPr>
          <p:cNvPr id="25" name="Text 23"/>
          <p:cNvSpPr/>
          <p:nvPr/>
        </p:nvSpPr>
        <p:spPr>
          <a:xfrm>
            <a:off x="548640" y="5806440"/>
            <a:ext cx="11064240" cy="310896"/>
          </a:xfrm>
          <a:prstGeom prst="rect">
            <a:avLst/>
          </a:prstGeom>
          <a:noFill/>
          <a:ln/>
        </p:spPr>
        <p:txBody>
          <a:bodyPr wrap="square" lIns="0" tIns="0" rIns="0" bIns="0" rtlCol="0" anchor="ctr"/>
          <a:lstStyle/>
          <a:p>
            <a:pPr algn="ctr" indent="0" marL="0">
              <a:buNone/>
            </a:pPr>
            <a:r>
              <a:rPr lang="en-US" sz="1350" i="1" dirty="0">
                <a:solidFill>
                  <a:srgbClr val="44506A"/>
                </a:solidFill>
                <a:latin typeface="Calibri" pitchFamily="34" charset="0"/>
                <a:ea typeface="Calibri" pitchFamily="34" charset="-122"/>
                <a:cs typeface="Calibri" pitchFamily="34" charset="-120"/>
              </a:rPr>
              <a:t>We test one axis at a time, so any gain can be traced to a specific cause.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ENGINEERING</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What we built</a:t>
            </a:r>
            <a:endParaRPr lang="en-US" sz="3200" dirty="0"/>
          </a:p>
        </p:txBody>
      </p:sp>
      <p:sp>
        <p:nvSpPr>
          <p:cNvPr id="4" name="Shape 2"/>
          <p:cNvSpPr/>
          <p:nvPr/>
        </p:nvSpPr>
        <p:spPr>
          <a:xfrm>
            <a:off x="548640" y="1463040"/>
            <a:ext cx="2587752" cy="1783080"/>
          </a:xfrm>
          <a:prstGeom prst="roundRect">
            <a:avLst>
              <a:gd name="adj" fmla="val 6154"/>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5" name="Text 3"/>
          <p:cNvSpPr/>
          <p:nvPr/>
        </p:nvSpPr>
        <p:spPr>
          <a:xfrm>
            <a:off x="822960" y="1783080"/>
            <a:ext cx="2103120" cy="640080"/>
          </a:xfrm>
          <a:prstGeom prst="rect">
            <a:avLst/>
          </a:prstGeom>
          <a:noFill/>
          <a:ln/>
        </p:spPr>
        <p:txBody>
          <a:bodyPr wrap="square" lIns="0" tIns="0" rIns="0" bIns="0" rtlCol="0" anchor="ctr"/>
          <a:lstStyle/>
          <a:p>
            <a:pPr algn="l" indent="0" marL="0">
              <a:buNone/>
            </a:pPr>
            <a:r>
              <a:rPr lang="en-US" sz="3400" b="1" dirty="0">
                <a:solidFill>
                  <a:srgbClr val="12897B"/>
                </a:solidFill>
                <a:latin typeface="Cambria" pitchFamily="34" charset="0"/>
                <a:ea typeface="Cambria" pitchFamily="34" charset="-122"/>
                <a:cs typeface="Cambria" pitchFamily="34" charset="-120"/>
              </a:rPr>
              <a:t>9</a:t>
            </a:r>
            <a:endParaRPr lang="en-US" sz="3400" dirty="0"/>
          </a:p>
        </p:txBody>
      </p:sp>
      <p:sp>
        <p:nvSpPr>
          <p:cNvPr id="6" name="Text 4"/>
          <p:cNvSpPr/>
          <p:nvPr/>
        </p:nvSpPr>
        <p:spPr>
          <a:xfrm>
            <a:off x="822960" y="2404872"/>
            <a:ext cx="2103120" cy="566928"/>
          </a:xfrm>
          <a:prstGeom prst="rect">
            <a:avLst/>
          </a:prstGeom>
          <a:noFill/>
          <a:ln/>
        </p:spPr>
        <p:txBody>
          <a:bodyPr wrap="square" lIns="0" tIns="0" rIns="0" bIns="0" rtlCol="0" anchor="ctr"/>
          <a:lstStyle/>
          <a:p>
            <a:pPr algn="l" indent="0" marL="0">
              <a:buNone/>
            </a:pPr>
            <a:r>
              <a:rPr lang="en-US" sz="1250" dirty="0">
                <a:solidFill>
                  <a:srgbClr val="44506A"/>
                </a:solidFill>
                <a:latin typeface="Calibri" pitchFamily="34" charset="0"/>
                <a:ea typeface="Calibri" pitchFamily="34" charset="-122"/>
                <a:cs typeface="Calibri" pitchFamily="34" charset="-120"/>
              </a:rPr>
              <a:t>loss functions implemented</a:t>
            </a:r>
            <a:endParaRPr lang="en-US" sz="1250" dirty="0"/>
          </a:p>
          <a:p>
            <a:pPr algn="l" indent="0" marL="0">
              <a:buNone/>
            </a:pPr>
            <a:r>
              <a:rPr lang="en-US" sz="1250" dirty="0">
                <a:solidFill>
                  <a:srgbClr val="44506A"/>
                </a:solidFill>
                <a:latin typeface="Calibri" pitchFamily="34" charset="0"/>
                <a:ea typeface="Calibri" pitchFamily="34" charset="-122"/>
                <a:cs typeface="Calibri" pitchFamily="34" charset="-120"/>
              </a:rPr>
              <a:t>and unit-tested</a:t>
            </a:r>
            <a:endParaRPr lang="en-US" sz="1250" dirty="0"/>
          </a:p>
        </p:txBody>
      </p:sp>
      <p:sp>
        <p:nvSpPr>
          <p:cNvPr id="7" name="Shape 5"/>
          <p:cNvSpPr/>
          <p:nvPr/>
        </p:nvSpPr>
        <p:spPr>
          <a:xfrm>
            <a:off x="3374136" y="1463040"/>
            <a:ext cx="2587752" cy="1783080"/>
          </a:xfrm>
          <a:prstGeom prst="roundRect">
            <a:avLst>
              <a:gd name="adj" fmla="val 6154"/>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8" name="Text 6"/>
          <p:cNvSpPr/>
          <p:nvPr/>
        </p:nvSpPr>
        <p:spPr>
          <a:xfrm>
            <a:off x="3648456" y="1783080"/>
            <a:ext cx="2103120" cy="640080"/>
          </a:xfrm>
          <a:prstGeom prst="rect">
            <a:avLst/>
          </a:prstGeom>
          <a:noFill/>
          <a:ln/>
        </p:spPr>
        <p:txBody>
          <a:bodyPr wrap="square" lIns="0" tIns="0" rIns="0" bIns="0" rtlCol="0" anchor="ctr"/>
          <a:lstStyle/>
          <a:p>
            <a:pPr algn="l" indent="0" marL="0">
              <a:buNone/>
            </a:pPr>
            <a:r>
              <a:rPr lang="en-US" sz="3400" b="1" dirty="0">
                <a:solidFill>
                  <a:srgbClr val="12897B"/>
                </a:solidFill>
                <a:latin typeface="Cambria" pitchFamily="34" charset="0"/>
                <a:ea typeface="Cambria" pitchFamily="34" charset="-122"/>
                <a:cs typeface="Cambria" pitchFamily="34" charset="-120"/>
              </a:rPr>
              <a:t>70</a:t>
            </a:r>
            <a:endParaRPr lang="en-US" sz="3400" dirty="0"/>
          </a:p>
        </p:txBody>
      </p:sp>
      <p:sp>
        <p:nvSpPr>
          <p:cNvPr id="9" name="Text 7"/>
          <p:cNvSpPr/>
          <p:nvPr/>
        </p:nvSpPr>
        <p:spPr>
          <a:xfrm>
            <a:off x="3648456" y="2404872"/>
            <a:ext cx="2103120" cy="566928"/>
          </a:xfrm>
          <a:prstGeom prst="rect">
            <a:avLst/>
          </a:prstGeom>
          <a:noFill/>
          <a:ln/>
        </p:spPr>
        <p:txBody>
          <a:bodyPr wrap="square" lIns="0" tIns="0" rIns="0" bIns="0" rtlCol="0" anchor="ctr"/>
          <a:lstStyle/>
          <a:p>
            <a:pPr algn="l" indent="0" marL="0">
              <a:buNone/>
            </a:pPr>
            <a:r>
              <a:rPr lang="en-US" sz="1250" dirty="0">
                <a:solidFill>
                  <a:srgbClr val="44506A"/>
                </a:solidFill>
                <a:latin typeface="Calibri" pitchFamily="34" charset="0"/>
                <a:ea typeface="Calibri" pitchFamily="34" charset="-122"/>
                <a:cs typeface="Calibri" pitchFamily="34" charset="-120"/>
              </a:rPr>
              <a:t>tests passing</a:t>
            </a:r>
            <a:endParaRPr lang="en-US" sz="1250" dirty="0"/>
          </a:p>
          <a:p>
            <a:pPr algn="l" indent="0" marL="0">
              <a:buNone/>
            </a:pPr>
            <a:r>
              <a:rPr lang="en-US" sz="1250" dirty="0">
                <a:solidFill>
                  <a:srgbClr val="44506A"/>
                </a:solidFill>
                <a:latin typeface="Calibri" pitchFamily="34" charset="0"/>
                <a:ea typeface="Calibri" pitchFamily="34" charset="-122"/>
                <a:cs typeface="Calibri" pitchFamily="34" charset="-120"/>
              </a:rPr>
              <a:t>in under 3 seconds</a:t>
            </a:r>
            <a:endParaRPr lang="en-US" sz="1250" dirty="0"/>
          </a:p>
        </p:txBody>
      </p:sp>
      <p:sp>
        <p:nvSpPr>
          <p:cNvPr id="10" name="Shape 8"/>
          <p:cNvSpPr/>
          <p:nvPr/>
        </p:nvSpPr>
        <p:spPr>
          <a:xfrm>
            <a:off x="6199632" y="1463040"/>
            <a:ext cx="2587752" cy="1783080"/>
          </a:xfrm>
          <a:prstGeom prst="roundRect">
            <a:avLst>
              <a:gd name="adj" fmla="val 6154"/>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1" name="Text 9"/>
          <p:cNvSpPr/>
          <p:nvPr/>
        </p:nvSpPr>
        <p:spPr>
          <a:xfrm>
            <a:off x="6473952" y="1783080"/>
            <a:ext cx="2103120" cy="640080"/>
          </a:xfrm>
          <a:prstGeom prst="rect">
            <a:avLst/>
          </a:prstGeom>
          <a:noFill/>
          <a:ln/>
        </p:spPr>
        <p:txBody>
          <a:bodyPr wrap="square" lIns="0" tIns="0" rIns="0" bIns="0" rtlCol="0" anchor="ctr"/>
          <a:lstStyle/>
          <a:p>
            <a:pPr algn="l" indent="0" marL="0">
              <a:buNone/>
            </a:pPr>
            <a:r>
              <a:rPr lang="en-US" sz="3400" b="1" dirty="0">
                <a:solidFill>
                  <a:srgbClr val="12897B"/>
                </a:solidFill>
                <a:latin typeface="Cambria" pitchFamily="34" charset="0"/>
                <a:ea typeface="Cambria" pitchFamily="34" charset="-122"/>
                <a:cs typeface="Cambria" pitchFamily="34" charset="-120"/>
              </a:rPr>
              <a:t>3</a:t>
            </a:r>
            <a:endParaRPr lang="en-US" sz="3400" dirty="0"/>
          </a:p>
        </p:txBody>
      </p:sp>
      <p:sp>
        <p:nvSpPr>
          <p:cNvPr id="12" name="Text 10"/>
          <p:cNvSpPr/>
          <p:nvPr/>
        </p:nvSpPr>
        <p:spPr>
          <a:xfrm>
            <a:off x="6473952" y="2404872"/>
            <a:ext cx="2103120" cy="566928"/>
          </a:xfrm>
          <a:prstGeom prst="rect">
            <a:avLst/>
          </a:prstGeom>
          <a:noFill/>
          <a:ln/>
        </p:spPr>
        <p:txBody>
          <a:bodyPr wrap="square" lIns="0" tIns="0" rIns="0" bIns="0" rtlCol="0" anchor="ctr"/>
          <a:lstStyle/>
          <a:p>
            <a:pPr algn="l" indent="0" marL="0">
              <a:buNone/>
            </a:pPr>
            <a:r>
              <a:rPr lang="en-US" sz="1250" dirty="0">
                <a:solidFill>
                  <a:srgbClr val="44506A"/>
                </a:solidFill>
                <a:latin typeface="Calibri" pitchFamily="34" charset="0"/>
                <a:ea typeface="Calibri" pitchFamily="34" charset="-122"/>
                <a:cs typeface="Calibri" pitchFamily="34" charset="-120"/>
              </a:rPr>
              <a:t>margin variants</a:t>
            </a:r>
            <a:endParaRPr lang="en-US" sz="1250" dirty="0"/>
          </a:p>
          <a:p>
            <a:pPr algn="l" indent="0" marL="0">
              <a:buNone/>
            </a:pPr>
            <a:r>
              <a:rPr lang="en-US" sz="1250" dirty="0">
                <a:solidFill>
                  <a:srgbClr val="44506A"/>
                </a:solidFill>
                <a:latin typeface="Calibri" pitchFamily="34" charset="0"/>
                <a:ea typeface="Calibri" pitchFamily="34" charset="-122"/>
                <a:cs typeface="Calibri" pitchFamily="34" charset="-120"/>
              </a:rPr>
              <a:t>(class-pair, sample, combined)</a:t>
            </a:r>
            <a:endParaRPr lang="en-US" sz="1250" dirty="0"/>
          </a:p>
        </p:txBody>
      </p:sp>
      <p:sp>
        <p:nvSpPr>
          <p:cNvPr id="13" name="Shape 11"/>
          <p:cNvSpPr/>
          <p:nvPr/>
        </p:nvSpPr>
        <p:spPr>
          <a:xfrm>
            <a:off x="9025128" y="1463040"/>
            <a:ext cx="2587752" cy="1783080"/>
          </a:xfrm>
          <a:prstGeom prst="roundRect">
            <a:avLst>
              <a:gd name="adj" fmla="val 6154"/>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4" name="Text 12"/>
          <p:cNvSpPr/>
          <p:nvPr/>
        </p:nvSpPr>
        <p:spPr>
          <a:xfrm>
            <a:off x="9299448" y="1783080"/>
            <a:ext cx="2103120" cy="640080"/>
          </a:xfrm>
          <a:prstGeom prst="rect">
            <a:avLst/>
          </a:prstGeom>
          <a:noFill/>
          <a:ln/>
        </p:spPr>
        <p:txBody>
          <a:bodyPr wrap="square" lIns="0" tIns="0" rIns="0" bIns="0" rtlCol="0" anchor="ctr"/>
          <a:lstStyle/>
          <a:p>
            <a:pPr algn="l" indent="0" marL="0">
              <a:buNone/>
            </a:pPr>
            <a:r>
              <a:rPr lang="en-US" sz="3400" b="1" dirty="0">
                <a:solidFill>
                  <a:srgbClr val="C97B1E"/>
                </a:solidFill>
                <a:latin typeface="Cambria" pitchFamily="34" charset="0"/>
                <a:ea typeface="Cambria" pitchFamily="34" charset="-122"/>
                <a:cs typeface="Cambria" pitchFamily="34" charset="-120"/>
              </a:rPr>
              <a:t>6 GB</a:t>
            </a:r>
            <a:endParaRPr lang="en-US" sz="3400" dirty="0"/>
          </a:p>
        </p:txBody>
      </p:sp>
      <p:sp>
        <p:nvSpPr>
          <p:cNvPr id="15" name="Text 13"/>
          <p:cNvSpPr/>
          <p:nvPr/>
        </p:nvSpPr>
        <p:spPr>
          <a:xfrm>
            <a:off x="9299448" y="2404872"/>
            <a:ext cx="2103120" cy="566928"/>
          </a:xfrm>
          <a:prstGeom prst="rect">
            <a:avLst/>
          </a:prstGeom>
          <a:noFill/>
          <a:ln/>
        </p:spPr>
        <p:txBody>
          <a:bodyPr wrap="square" lIns="0" tIns="0" rIns="0" bIns="0" rtlCol="0" anchor="ctr"/>
          <a:lstStyle/>
          <a:p>
            <a:pPr algn="l" indent="0" marL="0">
              <a:buNone/>
            </a:pPr>
            <a:r>
              <a:rPr lang="en-US" sz="1250" dirty="0">
                <a:solidFill>
                  <a:srgbClr val="44506A"/>
                </a:solidFill>
                <a:latin typeface="Calibri" pitchFamily="34" charset="0"/>
                <a:ea typeface="Calibri" pitchFamily="34" charset="-122"/>
                <a:cs typeface="Calibri" pitchFamily="34" charset="-120"/>
              </a:rPr>
              <a:t>one laptop GPU —</a:t>
            </a:r>
            <a:endParaRPr lang="en-US" sz="1250" dirty="0"/>
          </a:p>
          <a:p>
            <a:pPr algn="l" indent="0" marL="0">
              <a:buNone/>
            </a:pPr>
            <a:r>
              <a:rPr lang="en-US" sz="1250" dirty="0">
                <a:solidFill>
                  <a:srgbClr val="44506A"/>
                </a:solidFill>
                <a:latin typeface="Calibri" pitchFamily="34" charset="0"/>
                <a:ea typeface="Calibri" pitchFamily="34" charset="-122"/>
                <a:cs typeface="Calibri" pitchFamily="34" charset="-120"/>
              </a:rPr>
              <a:t>the entire compute budget</a:t>
            </a:r>
            <a:endParaRPr lang="en-US" sz="1250" dirty="0"/>
          </a:p>
        </p:txBody>
      </p:sp>
      <p:sp>
        <p:nvSpPr>
          <p:cNvPr id="16" name="Shape 14"/>
          <p:cNvSpPr/>
          <p:nvPr/>
        </p:nvSpPr>
        <p:spPr>
          <a:xfrm>
            <a:off x="548640" y="3520440"/>
            <a:ext cx="5577840" cy="2606040"/>
          </a:xfrm>
          <a:prstGeom prst="roundRect">
            <a:avLst>
              <a:gd name="adj" fmla="val 4211"/>
            </a:avLst>
          </a:prstGeom>
          <a:solidFill>
            <a:srgbClr val="EEF2F7"/>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7" name="Text 15"/>
          <p:cNvSpPr/>
          <p:nvPr/>
        </p:nvSpPr>
        <p:spPr>
          <a:xfrm>
            <a:off x="868680" y="3749040"/>
            <a:ext cx="4937760" cy="320040"/>
          </a:xfrm>
          <a:prstGeom prst="rect">
            <a:avLst/>
          </a:prstGeom>
          <a:noFill/>
          <a:ln/>
        </p:spPr>
        <p:txBody>
          <a:bodyPr wrap="square" lIns="0" tIns="0" rIns="0" bIns="0"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Built so the result is checkable</a:t>
            </a:r>
            <a:endParaRPr lang="en-US" sz="1800" dirty="0"/>
          </a:p>
        </p:txBody>
      </p:sp>
      <p:sp>
        <p:nvSpPr>
          <p:cNvPr id="18" name="Text 16"/>
          <p:cNvSpPr/>
          <p:nvPr/>
        </p:nvSpPr>
        <p:spPr>
          <a:xfrm>
            <a:off x="868680" y="4224528"/>
            <a:ext cx="4937760" cy="169164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44506A"/>
                </a:solidFill>
                <a:latin typeface="Calibri" pitchFamily="34" charset="0"/>
                <a:ea typeface="Calibri" pitchFamily="34" charset="-122"/>
                <a:cs typeface="Calibri" pitchFamily="34" charset="-120"/>
              </a:rPr>
              <a:t>One config file = one experiment = one row in the results table</a:t>
            </a:r>
            <a:endParaRPr lang="en-US" sz="1300" dirty="0"/>
          </a:p>
          <a:p>
            <a:pPr marL="342900" indent="-342900">
              <a:lnSpc>
                <a:spcPts val="1800"/>
              </a:lnSpc>
              <a:spcAft>
                <a:spcPts val="1000"/>
              </a:spcAft>
              <a:buSzPct val="100000"/>
              <a:buChar char="•"/>
            </a:pPr>
            <a:r>
              <a:rPr lang="en-US" sz="1300" dirty="0">
                <a:solidFill>
                  <a:srgbClr val="44506A"/>
                </a:solidFill>
                <a:latin typeface="Calibri" pitchFamily="34" charset="0"/>
                <a:ea typeface="Calibri" pitchFamily="34" charset="-122"/>
                <a:cs typeface="Calibri" pitchFamily="34" charset="-120"/>
              </a:rPr>
              <a:t>A test proves our loss reduces exactly to AS-Softmax when the gap is held constant</a:t>
            </a:r>
            <a:endParaRPr lang="en-US" sz="1300" dirty="0"/>
          </a:p>
          <a:p>
            <a:pPr marL="342900" indent="-342900">
              <a:lnSpc>
                <a:spcPts val="1800"/>
              </a:lnSpc>
              <a:spcAft>
                <a:spcPts val="1000"/>
              </a:spcAft>
              <a:buSzPct val="100000"/>
              <a:buChar char="•"/>
            </a:pPr>
            <a:r>
              <a:rPr lang="en-US" sz="1300" dirty="0">
                <a:solidFill>
                  <a:srgbClr val="44506A"/>
                </a:solidFill>
                <a:latin typeface="Calibri" pitchFamily="34" charset="0"/>
                <a:ea typeface="Calibri" pitchFamily="34" charset="-122"/>
                <a:cs typeface="Calibri" pitchFamily="34" charset="-120"/>
              </a:rPr>
              <a:t>Adding a new idea = one new file + one YAML, not a rewrite</a:t>
            </a:r>
            <a:endParaRPr lang="en-US" sz="1300" dirty="0"/>
          </a:p>
        </p:txBody>
      </p:sp>
      <p:sp>
        <p:nvSpPr>
          <p:cNvPr id="19" name="Shape 17"/>
          <p:cNvSpPr/>
          <p:nvPr/>
        </p:nvSpPr>
        <p:spPr>
          <a:xfrm>
            <a:off x="6309360" y="3520440"/>
            <a:ext cx="5303520" cy="2606040"/>
          </a:xfrm>
          <a:prstGeom prst="roundRect">
            <a:avLst>
              <a:gd name="adj" fmla="val 4211"/>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20" name="Text 18"/>
          <p:cNvSpPr/>
          <p:nvPr/>
        </p:nvSpPr>
        <p:spPr>
          <a:xfrm>
            <a:off x="6629400" y="3749040"/>
            <a:ext cx="4663440" cy="320040"/>
          </a:xfrm>
          <a:prstGeom prst="rect">
            <a:avLst/>
          </a:prstGeom>
          <a:noFill/>
          <a:ln/>
        </p:spPr>
        <p:txBody>
          <a:bodyPr wrap="square" lIns="0" tIns="0" rIns="0" bIns="0"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How we tested it</a:t>
            </a:r>
            <a:endParaRPr lang="en-US" sz="1800" dirty="0"/>
          </a:p>
        </p:txBody>
      </p:sp>
      <p:sp>
        <p:nvSpPr>
          <p:cNvPr id="21" name="Text 19"/>
          <p:cNvSpPr/>
          <p:nvPr/>
        </p:nvSpPr>
        <p:spPr>
          <a:xfrm>
            <a:off x="6629400" y="4279392"/>
            <a:ext cx="2103120" cy="274320"/>
          </a:xfrm>
          <a:prstGeom prst="rect">
            <a:avLst/>
          </a:prstGeom>
          <a:noFill/>
          <a:ln/>
        </p:spPr>
        <p:txBody>
          <a:bodyPr wrap="square" lIns="0" tIns="0" rIns="0" bIns="0" rtlCol="0" anchor="ctr"/>
          <a:lstStyle/>
          <a:p>
            <a:pPr indent="0" marL="0">
              <a:buNone/>
            </a:pPr>
            <a:r>
              <a:rPr lang="en-US" sz="1150" b="1" dirty="0">
                <a:solidFill>
                  <a:srgbClr val="8A93A6"/>
                </a:solidFill>
                <a:latin typeface="Calibri" pitchFamily="34" charset="0"/>
                <a:ea typeface="Calibri" pitchFamily="34" charset="-122"/>
                <a:cs typeface="Calibri" pitchFamily="34" charset="-120"/>
              </a:rPr>
              <a:t>Model</a:t>
            </a:r>
            <a:endParaRPr lang="en-US" sz="1150" dirty="0"/>
          </a:p>
        </p:txBody>
      </p:sp>
      <p:sp>
        <p:nvSpPr>
          <p:cNvPr id="22" name="Text 20"/>
          <p:cNvSpPr/>
          <p:nvPr/>
        </p:nvSpPr>
        <p:spPr>
          <a:xfrm>
            <a:off x="8549640" y="4279392"/>
            <a:ext cx="2743200" cy="274320"/>
          </a:xfrm>
          <a:prstGeom prst="rect">
            <a:avLst/>
          </a:prstGeom>
          <a:noFill/>
          <a:ln/>
        </p:spPr>
        <p:txBody>
          <a:bodyPr wrap="square" lIns="0" tIns="0" rIns="0" bIns="0" rtlCol="0" anchor="ctr"/>
          <a:lstStyle/>
          <a:p>
            <a:pPr indent="0" marL="0">
              <a:buNone/>
            </a:pPr>
            <a:r>
              <a:rPr lang="en-US" sz="1150" dirty="0">
                <a:solidFill>
                  <a:srgbClr val="152238"/>
                </a:solidFill>
                <a:latin typeface="Calibri" pitchFamily="34" charset="0"/>
                <a:ea typeface="Calibri" pitchFamily="34" charset="-122"/>
                <a:cs typeface="Calibri" pitchFamily="34" charset="-120"/>
              </a:rPr>
              <a:t>BERT-base</a:t>
            </a:r>
            <a:endParaRPr lang="en-US" sz="1150" dirty="0"/>
          </a:p>
        </p:txBody>
      </p:sp>
      <p:sp>
        <p:nvSpPr>
          <p:cNvPr id="23" name="Text 21"/>
          <p:cNvSpPr/>
          <p:nvPr/>
        </p:nvSpPr>
        <p:spPr>
          <a:xfrm>
            <a:off x="6629400" y="4736592"/>
            <a:ext cx="2103120" cy="274320"/>
          </a:xfrm>
          <a:prstGeom prst="rect">
            <a:avLst/>
          </a:prstGeom>
          <a:noFill/>
          <a:ln/>
        </p:spPr>
        <p:txBody>
          <a:bodyPr wrap="square" lIns="0" tIns="0" rIns="0" bIns="0" rtlCol="0" anchor="ctr"/>
          <a:lstStyle/>
          <a:p>
            <a:pPr indent="0" marL="0">
              <a:buNone/>
            </a:pPr>
            <a:r>
              <a:rPr lang="en-US" sz="1150" b="1" dirty="0">
                <a:solidFill>
                  <a:srgbClr val="8A93A6"/>
                </a:solidFill>
                <a:latin typeface="Calibri" pitchFamily="34" charset="0"/>
                <a:ea typeface="Calibri" pitchFamily="34" charset="-122"/>
                <a:cs typeface="Calibri" pitchFamily="34" charset="-120"/>
              </a:rPr>
              <a:t>Datasets</a:t>
            </a:r>
            <a:endParaRPr lang="en-US" sz="1150" dirty="0"/>
          </a:p>
        </p:txBody>
      </p:sp>
      <p:sp>
        <p:nvSpPr>
          <p:cNvPr id="24" name="Text 22"/>
          <p:cNvSpPr/>
          <p:nvPr/>
        </p:nvSpPr>
        <p:spPr>
          <a:xfrm>
            <a:off x="8549640" y="4736592"/>
            <a:ext cx="2743200" cy="274320"/>
          </a:xfrm>
          <a:prstGeom prst="rect">
            <a:avLst/>
          </a:prstGeom>
          <a:noFill/>
          <a:ln/>
        </p:spPr>
        <p:txBody>
          <a:bodyPr wrap="square" lIns="0" tIns="0" rIns="0" bIns="0" rtlCol="0" anchor="ctr"/>
          <a:lstStyle/>
          <a:p>
            <a:pPr indent="0" marL="0">
              <a:buNone/>
            </a:pPr>
            <a:r>
              <a:rPr lang="en-US" sz="1150" dirty="0">
                <a:solidFill>
                  <a:srgbClr val="152238"/>
                </a:solidFill>
                <a:latin typeface="Calibri" pitchFamily="34" charset="0"/>
                <a:ea typeface="Calibri" pitchFamily="34" charset="-122"/>
                <a:cs typeface="Calibri" pitchFamily="34" charset="-120"/>
              </a:rPr>
              <a:t>SST-5 (5 classes) · 20 Newsgroups (20 classes)</a:t>
            </a:r>
            <a:endParaRPr lang="en-US" sz="1150" dirty="0"/>
          </a:p>
        </p:txBody>
      </p:sp>
      <p:sp>
        <p:nvSpPr>
          <p:cNvPr id="25" name="Text 23"/>
          <p:cNvSpPr/>
          <p:nvPr/>
        </p:nvSpPr>
        <p:spPr>
          <a:xfrm>
            <a:off x="6629400" y="5193792"/>
            <a:ext cx="2103120" cy="274320"/>
          </a:xfrm>
          <a:prstGeom prst="rect">
            <a:avLst/>
          </a:prstGeom>
          <a:noFill/>
          <a:ln/>
        </p:spPr>
        <p:txBody>
          <a:bodyPr wrap="square" lIns="0" tIns="0" rIns="0" bIns="0" rtlCol="0" anchor="ctr"/>
          <a:lstStyle/>
          <a:p>
            <a:pPr indent="0" marL="0">
              <a:buNone/>
            </a:pPr>
            <a:r>
              <a:rPr lang="en-US" sz="1150" b="1" dirty="0">
                <a:solidFill>
                  <a:srgbClr val="8A93A6"/>
                </a:solidFill>
                <a:latin typeface="Calibri" pitchFamily="34" charset="0"/>
                <a:ea typeface="Calibri" pitchFamily="34" charset="-122"/>
                <a:cs typeface="Calibri" pitchFamily="34" charset="-120"/>
              </a:rPr>
              <a:t>Compared against</a:t>
            </a:r>
            <a:endParaRPr lang="en-US" sz="1150" dirty="0"/>
          </a:p>
        </p:txBody>
      </p:sp>
      <p:sp>
        <p:nvSpPr>
          <p:cNvPr id="26" name="Text 24"/>
          <p:cNvSpPr/>
          <p:nvPr/>
        </p:nvSpPr>
        <p:spPr>
          <a:xfrm>
            <a:off x="8549640" y="5193792"/>
            <a:ext cx="2743200" cy="274320"/>
          </a:xfrm>
          <a:prstGeom prst="rect">
            <a:avLst/>
          </a:prstGeom>
          <a:noFill/>
          <a:ln/>
        </p:spPr>
        <p:txBody>
          <a:bodyPr wrap="square" lIns="0" tIns="0" rIns="0" bIns="0" rtlCol="0" anchor="ctr"/>
          <a:lstStyle/>
          <a:p>
            <a:pPr indent="0" marL="0">
              <a:buNone/>
            </a:pPr>
            <a:r>
              <a:rPr lang="en-US" sz="1150" dirty="0">
                <a:solidFill>
                  <a:srgbClr val="152238"/>
                </a:solidFill>
                <a:latin typeface="Calibri" pitchFamily="34" charset="0"/>
                <a:ea typeface="Calibri" pitchFamily="34" charset="-122"/>
                <a:cs typeface="Calibri" pitchFamily="34" charset="-120"/>
              </a:rPr>
              <a:t>plain cross-entropy and AS-Softmax</a:t>
            </a:r>
            <a:endParaRPr lang="en-US" sz="1150" dirty="0"/>
          </a:p>
        </p:txBody>
      </p:sp>
      <p:sp>
        <p:nvSpPr>
          <p:cNvPr id="27" name="Text 25"/>
          <p:cNvSpPr/>
          <p:nvPr/>
        </p:nvSpPr>
        <p:spPr>
          <a:xfrm>
            <a:off x="6629400" y="5650992"/>
            <a:ext cx="2103120" cy="274320"/>
          </a:xfrm>
          <a:prstGeom prst="rect">
            <a:avLst/>
          </a:prstGeom>
          <a:noFill/>
          <a:ln/>
        </p:spPr>
        <p:txBody>
          <a:bodyPr wrap="square" lIns="0" tIns="0" rIns="0" bIns="0" rtlCol="0" anchor="ctr"/>
          <a:lstStyle/>
          <a:p>
            <a:pPr indent="0" marL="0">
              <a:buNone/>
            </a:pPr>
            <a:r>
              <a:rPr lang="en-US" sz="1150" b="1" dirty="0">
                <a:solidFill>
                  <a:srgbClr val="8A93A6"/>
                </a:solidFill>
                <a:latin typeface="Calibri" pitchFamily="34" charset="0"/>
                <a:ea typeface="Calibri" pitchFamily="34" charset="-122"/>
                <a:cs typeface="Calibri" pitchFamily="34" charset="-120"/>
              </a:rPr>
              <a:t>Success bar, set in advance</a:t>
            </a:r>
            <a:endParaRPr lang="en-US" sz="1150" dirty="0"/>
          </a:p>
        </p:txBody>
      </p:sp>
      <p:sp>
        <p:nvSpPr>
          <p:cNvPr id="28" name="Text 26"/>
          <p:cNvSpPr/>
          <p:nvPr/>
        </p:nvSpPr>
        <p:spPr>
          <a:xfrm>
            <a:off x="8549640" y="5650992"/>
            <a:ext cx="2743200" cy="274320"/>
          </a:xfrm>
          <a:prstGeom prst="rect">
            <a:avLst/>
          </a:prstGeom>
          <a:noFill/>
          <a:ln/>
        </p:spPr>
        <p:txBody>
          <a:bodyPr wrap="square" lIns="0" tIns="0" rIns="0" bIns="0" rtlCol="0" anchor="ctr"/>
          <a:lstStyle/>
          <a:p>
            <a:pPr indent="0" marL="0">
              <a:buNone/>
            </a:pPr>
            <a:r>
              <a:rPr lang="en-US" sz="1150" dirty="0">
                <a:solidFill>
                  <a:srgbClr val="152238"/>
                </a:solidFill>
                <a:latin typeface="Calibri" pitchFamily="34" charset="0"/>
                <a:ea typeface="Calibri" pitchFamily="34" charset="-122"/>
                <a:cs typeface="Calibri" pitchFamily="34" charset="-120"/>
              </a:rPr>
              <a:t>beat AS-Softmax by ≥ 0.3% accuracy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2238"/>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6FD8C9"/>
                </a:solidFill>
                <a:latin typeface="Calibri" pitchFamily="34" charset="0"/>
                <a:ea typeface="Calibri" pitchFamily="34" charset="-122"/>
                <a:cs typeface="Calibri" pitchFamily="34" charset="-120"/>
              </a:rPr>
              <a:t>RESULTS, PART 1</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Then we ran it. It did not work.</a:t>
            </a:r>
            <a:endParaRPr lang="en-US" sz="3200" dirty="0"/>
          </a:p>
        </p:txBody>
      </p:sp>
      <p:sp>
        <p:nvSpPr>
          <p:cNvPr id="4" name="Text 2"/>
          <p:cNvSpPr/>
          <p:nvPr/>
        </p:nvSpPr>
        <p:spPr>
          <a:xfrm>
            <a:off x="548640" y="1417320"/>
            <a:ext cx="11064240" cy="548640"/>
          </a:xfrm>
          <a:prstGeom prst="rect">
            <a:avLst/>
          </a:prstGeom>
          <a:noFill/>
          <a:ln/>
        </p:spPr>
        <p:txBody>
          <a:bodyPr wrap="square" lIns="0" tIns="0" rIns="0" bIns="0" rtlCol="0" anchor="ctr"/>
          <a:lstStyle/>
          <a:p>
            <a:pPr indent="0" marL="0">
              <a:lnSpc>
                <a:spcPts val="2100"/>
              </a:lnSpc>
              <a:buNone/>
            </a:pPr>
            <a:r>
              <a:rPr lang="en-US" sz="1500" dirty="0">
                <a:solidFill>
                  <a:srgbClr val="C3CEDF"/>
                </a:solidFill>
                <a:latin typeface="Calibri" pitchFamily="34" charset="0"/>
                <a:ea typeface="Calibri" pitchFamily="34" charset="-122"/>
                <a:cs typeface="Calibri" pitchFamily="34" charset="-120"/>
              </a:rPr>
              <a:t>Four testbeds. On accuracy, nothing separated — every difference was smaller than the random variation between two runs of the same method.</a:t>
            </a:r>
            <a:endParaRPr lang="en-US" sz="1500" dirty="0"/>
          </a:p>
        </p:txBody>
      </p:sp>
      <p:sp>
        <p:nvSpPr>
          <p:cNvPr id="5" name="Shape 3"/>
          <p:cNvSpPr/>
          <p:nvPr/>
        </p:nvSpPr>
        <p:spPr>
          <a:xfrm>
            <a:off x="548640" y="2148840"/>
            <a:ext cx="11064240" cy="548640"/>
          </a:xfrm>
          <a:prstGeom prst="roundRect">
            <a:avLst>
              <a:gd name="adj" fmla="val 16667"/>
            </a:avLst>
          </a:prstGeom>
          <a:solidFill>
            <a:srgbClr val="24354F"/>
          </a:solidFill>
          <a:ln w="12700">
            <a:solidFill>
              <a:srgbClr val="35496B"/>
            </a:solidFill>
            <a:prstDash val="solid"/>
          </a:ln>
        </p:spPr>
      </p:sp>
      <p:sp>
        <p:nvSpPr>
          <p:cNvPr id="6" name="Text 4"/>
          <p:cNvSpPr/>
          <p:nvPr/>
        </p:nvSpPr>
        <p:spPr>
          <a:xfrm>
            <a:off x="822960" y="2148840"/>
            <a:ext cx="29260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SST-5, clean labels</a:t>
            </a:r>
            <a:endParaRPr lang="en-US" sz="1350" dirty="0"/>
          </a:p>
        </p:txBody>
      </p:sp>
      <p:sp>
        <p:nvSpPr>
          <p:cNvPr id="7" name="Text 5"/>
          <p:cNvSpPr/>
          <p:nvPr/>
        </p:nvSpPr>
        <p:spPr>
          <a:xfrm>
            <a:off x="3794760" y="2148840"/>
            <a:ext cx="3840480" cy="548640"/>
          </a:xfrm>
          <a:prstGeom prst="rect">
            <a:avLst/>
          </a:prstGeom>
          <a:noFill/>
          <a:ln/>
        </p:spPr>
        <p:txBody>
          <a:bodyPr wrap="square" lIns="0" tIns="0" rIns="0" bIns="0" rtlCol="0" anchor="ctr"/>
          <a:lstStyle/>
          <a:p>
            <a:pPr indent="0" marL="0">
              <a:buNone/>
            </a:pPr>
            <a:r>
              <a:rPr lang="en-US" sz="1250" dirty="0">
                <a:solidFill>
                  <a:srgbClr val="A9B6CC"/>
                </a:solidFill>
                <a:latin typeface="Calibri" pitchFamily="34" charset="0"/>
                <a:ea typeface="Calibri" pitchFamily="34" charset="-122"/>
                <a:cs typeface="Calibri" pitchFamily="34" charset="-120"/>
              </a:rPr>
              <a:t>class-pair gap vs AS-Softmax</a:t>
            </a:r>
            <a:endParaRPr lang="en-US" sz="1250" dirty="0"/>
          </a:p>
        </p:txBody>
      </p:sp>
      <p:sp>
        <p:nvSpPr>
          <p:cNvPr id="8" name="Text 6"/>
          <p:cNvSpPr/>
          <p:nvPr/>
        </p:nvSpPr>
        <p:spPr>
          <a:xfrm>
            <a:off x="7726680" y="2148840"/>
            <a:ext cx="1371600" cy="548640"/>
          </a:xfrm>
          <a:prstGeom prst="rect">
            <a:avLst/>
          </a:prstGeom>
          <a:noFill/>
          <a:ln/>
        </p:spPr>
        <p:txBody>
          <a:bodyPr wrap="square" lIns="0" tIns="0" rIns="0" bIns="0" rtlCol="0" anchor="ctr"/>
          <a:lstStyle/>
          <a:p>
            <a:pPr algn="r" indent="0" marL="0">
              <a:buNone/>
            </a:pPr>
            <a:r>
              <a:rPr lang="en-US" sz="1700" b="1" dirty="0">
                <a:solidFill>
                  <a:srgbClr val="FF8A8F"/>
                </a:solidFill>
                <a:latin typeface="Cambria" pitchFamily="34" charset="0"/>
                <a:ea typeface="Cambria" pitchFamily="34" charset="-122"/>
                <a:cs typeface="Cambria" pitchFamily="34" charset="-120"/>
              </a:rPr>
              <a:t>−0.33%</a:t>
            </a:r>
            <a:endParaRPr lang="en-US" sz="1700" dirty="0"/>
          </a:p>
        </p:txBody>
      </p:sp>
      <p:sp>
        <p:nvSpPr>
          <p:cNvPr id="9" name="Text 7"/>
          <p:cNvSpPr/>
          <p:nvPr/>
        </p:nvSpPr>
        <p:spPr>
          <a:xfrm>
            <a:off x="9326880" y="2148840"/>
            <a:ext cx="2148840" cy="548640"/>
          </a:xfrm>
          <a:prstGeom prst="rect">
            <a:avLst/>
          </a:prstGeom>
          <a:noFill/>
          <a:ln/>
        </p:spPr>
        <p:txBody>
          <a:bodyPr wrap="square" lIns="0" tIns="0" rIns="0" bIns="0" rtlCol="0" anchor="ctr"/>
          <a:lstStyle/>
          <a:p>
            <a:pPr indent="0" marL="0">
              <a:buNone/>
            </a:pPr>
            <a:r>
              <a:rPr lang="en-US" sz="1200" i="1" dirty="0">
                <a:solidFill>
                  <a:srgbClr val="8A97AD"/>
                </a:solidFill>
                <a:latin typeface="Calibri" pitchFamily="34" charset="0"/>
                <a:ea typeface="Calibri" pitchFamily="34" charset="-122"/>
                <a:cs typeface="Calibri" pitchFamily="34" charset="-120"/>
              </a:rPr>
              <a:t>no gain</a:t>
            </a:r>
            <a:endParaRPr lang="en-US" sz="1200" dirty="0"/>
          </a:p>
        </p:txBody>
      </p:sp>
      <p:sp>
        <p:nvSpPr>
          <p:cNvPr id="10" name="Shape 8"/>
          <p:cNvSpPr/>
          <p:nvPr/>
        </p:nvSpPr>
        <p:spPr>
          <a:xfrm>
            <a:off x="548640" y="2807208"/>
            <a:ext cx="11064240" cy="548640"/>
          </a:xfrm>
          <a:prstGeom prst="roundRect">
            <a:avLst>
              <a:gd name="adj" fmla="val 16667"/>
            </a:avLst>
          </a:prstGeom>
          <a:solidFill>
            <a:srgbClr val="24354F"/>
          </a:solidFill>
          <a:ln w="12700">
            <a:solidFill>
              <a:srgbClr val="35496B"/>
            </a:solidFill>
            <a:prstDash val="solid"/>
          </a:ln>
        </p:spPr>
      </p:sp>
      <p:sp>
        <p:nvSpPr>
          <p:cNvPr id="11" name="Text 9"/>
          <p:cNvSpPr/>
          <p:nvPr/>
        </p:nvSpPr>
        <p:spPr>
          <a:xfrm>
            <a:off x="822960" y="2807208"/>
            <a:ext cx="29260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SST-5, tuning screen</a:t>
            </a:r>
            <a:endParaRPr lang="en-US" sz="1350" dirty="0"/>
          </a:p>
        </p:txBody>
      </p:sp>
      <p:sp>
        <p:nvSpPr>
          <p:cNvPr id="12" name="Text 10"/>
          <p:cNvSpPr/>
          <p:nvPr/>
        </p:nvSpPr>
        <p:spPr>
          <a:xfrm>
            <a:off x="3794760" y="2807208"/>
            <a:ext cx="3840480" cy="548640"/>
          </a:xfrm>
          <a:prstGeom prst="rect">
            <a:avLst/>
          </a:prstGeom>
          <a:noFill/>
          <a:ln/>
        </p:spPr>
        <p:txBody>
          <a:bodyPr wrap="square" lIns="0" tIns="0" rIns="0" bIns="0" rtlCol="0" anchor="ctr"/>
          <a:lstStyle/>
          <a:p>
            <a:pPr indent="0" marL="0">
              <a:buNone/>
            </a:pPr>
            <a:r>
              <a:rPr lang="en-US" sz="1250" dirty="0">
                <a:solidFill>
                  <a:srgbClr val="A9B6CC"/>
                </a:solidFill>
                <a:latin typeface="Calibri" pitchFamily="34" charset="0"/>
                <a:ea typeface="Calibri" pitchFamily="34" charset="-122"/>
                <a:cs typeface="Calibri" pitchFamily="34" charset="-120"/>
              </a:rPr>
              <a:t>let the gap learn harder</a:t>
            </a:r>
            <a:endParaRPr lang="en-US" sz="1250" dirty="0"/>
          </a:p>
        </p:txBody>
      </p:sp>
      <p:sp>
        <p:nvSpPr>
          <p:cNvPr id="13" name="Text 11"/>
          <p:cNvSpPr/>
          <p:nvPr/>
        </p:nvSpPr>
        <p:spPr>
          <a:xfrm>
            <a:off x="7726680" y="2807208"/>
            <a:ext cx="1371600" cy="548640"/>
          </a:xfrm>
          <a:prstGeom prst="rect">
            <a:avLst/>
          </a:prstGeom>
          <a:noFill/>
          <a:ln/>
        </p:spPr>
        <p:txBody>
          <a:bodyPr wrap="square" lIns="0" tIns="0" rIns="0" bIns="0" rtlCol="0" anchor="ctr"/>
          <a:lstStyle/>
          <a:p>
            <a:pPr algn="r" indent="0" marL="0">
              <a:buNone/>
            </a:pPr>
            <a:r>
              <a:rPr lang="en-US" sz="1700" b="1" dirty="0">
                <a:solidFill>
                  <a:srgbClr val="FF8A8F"/>
                </a:solidFill>
                <a:latin typeface="Cambria" pitchFamily="34" charset="0"/>
                <a:ea typeface="Cambria" pitchFamily="34" charset="-122"/>
                <a:cs typeface="Cambria" pitchFamily="34" charset="-120"/>
              </a:rPr>
              <a:t>−2.4%</a:t>
            </a:r>
            <a:endParaRPr lang="en-US" sz="1700" dirty="0"/>
          </a:p>
        </p:txBody>
      </p:sp>
      <p:sp>
        <p:nvSpPr>
          <p:cNvPr id="14" name="Text 12"/>
          <p:cNvSpPr/>
          <p:nvPr/>
        </p:nvSpPr>
        <p:spPr>
          <a:xfrm>
            <a:off x="9326880" y="2807208"/>
            <a:ext cx="2148840" cy="548640"/>
          </a:xfrm>
          <a:prstGeom prst="rect">
            <a:avLst/>
          </a:prstGeom>
          <a:noFill/>
          <a:ln/>
        </p:spPr>
        <p:txBody>
          <a:bodyPr wrap="square" lIns="0" tIns="0" rIns="0" bIns="0" rtlCol="0" anchor="ctr"/>
          <a:lstStyle/>
          <a:p>
            <a:pPr indent="0" marL="0">
              <a:buNone/>
            </a:pPr>
            <a:r>
              <a:rPr lang="en-US" sz="1200" i="1" dirty="0">
                <a:solidFill>
                  <a:srgbClr val="8A97AD"/>
                </a:solidFill>
                <a:latin typeface="Calibri" pitchFamily="34" charset="0"/>
                <a:ea typeface="Calibri" pitchFamily="34" charset="-122"/>
                <a:cs typeface="Calibri" pitchFamily="34" charset="-120"/>
              </a:rPr>
              <a:t>actively worse</a:t>
            </a:r>
            <a:endParaRPr lang="en-US" sz="1200" dirty="0"/>
          </a:p>
        </p:txBody>
      </p:sp>
      <p:sp>
        <p:nvSpPr>
          <p:cNvPr id="15" name="Shape 13"/>
          <p:cNvSpPr/>
          <p:nvPr/>
        </p:nvSpPr>
        <p:spPr>
          <a:xfrm>
            <a:off x="548640" y="3465576"/>
            <a:ext cx="11064240" cy="548640"/>
          </a:xfrm>
          <a:prstGeom prst="roundRect">
            <a:avLst>
              <a:gd name="adj" fmla="val 16667"/>
            </a:avLst>
          </a:prstGeom>
          <a:solidFill>
            <a:srgbClr val="24354F"/>
          </a:solidFill>
          <a:ln w="12700">
            <a:solidFill>
              <a:srgbClr val="35496B"/>
            </a:solidFill>
            <a:prstDash val="solid"/>
          </a:ln>
        </p:spPr>
      </p:sp>
      <p:sp>
        <p:nvSpPr>
          <p:cNvPr id="16" name="Text 14"/>
          <p:cNvSpPr/>
          <p:nvPr/>
        </p:nvSpPr>
        <p:spPr>
          <a:xfrm>
            <a:off x="822960" y="3465576"/>
            <a:ext cx="29260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20 Newsgroups, clean</a:t>
            </a:r>
            <a:endParaRPr lang="en-US" sz="1350" dirty="0"/>
          </a:p>
        </p:txBody>
      </p:sp>
      <p:sp>
        <p:nvSpPr>
          <p:cNvPr id="17" name="Text 15"/>
          <p:cNvSpPr/>
          <p:nvPr/>
        </p:nvSpPr>
        <p:spPr>
          <a:xfrm>
            <a:off x="3794760" y="3465576"/>
            <a:ext cx="3840480" cy="548640"/>
          </a:xfrm>
          <a:prstGeom prst="rect">
            <a:avLst/>
          </a:prstGeom>
          <a:noFill/>
          <a:ln/>
        </p:spPr>
        <p:txBody>
          <a:bodyPr wrap="square" lIns="0" tIns="0" rIns="0" bIns="0" rtlCol="0" anchor="ctr"/>
          <a:lstStyle/>
          <a:p>
            <a:pPr indent="0" marL="0">
              <a:buNone/>
            </a:pPr>
            <a:r>
              <a:rPr lang="en-US" sz="1250" dirty="0">
                <a:solidFill>
                  <a:srgbClr val="A9B6CC"/>
                </a:solidFill>
                <a:latin typeface="Calibri" pitchFamily="34" charset="0"/>
                <a:ea typeface="Calibri" pitchFamily="34" charset="-122"/>
                <a:cs typeface="Calibri" pitchFamily="34" charset="-120"/>
              </a:rPr>
              <a:t>class-pair gap</a:t>
            </a:r>
            <a:endParaRPr lang="en-US" sz="1250" dirty="0"/>
          </a:p>
        </p:txBody>
      </p:sp>
      <p:sp>
        <p:nvSpPr>
          <p:cNvPr id="18" name="Text 16"/>
          <p:cNvSpPr/>
          <p:nvPr/>
        </p:nvSpPr>
        <p:spPr>
          <a:xfrm>
            <a:off x="7726680" y="3465576"/>
            <a:ext cx="1371600" cy="548640"/>
          </a:xfrm>
          <a:prstGeom prst="rect">
            <a:avLst/>
          </a:prstGeom>
          <a:noFill/>
          <a:ln/>
        </p:spPr>
        <p:txBody>
          <a:bodyPr wrap="square" lIns="0" tIns="0" rIns="0" bIns="0" rtlCol="0" anchor="ctr"/>
          <a:lstStyle/>
          <a:p>
            <a:pPr algn="r" indent="0" marL="0">
              <a:buNone/>
            </a:pPr>
            <a:r>
              <a:rPr lang="en-US" sz="1700" b="1" dirty="0">
                <a:solidFill>
                  <a:srgbClr val="FF8A8F"/>
                </a:solidFill>
                <a:latin typeface="Cambria" pitchFamily="34" charset="0"/>
                <a:ea typeface="Cambria" pitchFamily="34" charset="-122"/>
                <a:cs typeface="Cambria" pitchFamily="34" charset="-120"/>
              </a:rPr>
              <a:t>+0.6%</a:t>
            </a:r>
            <a:endParaRPr lang="en-US" sz="1700" dirty="0"/>
          </a:p>
        </p:txBody>
      </p:sp>
      <p:sp>
        <p:nvSpPr>
          <p:cNvPr id="19" name="Text 17"/>
          <p:cNvSpPr/>
          <p:nvPr/>
        </p:nvSpPr>
        <p:spPr>
          <a:xfrm>
            <a:off x="9326880" y="3465576"/>
            <a:ext cx="2148840" cy="548640"/>
          </a:xfrm>
          <a:prstGeom prst="rect">
            <a:avLst/>
          </a:prstGeom>
          <a:noFill/>
          <a:ln/>
        </p:spPr>
        <p:txBody>
          <a:bodyPr wrap="square" lIns="0" tIns="0" rIns="0" bIns="0" rtlCol="0" anchor="ctr"/>
          <a:lstStyle/>
          <a:p>
            <a:pPr indent="0" marL="0">
              <a:buNone/>
            </a:pPr>
            <a:r>
              <a:rPr lang="en-US" sz="1200" i="1" dirty="0">
                <a:solidFill>
                  <a:srgbClr val="8A97AD"/>
                </a:solidFill>
                <a:latin typeface="Calibri" pitchFamily="34" charset="0"/>
                <a:ea typeface="Calibri" pitchFamily="34" charset="-122"/>
                <a:cs typeface="Calibri" pitchFamily="34" charset="-120"/>
              </a:rPr>
              <a:t>but plain CE still won</a:t>
            </a:r>
            <a:endParaRPr lang="en-US" sz="1200" dirty="0"/>
          </a:p>
        </p:txBody>
      </p:sp>
      <p:sp>
        <p:nvSpPr>
          <p:cNvPr id="20" name="Shape 18"/>
          <p:cNvSpPr/>
          <p:nvPr/>
        </p:nvSpPr>
        <p:spPr>
          <a:xfrm>
            <a:off x="548640" y="4123944"/>
            <a:ext cx="11064240" cy="548640"/>
          </a:xfrm>
          <a:prstGeom prst="roundRect">
            <a:avLst>
              <a:gd name="adj" fmla="val 16667"/>
            </a:avLst>
          </a:prstGeom>
          <a:solidFill>
            <a:srgbClr val="24354F"/>
          </a:solidFill>
          <a:ln w="12700">
            <a:solidFill>
              <a:srgbClr val="35496B"/>
            </a:solidFill>
            <a:prstDash val="solid"/>
          </a:ln>
        </p:spPr>
      </p:sp>
      <p:sp>
        <p:nvSpPr>
          <p:cNvPr id="21" name="Text 19"/>
          <p:cNvSpPr/>
          <p:nvPr/>
        </p:nvSpPr>
        <p:spPr>
          <a:xfrm>
            <a:off x="822960" y="4123944"/>
            <a:ext cx="29260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SST-5, noisy labels</a:t>
            </a:r>
            <a:endParaRPr lang="en-US" sz="1350" dirty="0"/>
          </a:p>
        </p:txBody>
      </p:sp>
      <p:sp>
        <p:nvSpPr>
          <p:cNvPr id="22" name="Text 20"/>
          <p:cNvSpPr/>
          <p:nvPr/>
        </p:nvSpPr>
        <p:spPr>
          <a:xfrm>
            <a:off x="3794760" y="4123944"/>
            <a:ext cx="3840480" cy="548640"/>
          </a:xfrm>
          <a:prstGeom prst="rect">
            <a:avLst/>
          </a:prstGeom>
          <a:noFill/>
          <a:ln/>
        </p:spPr>
        <p:txBody>
          <a:bodyPr wrap="square" lIns="0" tIns="0" rIns="0" bIns="0" rtlCol="0" anchor="ctr"/>
          <a:lstStyle/>
          <a:p>
            <a:pPr indent="0" marL="0">
              <a:buNone/>
            </a:pPr>
            <a:r>
              <a:rPr lang="en-US" sz="1250" dirty="0">
                <a:solidFill>
                  <a:srgbClr val="A9B6CC"/>
                </a:solidFill>
                <a:latin typeface="Calibri" pitchFamily="34" charset="0"/>
                <a:ea typeface="Calibri" pitchFamily="34" charset="-122"/>
                <a:cs typeface="Calibri" pitchFamily="34" charset="-120"/>
              </a:rPr>
              <a:t>class-pair gap, 3 noise levels</a:t>
            </a:r>
            <a:endParaRPr lang="en-US" sz="1250" dirty="0"/>
          </a:p>
        </p:txBody>
      </p:sp>
      <p:sp>
        <p:nvSpPr>
          <p:cNvPr id="23" name="Text 21"/>
          <p:cNvSpPr/>
          <p:nvPr/>
        </p:nvSpPr>
        <p:spPr>
          <a:xfrm>
            <a:off x="7726680" y="4123944"/>
            <a:ext cx="1371600" cy="548640"/>
          </a:xfrm>
          <a:prstGeom prst="rect">
            <a:avLst/>
          </a:prstGeom>
          <a:noFill/>
          <a:ln/>
        </p:spPr>
        <p:txBody>
          <a:bodyPr wrap="square" lIns="0" tIns="0" rIns="0" bIns="0" rtlCol="0" anchor="ctr"/>
          <a:lstStyle/>
          <a:p>
            <a:pPr algn="r" indent="0" marL="0">
              <a:buNone/>
            </a:pPr>
            <a:r>
              <a:rPr lang="en-US" sz="1700" b="1" dirty="0">
                <a:solidFill>
                  <a:srgbClr val="FF8A8F"/>
                </a:solidFill>
                <a:latin typeface="Cambria" pitchFamily="34" charset="0"/>
                <a:ea typeface="Cambria" pitchFamily="34" charset="-122"/>
                <a:cs typeface="Cambria" pitchFamily="34" charset="-120"/>
              </a:rPr>
              <a:t>±2%</a:t>
            </a:r>
            <a:endParaRPr lang="en-US" sz="1700" dirty="0"/>
          </a:p>
        </p:txBody>
      </p:sp>
      <p:sp>
        <p:nvSpPr>
          <p:cNvPr id="24" name="Text 22"/>
          <p:cNvSpPr/>
          <p:nvPr/>
        </p:nvSpPr>
        <p:spPr>
          <a:xfrm>
            <a:off x="9326880" y="4123944"/>
            <a:ext cx="2148840" cy="548640"/>
          </a:xfrm>
          <a:prstGeom prst="rect">
            <a:avLst/>
          </a:prstGeom>
          <a:noFill/>
          <a:ln/>
        </p:spPr>
        <p:txBody>
          <a:bodyPr wrap="square" lIns="0" tIns="0" rIns="0" bIns="0" rtlCol="0" anchor="ctr"/>
          <a:lstStyle/>
          <a:p>
            <a:pPr indent="0" marL="0">
              <a:buNone/>
            </a:pPr>
            <a:r>
              <a:rPr lang="en-US" sz="1200" i="1" dirty="0">
                <a:solidFill>
                  <a:srgbClr val="8A97AD"/>
                </a:solidFill>
                <a:latin typeface="Calibri" pitchFamily="34" charset="0"/>
                <a:ea typeface="Calibri" pitchFamily="34" charset="-122"/>
                <a:cs typeface="Calibri" pitchFamily="34" charset="-120"/>
              </a:rPr>
              <a:t>all inside seed noise</a:t>
            </a:r>
            <a:endParaRPr lang="en-US" sz="1200" dirty="0"/>
          </a:p>
        </p:txBody>
      </p:sp>
      <p:sp>
        <p:nvSpPr>
          <p:cNvPr id="25" name="Shape 23"/>
          <p:cNvSpPr/>
          <p:nvPr/>
        </p:nvSpPr>
        <p:spPr>
          <a:xfrm>
            <a:off x="548640" y="4956048"/>
            <a:ext cx="11064240" cy="1143000"/>
          </a:xfrm>
          <a:prstGeom prst="roundRect">
            <a:avLst>
              <a:gd name="adj" fmla="val 9600"/>
            </a:avLst>
          </a:prstGeom>
          <a:solidFill>
            <a:srgbClr val="3A1216"/>
          </a:solidFill>
          <a:ln w="12700">
            <a:solidFill>
              <a:srgbClr val="6B2229"/>
            </a:solidFill>
            <a:prstDash val="solid"/>
          </a:ln>
        </p:spPr>
      </p:sp>
      <p:sp>
        <p:nvSpPr>
          <p:cNvPr id="26" name="Text 24"/>
          <p:cNvSpPr/>
          <p:nvPr/>
        </p:nvSpPr>
        <p:spPr>
          <a:xfrm>
            <a:off x="868680" y="5102352"/>
            <a:ext cx="10424160" cy="310896"/>
          </a:xfrm>
          <a:prstGeom prst="rect">
            <a:avLst/>
          </a:prstGeom>
          <a:noFill/>
          <a:ln/>
        </p:spPr>
        <p:txBody>
          <a:bodyPr wrap="square" lIns="0" tIns="0" rIns="0" bIns="0" rtlCol="0" anchor="ctr"/>
          <a:lstStyle/>
          <a:p>
            <a:pPr indent="0" marL="0">
              <a:buNone/>
            </a:pPr>
            <a:r>
              <a:rPr lang="en-US" sz="1700" b="1" dirty="0">
                <a:solidFill>
                  <a:srgbClr val="FFB3B7"/>
                </a:solidFill>
                <a:latin typeface="Cambria" pitchFamily="34" charset="0"/>
                <a:ea typeface="Cambria" pitchFamily="34" charset="-122"/>
                <a:cs typeface="Cambria" pitchFamily="34" charset="-120"/>
              </a:rPr>
              <a:t>Why? The problem was underneath us, not in our idea.</a:t>
            </a:r>
            <a:endParaRPr lang="en-US" sz="1700" dirty="0"/>
          </a:p>
        </p:txBody>
      </p:sp>
      <p:sp>
        <p:nvSpPr>
          <p:cNvPr id="27" name="Text 25"/>
          <p:cNvSpPr/>
          <p:nvPr/>
        </p:nvSpPr>
        <p:spPr>
          <a:xfrm>
            <a:off x="868680" y="5440680"/>
            <a:ext cx="10424160" cy="548640"/>
          </a:xfrm>
          <a:prstGeom prst="rect">
            <a:avLst/>
          </a:prstGeom>
          <a:noFill/>
          <a:ln/>
        </p:spPr>
        <p:txBody>
          <a:bodyPr wrap="square" lIns="0" tIns="0" rIns="0" bIns="0" rtlCol="0" anchor="ctr"/>
          <a:lstStyle/>
          <a:p>
            <a:pPr indent="0" marL="0">
              <a:lnSpc>
                <a:spcPts val="1800"/>
              </a:lnSpc>
              <a:buNone/>
            </a:pPr>
            <a:r>
              <a:rPr lang="en-US" sz="1350" dirty="0">
                <a:solidFill>
                  <a:srgbClr val="F0D2D4"/>
                </a:solidFill>
                <a:latin typeface="Calibri" pitchFamily="34" charset="0"/>
                <a:ea typeface="Calibri" pitchFamily="34" charset="-122"/>
                <a:cs typeface="Calibri" pitchFamily="34" charset="-120"/>
              </a:rPr>
              <a:t>AS-Softmax — the published method we were extending — did not reliably beat plain cross-entropy in our setup either. You cannot improve on an advantage that isn't there.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THE PIVOT</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So we changed the question</a:t>
            </a:r>
            <a:endParaRPr lang="en-US" sz="3200" dirty="0"/>
          </a:p>
        </p:txBody>
      </p:sp>
      <p:sp>
        <p:nvSpPr>
          <p:cNvPr id="4" name="Shape 2"/>
          <p:cNvSpPr/>
          <p:nvPr/>
        </p:nvSpPr>
        <p:spPr>
          <a:xfrm>
            <a:off x="548640" y="1417320"/>
            <a:ext cx="5349240" cy="1188720"/>
          </a:xfrm>
          <a:prstGeom prst="roundRect">
            <a:avLst>
              <a:gd name="adj" fmla="val 9231"/>
            </a:avLst>
          </a:prstGeom>
          <a:solidFill>
            <a:srgbClr val="F4F1EC"/>
          </a:solidFill>
          <a:ln w="12700">
            <a:solidFill>
              <a:srgbClr val="DED7CC"/>
            </a:solidFill>
            <a:prstDash val="solid"/>
          </a:ln>
          <a:effectLst>
            <a:outerShdw sx="100000" sy="100000" kx="0" ky="0" algn="bl" rotWithShape="0" blurRad="127000" dist="25400" dir="5400000">
              <a:srgbClr val="9AA6B8">
                <a:alpha val="28000"/>
              </a:srgbClr>
            </a:outerShdw>
          </a:effectLst>
        </p:spPr>
      </p:sp>
      <p:sp>
        <p:nvSpPr>
          <p:cNvPr id="5" name="Text 3"/>
          <p:cNvSpPr/>
          <p:nvPr/>
        </p:nvSpPr>
        <p:spPr>
          <a:xfrm>
            <a:off x="868680" y="1572768"/>
            <a:ext cx="4709160" cy="274320"/>
          </a:xfrm>
          <a:prstGeom prst="rect">
            <a:avLst/>
          </a:prstGeom>
          <a:noFill/>
          <a:ln/>
        </p:spPr>
        <p:txBody>
          <a:bodyPr wrap="square" lIns="0" tIns="0" rIns="0" bIns="0" rtlCol="0" anchor="ctr"/>
          <a:lstStyle/>
          <a:p>
            <a:pPr indent="0" marL="0">
              <a:buNone/>
            </a:pPr>
            <a:r>
              <a:rPr lang="en-US" sz="1150" b="1" dirty="0">
                <a:solidFill>
                  <a:srgbClr val="8A93A6"/>
                </a:solidFill>
                <a:latin typeface="Calibri" pitchFamily="34" charset="0"/>
                <a:ea typeface="Calibri" pitchFamily="34" charset="-122"/>
                <a:cs typeface="Calibri" pitchFamily="34" charset="-120"/>
              </a:rPr>
              <a:t>We had been asking</a:t>
            </a:r>
            <a:endParaRPr lang="en-US" sz="1150" dirty="0"/>
          </a:p>
        </p:txBody>
      </p:sp>
      <p:sp>
        <p:nvSpPr>
          <p:cNvPr id="6" name="Text 4"/>
          <p:cNvSpPr/>
          <p:nvPr/>
        </p:nvSpPr>
        <p:spPr>
          <a:xfrm>
            <a:off x="868680" y="1874520"/>
            <a:ext cx="4709160" cy="457200"/>
          </a:xfrm>
          <a:prstGeom prst="rect">
            <a:avLst/>
          </a:prstGeom>
          <a:noFill/>
          <a:ln/>
        </p:spPr>
        <p:txBody>
          <a:bodyPr wrap="square" lIns="0" tIns="0" rIns="0" bIns="0" rtlCol="0" anchor="ctr"/>
          <a:lstStyle/>
          <a:p>
            <a:pPr indent="0" marL="0">
              <a:buNone/>
            </a:pPr>
            <a:r>
              <a:rPr lang="en-US" sz="2100" b="1" dirty="0">
                <a:solidFill>
                  <a:srgbClr val="76839A"/>
                </a:solidFill>
                <a:latin typeface="Cambria" pitchFamily="34" charset="0"/>
                <a:ea typeface="Cambria" pitchFamily="34" charset="-122"/>
                <a:cs typeface="Cambria" pitchFamily="34" charset="-120"/>
              </a:rPr>
              <a:t>“Is it more accurate?”</a:t>
            </a:r>
            <a:endParaRPr lang="en-US" sz="2100" dirty="0"/>
          </a:p>
        </p:txBody>
      </p:sp>
      <p:sp>
        <p:nvSpPr>
          <p:cNvPr id="7" name="Shape 5"/>
          <p:cNvSpPr/>
          <p:nvPr/>
        </p:nvSpPr>
        <p:spPr>
          <a:xfrm>
            <a:off x="6263640" y="1417320"/>
            <a:ext cx="5349240" cy="1188720"/>
          </a:xfrm>
          <a:prstGeom prst="roundRect">
            <a:avLst>
              <a:gd name="adj" fmla="val 9231"/>
            </a:avLst>
          </a:prstGeom>
          <a:solidFill>
            <a:srgbClr val="E9F5F3"/>
          </a:solidFill>
          <a:ln w="12700">
            <a:solidFill>
              <a:srgbClr val="BFE0DA"/>
            </a:solidFill>
            <a:prstDash val="solid"/>
          </a:ln>
          <a:effectLst>
            <a:outerShdw sx="100000" sy="100000" kx="0" ky="0" algn="bl" rotWithShape="0" blurRad="127000" dist="25400" dir="5400000">
              <a:srgbClr val="9AA6B8">
                <a:alpha val="28000"/>
              </a:srgbClr>
            </a:outerShdw>
          </a:effectLst>
        </p:spPr>
      </p:sp>
      <p:sp>
        <p:nvSpPr>
          <p:cNvPr id="8" name="Text 6"/>
          <p:cNvSpPr/>
          <p:nvPr/>
        </p:nvSpPr>
        <p:spPr>
          <a:xfrm>
            <a:off x="6583680" y="1572768"/>
            <a:ext cx="4709160" cy="274320"/>
          </a:xfrm>
          <a:prstGeom prst="rect">
            <a:avLst/>
          </a:prstGeom>
          <a:noFill/>
          <a:ln/>
        </p:spPr>
        <p:txBody>
          <a:bodyPr wrap="square" lIns="0" tIns="0" rIns="0" bIns="0" rtlCol="0" anchor="ctr"/>
          <a:lstStyle/>
          <a:p>
            <a:pPr indent="0" marL="0">
              <a:buNone/>
            </a:pPr>
            <a:r>
              <a:rPr lang="en-US" sz="1150" b="1" dirty="0">
                <a:solidFill>
                  <a:srgbClr val="12897B"/>
                </a:solidFill>
                <a:latin typeface="Calibri" pitchFamily="34" charset="0"/>
                <a:ea typeface="Calibri" pitchFamily="34" charset="-122"/>
                <a:cs typeface="Calibri" pitchFamily="34" charset="-120"/>
              </a:rPr>
              <a:t>We started asking</a:t>
            </a:r>
            <a:endParaRPr lang="en-US" sz="1150" dirty="0"/>
          </a:p>
        </p:txBody>
      </p:sp>
      <p:sp>
        <p:nvSpPr>
          <p:cNvPr id="9" name="Text 7"/>
          <p:cNvSpPr/>
          <p:nvPr/>
        </p:nvSpPr>
        <p:spPr>
          <a:xfrm>
            <a:off x="6583680" y="1874520"/>
            <a:ext cx="4709160" cy="457200"/>
          </a:xfrm>
          <a:prstGeom prst="rect">
            <a:avLst/>
          </a:prstGeom>
          <a:noFill/>
          <a:ln/>
        </p:spPr>
        <p:txBody>
          <a:bodyPr wrap="square" lIns="0" tIns="0" rIns="0" bIns="0" rtlCol="0" anchor="ctr"/>
          <a:lstStyle/>
          <a:p>
            <a:pPr indent="0" marL="0">
              <a:buNone/>
            </a:pPr>
            <a:r>
              <a:rPr lang="en-US" sz="2100" b="1" dirty="0">
                <a:solidFill>
                  <a:srgbClr val="152238"/>
                </a:solidFill>
                <a:latin typeface="Cambria" pitchFamily="34" charset="0"/>
                <a:ea typeface="Cambria" pitchFamily="34" charset="-122"/>
                <a:cs typeface="Cambria" pitchFamily="34" charset="-120"/>
              </a:rPr>
              <a:t>“Does it resist bad labels?”</a:t>
            </a:r>
            <a:endParaRPr lang="en-US" sz="2100" dirty="0"/>
          </a:p>
        </p:txBody>
      </p:sp>
      <p:sp>
        <p:nvSpPr>
          <p:cNvPr id="10" name="Text 8"/>
          <p:cNvSpPr/>
          <p:nvPr/>
        </p:nvSpPr>
        <p:spPr>
          <a:xfrm>
            <a:off x="548640" y="2834640"/>
            <a:ext cx="11064240" cy="640080"/>
          </a:xfrm>
          <a:prstGeom prst="rect">
            <a:avLst/>
          </a:prstGeom>
          <a:noFill/>
          <a:ln/>
        </p:spPr>
        <p:txBody>
          <a:bodyPr wrap="square" lIns="0" tIns="0" rIns="0" bIns="0" rtlCol="0" anchor="ctr"/>
          <a:lstStyle/>
          <a:p>
            <a:pPr indent="0" marL="0">
              <a:lnSpc>
                <a:spcPts val="2100"/>
              </a:lnSpc>
              <a:buNone/>
            </a:pPr>
            <a:r>
              <a:rPr lang="en-US" sz="1500" dirty="0">
                <a:solidFill>
                  <a:srgbClr val="44506A"/>
                </a:solidFill>
                <a:latin typeface="Calibri" pitchFamily="34" charset="0"/>
                <a:ea typeface="Calibri" pitchFamily="34" charset="-122"/>
                <a:cs typeface="Calibri" pitchFamily="34" charset="-120"/>
              </a:rPr>
              <a:t>Real datasets contain wrong labels. A big model will happily memorise them, and that is what destroys accuracy late in training. Margin methods are supposed to help exactly here — so we built a test for it.</a:t>
            </a:r>
            <a:endParaRPr lang="en-US" sz="1500" dirty="0"/>
          </a:p>
        </p:txBody>
      </p:sp>
      <p:sp>
        <p:nvSpPr>
          <p:cNvPr id="11" name="Shape 9"/>
          <p:cNvSpPr/>
          <p:nvPr/>
        </p:nvSpPr>
        <p:spPr>
          <a:xfrm>
            <a:off x="548640" y="3703320"/>
            <a:ext cx="11064240" cy="603504"/>
          </a:xfrm>
          <a:prstGeom prst="roundRect">
            <a:avLst>
              <a:gd name="adj" fmla="val 15152"/>
            </a:avLst>
          </a:prstGeom>
          <a:solidFill>
            <a:srgbClr val="FFFFFF"/>
          </a:solidFill>
          <a:ln w="12700">
            <a:solidFill>
              <a:srgbClr val="D8E0EA"/>
            </a:solidFill>
            <a:prstDash val="solid"/>
          </a:ln>
          <a:effectLst>
            <a:outerShdw sx="100000" sy="100000" kx="0" ky="0" algn="bl" rotWithShape="0" blurRad="76200" dist="25400" dir="5400000">
              <a:srgbClr val="9AA6B8">
                <a:alpha val="18000"/>
              </a:srgbClr>
            </a:outerShdw>
          </a:effectLst>
        </p:spPr>
      </p:sp>
      <p:sp>
        <p:nvSpPr>
          <p:cNvPr id="12" name="Text 10"/>
          <p:cNvSpPr/>
          <p:nvPr/>
        </p:nvSpPr>
        <p:spPr>
          <a:xfrm>
            <a:off x="868680" y="3703320"/>
            <a:ext cx="1417320" cy="603504"/>
          </a:xfrm>
          <a:prstGeom prst="rect">
            <a:avLst/>
          </a:prstGeom>
          <a:noFill/>
          <a:ln/>
        </p:spPr>
        <p:txBody>
          <a:bodyPr wrap="square" lIns="0" tIns="0" rIns="0" bIns="0" rtlCol="0" anchor="ctr"/>
          <a:lstStyle/>
          <a:p>
            <a:pPr indent="0" marL="0">
              <a:buNone/>
            </a:pPr>
            <a:r>
              <a:rPr lang="en-US" sz="2000" b="1" dirty="0">
                <a:solidFill>
                  <a:srgbClr val="C1121F"/>
                </a:solidFill>
                <a:latin typeface="Cambria" pitchFamily="34" charset="0"/>
                <a:ea typeface="Cambria" pitchFamily="34" charset="-122"/>
                <a:cs typeface="Cambria" pitchFamily="34" charset="-120"/>
              </a:rPr>
              <a:t>40%</a:t>
            </a:r>
            <a:endParaRPr lang="en-US" sz="2000" dirty="0"/>
          </a:p>
        </p:txBody>
      </p:sp>
      <p:sp>
        <p:nvSpPr>
          <p:cNvPr id="13" name="Text 11"/>
          <p:cNvSpPr/>
          <p:nvPr/>
        </p:nvSpPr>
        <p:spPr>
          <a:xfrm>
            <a:off x="2377440" y="3703320"/>
            <a:ext cx="8961120" cy="60350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of training labels deliberately corrupted</a:t>
            </a:r>
            <a:endParaRPr lang="en-US" sz="1350" dirty="0"/>
          </a:p>
        </p:txBody>
      </p:sp>
      <p:sp>
        <p:nvSpPr>
          <p:cNvPr id="14" name="Shape 12"/>
          <p:cNvSpPr/>
          <p:nvPr/>
        </p:nvSpPr>
        <p:spPr>
          <a:xfrm>
            <a:off x="548640" y="4416552"/>
            <a:ext cx="11064240" cy="603504"/>
          </a:xfrm>
          <a:prstGeom prst="roundRect">
            <a:avLst>
              <a:gd name="adj" fmla="val 15152"/>
            </a:avLst>
          </a:prstGeom>
          <a:solidFill>
            <a:srgbClr val="FFFFFF"/>
          </a:solidFill>
          <a:ln w="12700">
            <a:solidFill>
              <a:srgbClr val="D8E0EA"/>
            </a:solidFill>
            <a:prstDash val="solid"/>
          </a:ln>
          <a:effectLst>
            <a:outerShdw sx="100000" sy="100000" kx="0" ky="0" algn="bl" rotWithShape="0" blurRad="76200" dist="25400" dir="5400000">
              <a:srgbClr val="9AA6B8">
                <a:alpha val="18000"/>
              </a:srgbClr>
            </a:outerShdw>
          </a:effectLst>
        </p:spPr>
      </p:sp>
      <p:sp>
        <p:nvSpPr>
          <p:cNvPr id="15" name="Text 13"/>
          <p:cNvSpPr/>
          <p:nvPr/>
        </p:nvSpPr>
        <p:spPr>
          <a:xfrm>
            <a:off x="868680" y="4416552"/>
            <a:ext cx="1417320" cy="603504"/>
          </a:xfrm>
          <a:prstGeom prst="rect">
            <a:avLst/>
          </a:prstGeom>
          <a:noFill/>
          <a:ln/>
        </p:spPr>
        <p:txBody>
          <a:bodyPr wrap="square" lIns="0" tIns="0" rIns="0" bIns="0" rtlCol="0" anchor="ctr"/>
          <a:lstStyle/>
          <a:p>
            <a:pPr indent="0" marL="0">
              <a:buNone/>
            </a:pPr>
            <a:r>
              <a:rPr lang="en-US" sz="2000" b="1" dirty="0">
                <a:solidFill>
                  <a:srgbClr val="12897B"/>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2377440" y="4416552"/>
            <a:ext cx="8961120" cy="60350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of validation labels kept clean, so we measure real quality</a:t>
            </a:r>
            <a:endParaRPr lang="en-US" sz="1350" dirty="0"/>
          </a:p>
        </p:txBody>
      </p:sp>
      <p:sp>
        <p:nvSpPr>
          <p:cNvPr id="17" name="Shape 15"/>
          <p:cNvSpPr/>
          <p:nvPr/>
        </p:nvSpPr>
        <p:spPr>
          <a:xfrm>
            <a:off x="548640" y="5129784"/>
            <a:ext cx="11064240" cy="603504"/>
          </a:xfrm>
          <a:prstGeom prst="roundRect">
            <a:avLst>
              <a:gd name="adj" fmla="val 15152"/>
            </a:avLst>
          </a:prstGeom>
          <a:solidFill>
            <a:srgbClr val="FFFFFF"/>
          </a:solidFill>
          <a:ln w="12700">
            <a:solidFill>
              <a:srgbClr val="D8E0EA"/>
            </a:solidFill>
            <a:prstDash val="solid"/>
          </a:ln>
          <a:effectLst>
            <a:outerShdw sx="100000" sy="100000" kx="0" ky="0" algn="bl" rotWithShape="0" blurRad="76200" dist="25400" dir="5400000">
              <a:srgbClr val="9AA6B8">
                <a:alpha val="18000"/>
              </a:srgbClr>
            </a:outerShdw>
          </a:effectLst>
        </p:spPr>
      </p:sp>
      <p:sp>
        <p:nvSpPr>
          <p:cNvPr id="18" name="Text 16"/>
          <p:cNvSpPr/>
          <p:nvPr/>
        </p:nvSpPr>
        <p:spPr>
          <a:xfrm>
            <a:off x="868680" y="5129784"/>
            <a:ext cx="1417320" cy="603504"/>
          </a:xfrm>
          <a:prstGeom prst="rect">
            <a:avLst/>
          </a:prstGeom>
          <a:noFill/>
          <a:ln/>
        </p:spPr>
        <p:txBody>
          <a:bodyPr wrap="square" lIns="0" tIns="0" rIns="0" bIns="0" rtlCol="0" anchor="ctr"/>
          <a:lstStyle/>
          <a:p>
            <a:pPr indent="0" marL="0">
              <a:buNone/>
            </a:pPr>
            <a:r>
              <a:rPr lang="en-US" sz="2000" b="1" dirty="0">
                <a:solidFill>
                  <a:srgbClr val="3E6FA8"/>
                </a:solidFill>
                <a:latin typeface="Cambria" pitchFamily="34" charset="0"/>
                <a:ea typeface="Cambria" pitchFamily="34" charset="-122"/>
                <a:cs typeface="Cambria" pitchFamily="34" charset="-120"/>
              </a:rPr>
              <a:t>Identical</a:t>
            </a:r>
            <a:endParaRPr lang="en-US" sz="2000" dirty="0"/>
          </a:p>
        </p:txBody>
      </p:sp>
      <p:sp>
        <p:nvSpPr>
          <p:cNvPr id="19" name="Text 17"/>
          <p:cNvSpPr/>
          <p:nvPr/>
        </p:nvSpPr>
        <p:spPr>
          <a:xfrm>
            <a:off x="2377440" y="5129784"/>
            <a:ext cx="8961120" cy="603504"/>
          </a:xfrm>
          <a:prstGeom prst="rect">
            <a:avLst/>
          </a:prstGeom>
          <a:noFill/>
          <a:ln/>
        </p:spPr>
        <p:txBody>
          <a:bodyPr wrap="square" lIns="0" tIns="0" rIns="0" bIns="0" rtlCol="0" anchor="ctr"/>
          <a:lstStyle/>
          <a:p>
            <a:pPr indent="0" marL="0">
              <a:buNone/>
            </a:pPr>
            <a:r>
              <a:rPr lang="en-US" sz="1350" dirty="0">
                <a:solidFill>
                  <a:srgbClr val="152238"/>
                </a:solidFill>
                <a:latin typeface="Calibri" pitchFamily="34" charset="0"/>
                <a:ea typeface="Calibri" pitchFamily="34" charset="-122"/>
                <a:cs typeface="Calibri" pitchFamily="34" charset="-120"/>
              </a:rPr>
              <a:t>corruption for every method — an exact comparison, not a statistical one</a:t>
            </a:r>
            <a:endParaRPr lang="en-US" sz="1350" dirty="0"/>
          </a:p>
        </p:txBody>
      </p:sp>
      <p:sp>
        <p:nvSpPr>
          <p:cNvPr id="20" name="Text 18"/>
          <p:cNvSpPr/>
          <p:nvPr/>
        </p:nvSpPr>
        <p:spPr>
          <a:xfrm>
            <a:off x="548640" y="5852160"/>
            <a:ext cx="11064240" cy="310896"/>
          </a:xfrm>
          <a:prstGeom prst="rect">
            <a:avLst/>
          </a:prstGeom>
          <a:noFill/>
          <a:ln/>
        </p:spPr>
        <p:txBody>
          <a:bodyPr wrap="square" lIns="0" tIns="0" rIns="0" bIns="0" rtlCol="0" anchor="ctr"/>
          <a:lstStyle/>
          <a:p>
            <a:pPr indent="0" marL="0">
              <a:buNone/>
            </a:pPr>
            <a:r>
              <a:rPr lang="en-US" sz="1300" b="1" i="1" dirty="0">
                <a:solidFill>
                  <a:srgbClr val="12897B"/>
                </a:solidFill>
                <a:latin typeface="Calibri" pitchFamily="34" charset="0"/>
                <a:ea typeface="Calibri" pitchFamily="34" charset="-122"/>
                <a:cs typeface="Calibri" pitchFamily="34" charset="-120"/>
              </a:rPr>
              <a:t>New measurement: not just accuracy, but how much of the corrupted labels the model actually memorised.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OUR CONTRIBUTION</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The new idea: let the gap go NEGATIVE</a:t>
            </a:r>
            <a:endParaRPr lang="en-US" sz="3200" dirty="0"/>
          </a:p>
        </p:txBody>
      </p:sp>
      <p:sp>
        <p:nvSpPr>
          <p:cNvPr id="4" name="Text 2"/>
          <p:cNvSpPr/>
          <p:nvPr/>
        </p:nvSpPr>
        <p:spPr>
          <a:xfrm>
            <a:off x="548640" y="1371600"/>
            <a:ext cx="11064240" cy="685800"/>
          </a:xfrm>
          <a:prstGeom prst="rect">
            <a:avLst/>
          </a:prstGeom>
          <a:noFill/>
          <a:ln/>
        </p:spPr>
        <p:txBody>
          <a:bodyPr wrap="square" lIns="0" tIns="0" rIns="0" bIns="0" rtlCol="0" anchor="ctr"/>
          <a:lstStyle/>
          <a:p>
            <a:pPr indent="0" marL="0">
              <a:lnSpc>
                <a:spcPts val="2100"/>
              </a:lnSpc>
              <a:buNone/>
            </a:pPr>
            <a:r>
              <a:rPr lang="en-US" sz="1500" dirty="0">
                <a:solidFill>
                  <a:srgbClr val="44506A"/>
                </a:solidFill>
                <a:latin typeface="Calibri" pitchFamily="34" charset="0"/>
                <a:ea typeface="Calibri" pitchFamily="34" charset="-122"/>
                <a:cs typeface="Calibri" pitchFamily="34" charset="-120"/>
              </a:rPr>
              <a:t>Nothing in the maths says a margin has to be positive. The gap p_t − p_j lives between −1 and +1, so δ = −0.4 is a perfectly legal threshold. It means: drop this wrong answer even if it is currently WINNING.</a:t>
            </a:r>
            <a:endParaRPr lang="en-US" sz="1500" dirty="0"/>
          </a:p>
        </p:txBody>
      </p:sp>
      <p:sp>
        <p:nvSpPr>
          <p:cNvPr id="5" name="Shape 3"/>
          <p:cNvSpPr/>
          <p:nvPr/>
        </p:nvSpPr>
        <p:spPr>
          <a:xfrm>
            <a:off x="548640" y="2240280"/>
            <a:ext cx="5349240" cy="2514600"/>
          </a:xfrm>
          <a:prstGeom prst="roundRect">
            <a:avLst>
              <a:gd name="adj" fmla="val 4364"/>
            </a:avLst>
          </a:prstGeom>
          <a:solidFill>
            <a:srgbClr val="FBEDEE"/>
          </a:solidFill>
          <a:ln w="12700">
            <a:solidFill>
              <a:srgbClr val="F0CFD2"/>
            </a:solidFill>
            <a:prstDash val="solid"/>
          </a:ln>
          <a:effectLst>
            <a:outerShdw sx="100000" sy="100000" kx="0" ky="0" algn="bl" rotWithShape="0" blurRad="127000" dist="25400" dir="5400000">
              <a:srgbClr val="9AA6B8">
                <a:alpha val="28000"/>
              </a:srgbClr>
            </a:outerShdw>
          </a:effectLst>
        </p:spPr>
      </p:sp>
      <p:sp>
        <p:nvSpPr>
          <p:cNvPr id="6" name="Shape 4"/>
          <p:cNvSpPr/>
          <p:nvPr/>
        </p:nvSpPr>
        <p:spPr>
          <a:xfrm>
            <a:off x="841248" y="2450592"/>
            <a:ext cx="402336" cy="402336"/>
          </a:xfrm>
          <a:prstGeom prst="ellipse">
            <a:avLst/>
          </a:prstGeom>
          <a:solidFill>
            <a:srgbClr val="C1121F"/>
          </a:solidFill>
          <a:ln w="12700">
            <a:solidFill>
              <a:srgbClr val="C1121F"/>
            </a:solidFill>
            <a:prstDash val="solid"/>
          </a:ln>
        </p:spPr>
      </p:sp>
      <p:sp>
        <p:nvSpPr>
          <p:cNvPr id="7" name="Text 5"/>
          <p:cNvSpPr/>
          <p:nvPr/>
        </p:nvSpPr>
        <p:spPr>
          <a:xfrm>
            <a:off x="841248"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371600" y="2450592"/>
            <a:ext cx="4297680" cy="402336"/>
          </a:xfrm>
          <a:prstGeom prst="rect">
            <a:avLst/>
          </a:prstGeom>
          <a:noFill/>
          <a:ln/>
        </p:spPr>
        <p:txBody>
          <a:bodyPr wrap="square" lIns="0" tIns="0" rIns="0" bIns="0" rtlCol="0" anchor="ctr"/>
          <a:lstStyle/>
          <a:p>
            <a:pPr indent="0" marL="0">
              <a:buNone/>
            </a:pPr>
            <a:r>
              <a:rPr lang="en-US" sz="1550" b="1" dirty="0">
                <a:solidFill>
                  <a:srgbClr val="152238"/>
                </a:solidFill>
                <a:latin typeface="Cambria" pitchFamily="34" charset="0"/>
                <a:ea typeface="Cambria" pitchFamily="34" charset="-122"/>
                <a:cs typeface="Cambria" pitchFamily="34" charset="-120"/>
              </a:rPr>
              <a:t>A mislabelled example, positive gap</a:t>
            </a:r>
            <a:endParaRPr lang="en-US" sz="1550" dirty="0"/>
          </a:p>
        </p:txBody>
      </p:sp>
      <p:sp>
        <p:nvSpPr>
          <p:cNvPr id="9" name="Text 7"/>
          <p:cNvSpPr/>
          <p:nvPr/>
        </p:nvSpPr>
        <p:spPr>
          <a:xfrm>
            <a:off x="841248" y="2971800"/>
            <a:ext cx="4754880" cy="12344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The model correctly distrusts the wrong label, so it gives it a low probability.</a:t>
            </a:r>
            <a:endParaRPr lang="en-US" sz="1250" dirty="0"/>
          </a:p>
          <a:p>
            <a:pPr indent="0" marL="0">
              <a:lnSpc>
                <a:spcPts val="1700"/>
              </a:lnSpc>
              <a:buNone/>
            </a:pPr>
            <a:endParaRPr lang="en-US" sz="1250" dirty="0"/>
          </a:p>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That means no competitor is ever far enough ahead to be dropped — so the model gets pushed to fit the wrong label, over and over.</a:t>
            </a:r>
            <a:endParaRPr lang="en-US" sz="1250" dirty="0"/>
          </a:p>
        </p:txBody>
      </p:sp>
      <p:sp>
        <p:nvSpPr>
          <p:cNvPr id="10" name="Text 8"/>
          <p:cNvSpPr/>
          <p:nvPr/>
        </p:nvSpPr>
        <p:spPr>
          <a:xfrm>
            <a:off x="841248" y="4279392"/>
            <a:ext cx="4754880" cy="320040"/>
          </a:xfrm>
          <a:prstGeom prst="rect">
            <a:avLst/>
          </a:prstGeom>
          <a:noFill/>
          <a:ln/>
        </p:spPr>
        <p:txBody>
          <a:bodyPr wrap="square" lIns="0" tIns="0" rIns="0" bIns="0" rtlCol="0" anchor="ctr"/>
          <a:lstStyle/>
          <a:p>
            <a:pPr indent="0" marL="0">
              <a:buNone/>
            </a:pPr>
            <a:r>
              <a:rPr lang="en-US" sz="1250" b="1" dirty="0">
                <a:solidFill>
                  <a:srgbClr val="C1121F"/>
                </a:solidFill>
                <a:latin typeface="Calibri" pitchFamily="34" charset="0"/>
                <a:ea typeface="Calibri" pitchFamily="34" charset="-122"/>
                <a:cs typeface="Calibri" pitchFamily="34" charset="-120"/>
              </a:rPr>
              <a:t>This is exactly how networks memorise noise.</a:t>
            </a:r>
            <a:endParaRPr lang="en-US" sz="1250" dirty="0"/>
          </a:p>
        </p:txBody>
      </p:sp>
      <p:sp>
        <p:nvSpPr>
          <p:cNvPr id="11" name="Shape 9"/>
          <p:cNvSpPr/>
          <p:nvPr/>
        </p:nvSpPr>
        <p:spPr>
          <a:xfrm>
            <a:off x="6263640" y="2240280"/>
            <a:ext cx="5349240" cy="2514600"/>
          </a:xfrm>
          <a:prstGeom prst="roundRect">
            <a:avLst>
              <a:gd name="adj" fmla="val 4364"/>
            </a:avLst>
          </a:prstGeom>
          <a:solidFill>
            <a:srgbClr val="E9F5F3"/>
          </a:solidFill>
          <a:ln w="12700">
            <a:solidFill>
              <a:srgbClr val="BFE0DA"/>
            </a:solidFill>
            <a:prstDash val="solid"/>
          </a:ln>
          <a:effectLst>
            <a:outerShdw sx="100000" sy="100000" kx="0" ky="0" algn="bl" rotWithShape="0" blurRad="127000" dist="25400" dir="5400000">
              <a:srgbClr val="9AA6B8">
                <a:alpha val="28000"/>
              </a:srgbClr>
            </a:outerShdw>
          </a:effectLst>
        </p:spPr>
      </p:sp>
      <p:sp>
        <p:nvSpPr>
          <p:cNvPr id="12" name="Shape 10"/>
          <p:cNvSpPr/>
          <p:nvPr/>
        </p:nvSpPr>
        <p:spPr>
          <a:xfrm>
            <a:off x="6556248" y="2450592"/>
            <a:ext cx="402336" cy="402336"/>
          </a:xfrm>
          <a:prstGeom prst="ellipse">
            <a:avLst/>
          </a:prstGeom>
          <a:solidFill>
            <a:srgbClr val="12897B"/>
          </a:solidFill>
          <a:ln w="12700">
            <a:solidFill>
              <a:srgbClr val="12897B"/>
            </a:solidFill>
            <a:prstDash val="solid"/>
          </a:ln>
        </p:spPr>
      </p:sp>
      <p:sp>
        <p:nvSpPr>
          <p:cNvPr id="13" name="Text 11"/>
          <p:cNvSpPr/>
          <p:nvPr/>
        </p:nvSpPr>
        <p:spPr>
          <a:xfrm>
            <a:off x="6556248"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086600" y="2450592"/>
            <a:ext cx="4297680" cy="402336"/>
          </a:xfrm>
          <a:prstGeom prst="rect">
            <a:avLst/>
          </a:prstGeom>
          <a:noFill/>
          <a:ln/>
        </p:spPr>
        <p:txBody>
          <a:bodyPr wrap="square" lIns="0" tIns="0" rIns="0" bIns="0" rtlCol="0" anchor="ctr"/>
          <a:lstStyle/>
          <a:p>
            <a:pPr indent="0" marL="0">
              <a:buNone/>
            </a:pPr>
            <a:r>
              <a:rPr lang="en-US" sz="1550" b="1" dirty="0">
                <a:solidFill>
                  <a:srgbClr val="152238"/>
                </a:solidFill>
                <a:latin typeface="Cambria" pitchFamily="34" charset="0"/>
                <a:ea typeface="Cambria" pitchFamily="34" charset="-122"/>
                <a:cs typeface="Cambria" pitchFamily="34" charset="-120"/>
              </a:rPr>
              <a:t>Same example, negative gap</a:t>
            </a:r>
            <a:endParaRPr lang="en-US" sz="1550" dirty="0"/>
          </a:p>
        </p:txBody>
      </p:sp>
      <p:sp>
        <p:nvSpPr>
          <p:cNvPr id="15" name="Text 13"/>
          <p:cNvSpPr/>
          <p:nvPr/>
        </p:nvSpPr>
        <p:spPr>
          <a:xfrm>
            <a:off x="6556248" y="2971800"/>
            <a:ext cx="4754880" cy="12344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Now every competitor clears the bar and gets dropped — including the ones that are ahead.</a:t>
            </a:r>
            <a:endParaRPr lang="en-US" sz="1250" dirty="0"/>
          </a:p>
          <a:p>
            <a:pPr indent="0" marL="0">
              <a:lnSpc>
                <a:spcPts val="1700"/>
              </a:lnSpc>
              <a:buNone/>
            </a:pPr>
            <a:endParaRPr lang="en-US" sz="1250" dirty="0"/>
          </a:p>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Nothing is left to train against, so this example's contribution falls to zero and it quietly leaves training.</a:t>
            </a:r>
            <a:endParaRPr lang="en-US" sz="1250" dirty="0"/>
          </a:p>
        </p:txBody>
      </p:sp>
      <p:sp>
        <p:nvSpPr>
          <p:cNvPr id="16" name="Text 14"/>
          <p:cNvSpPr/>
          <p:nvPr/>
        </p:nvSpPr>
        <p:spPr>
          <a:xfrm>
            <a:off x="6556248" y="4279392"/>
            <a:ext cx="4754880" cy="320040"/>
          </a:xfrm>
          <a:prstGeom prst="rect">
            <a:avLst/>
          </a:prstGeom>
          <a:noFill/>
          <a:ln/>
        </p:spPr>
        <p:txBody>
          <a:bodyPr wrap="square" lIns="0" tIns="0" rIns="0" bIns="0" rtlCol="0" anchor="ctr"/>
          <a:lstStyle/>
          <a:p>
            <a:pPr indent="0" marL="0">
              <a:buNone/>
            </a:pPr>
            <a:r>
              <a:rPr lang="en-US" sz="1250" b="1" dirty="0">
                <a:solidFill>
                  <a:srgbClr val="12897B"/>
                </a:solidFill>
                <a:latin typeface="Calibri" pitchFamily="34" charset="0"/>
                <a:ea typeface="Calibri" pitchFamily="34" charset="-122"/>
                <a:cs typeface="Calibri" pitchFamily="34" charset="-120"/>
              </a:rPr>
              <a:t>The suspicious example removes itself.</a:t>
            </a:r>
            <a:endParaRPr lang="en-US" sz="1250" dirty="0"/>
          </a:p>
        </p:txBody>
      </p:sp>
      <p:sp>
        <p:nvSpPr>
          <p:cNvPr id="17" name="Shape 15"/>
          <p:cNvSpPr/>
          <p:nvPr/>
        </p:nvSpPr>
        <p:spPr>
          <a:xfrm>
            <a:off x="548640" y="4983480"/>
            <a:ext cx="11064240" cy="1051560"/>
          </a:xfrm>
          <a:prstGeom prst="roundRect">
            <a:avLst>
              <a:gd name="adj" fmla="val 10435"/>
            </a:avLst>
          </a:prstGeom>
          <a:solidFill>
            <a:srgbClr val="152238"/>
          </a:solidFill>
          <a:ln w="12700">
            <a:solidFill>
              <a:srgbClr val="152238"/>
            </a:solidFill>
            <a:prstDash val="solid"/>
          </a:ln>
        </p:spPr>
      </p:sp>
      <p:sp>
        <p:nvSpPr>
          <p:cNvPr id="18" name="Text 16"/>
          <p:cNvSpPr/>
          <p:nvPr/>
        </p:nvSpPr>
        <p:spPr>
          <a:xfrm>
            <a:off x="868680" y="5102352"/>
            <a:ext cx="10424160" cy="274320"/>
          </a:xfrm>
          <a:prstGeom prst="rect">
            <a:avLst/>
          </a:prstGeom>
          <a:noFill/>
          <a:ln/>
        </p:spPr>
        <p:txBody>
          <a:bodyPr wrap="square" lIns="0" tIns="0" rIns="0" bIns="0" rtlCol="0" anchor="ctr"/>
          <a:lstStyle/>
          <a:p>
            <a:pPr indent="0" marL="0">
              <a:buNone/>
            </a:pPr>
            <a:r>
              <a:rPr lang="en-US" sz="1150" b="1" dirty="0">
                <a:solidFill>
                  <a:srgbClr val="6FD8C9"/>
                </a:solidFill>
                <a:latin typeface="Calibri" pitchFamily="34" charset="0"/>
                <a:ea typeface="Calibri" pitchFamily="34" charset="-122"/>
                <a:cs typeface="Calibri" pitchFamily="34" charset="-120"/>
              </a:rPr>
              <a:t>Why this matters beyond our project</a:t>
            </a:r>
            <a:endParaRPr lang="en-US" sz="1150" dirty="0"/>
          </a:p>
        </p:txBody>
      </p:sp>
      <p:sp>
        <p:nvSpPr>
          <p:cNvPr id="19" name="Text 17"/>
          <p:cNvSpPr/>
          <p:nvPr/>
        </p:nvSpPr>
        <p:spPr>
          <a:xfrm>
            <a:off x="868680" y="5394960"/>
            <a:ext cx="10424160" cy="54864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“Throw away suspicious training examples” is a well-known trick in the noisy-label literature. Written this way, it stops being a separate trick — it is just a margin that went negative.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RESULTS, PART 2</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This one worked</a:t>
            </a:r>
            <a:endParaRPr lang="en-US" sz="3200" dirty="0"/>
          </a:p>
        </p:txBody>
      </p:sp>
      <p:graphicFrame>
        <p:nvGraphicFramePr>
          <p:cNvPr id="4" name="Chart 0" descr=""/>
          <p:cNvGraphicFramePr/>
          <p:nvPr/>
        </p:nvGraphicFramePr>
        <p:xfrm>
          <a:off x="457200" y="1371600"/>
          <a:ext cx="68580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572768"/>
            <a:ext cx="4023360" cy="1097280"/>
          </a:xfrm>
          <a:prstGeom prst="roundRect">
            <a:avLst>
              <a:gd name="adj" fmla="val 1000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6" name="Text 3"/>
          <p:cNvSpPr/>
          <p:nvPr/>
        </p:nvSpPr>
        <p:spPr>
          <a:xfrm>
            <a:off x="7863840" y="1709928"/>
            <a:ext cx="3474720" cy="457200"/>
          </a:xfrm>
          <a:prstGeom prst="rect">
            <a:avLst/>
          </a:prstGeom>
          <a:noFill/>
          <a:ln/>
        </p:spPr>
        <p:txBody>
          <a:bodyPr wrap="square" lIns="0" tIns="0" rIns="0" bIns="0" rtlCol="0" anchor="ctr"/>
          <a:lstStyle/>
          <a:p>
            <a:pPr indent="0" marL="0">
              <a:buNone/>
            </a:pPr>
            <a:r>
              <a:rPr lang="en-US" sz="2600" b="1" dirty="0">
                <a:solidFill>
                  <a:srgbClr val="12897B"/>
                </a:solidFill>
                <a:latin typeface="Cambria" pitchFamily="34" charset="0"/>
                <a:ea typeface="Cambria" pitchFamily="34" charset="-122"/>
                <a:cs typeface="Cambria" pitchFamily="34" charset="-120"/>
              </a:rPr>
              <a:t>4× less</a:t>
            </a:r>
            <a:endParaRPr lang="en-US" sz="2600" dirty="0"/>
          </a:p>
        </p:txBody>
      </p:sp>
      <p:sp>
        <p:nvSpPr>
          <p:cNvPr id="7" name="Text 4"/>
          <p:cNvSpPr/>
          <p:nvPr/>
        </p:nvSpPr>
        <p:spPr>
          <a:xfrm>
            <a:off x="7863840" y="2176272"/>
            <a:ext cx="3474720" cy="384048"/>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memorisation of wrong labels</a:t>
            </a:r>
            <a:endParaRPr lang="en-US" sz="1200" dirty="0"/>
          </a:p>
        </p:txBody>
      </p:sp>
      <p:sp>
        <p:nvSpPr>
          <p:cNvPr id="8" name="Shape 5"/>
          <p:cNvSpPr/>
          <p:nvPr/>
        </p:nvSpPr>
        <p:spPr>
          <a:xfrm>
            <a:off x="7589520" y="2871216"/>
            <a:ext cx="4023360" cy="1097280"/>
          </a:xfrm>
          <a:prstGeom prst="roundRect">
            <a:avLst>
              <a:gd name="adj" fmla="val 1000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9" name="Text 6"/>
          <p:cNvSpPr/>
          <p:nvPr/>
        </p:nvSpPr>
        <p:spPr>
          <a:xfrm>
            <a:off x="7863840" y="3008376"/>
            <a:ext cx="3474720" cy="457200"/>
          </a:xfrm>
          <a:prstGeom prst="rect">
            <a:avLst/>
          </a:prstGeom>
          <a:noFill/>
          <a:ln/>
        </p:spPr>
        <p:txBody>
          <a:bodyPr wrap="square" lIns="0" tIns="0" rIns="0" bIns="0" rtlCol="0" anchor="ctr"/>
          <a:lstStyle/>
          <a:p>
            <a:pPr indent="0" marL="0">
              <a:buNone/>
            </a:pPr>
            <a:r>
              <a:rPr lang="en-US" sz="2600" b="1" dirty="0">
                <a:solidFill>
                  <a:srgbClr val="12897B"/>
                </a:solidFill>
                <a:latin typeface="Cambria" pitchFamily="34" charset="0"/>
                <a:ea typeface="Cambria" pitchFamily="34" charset="-122"/>
                <a:cs typeface="Cambria" pitchFamily="34" charset="-120"/>
              </a:rPr>
              <a:t>+2.8 pts</a:t>
            </a:r>
            <a:endParaRPr lang="en-US" sz="2600" dirty="0"/>
          </a:p>
        </p:txBody>
      </p:sp>
      <p:sp>
        <p:nvSpPr>
          <p:cNvPr id="10" name="Text 7"/>
          <p:cNvSpPr/>
          <p:nvPr/>
        </p:nvSpPr>
        <p:spPr>
          <a:xfrm>
            <a:off x="7863840" y="3474720"/>
            <a:ext cx="3474720" cy="384048"/>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better than cross-entropy at the end of training</a:t>
            </a:r>
            <a:endParaRPr lang="en-US" sz="1200" dirty="0"/>
          </a:p>
        </p:txBody>
      </p:sp>
      <p:sp>
        <p:nvSpPr>
          <p:cNvPr id="11" name="Shape 8"/>
          <p:cNvSpPr/>
          <p:nvPr/>
        </p:nvSpPr>
        <p:spPr>
          <a:xfrm>
            <a:off x="7589520" y="4169664"/>
            <a:ext cx="4023360" cy="1097280"/>
          </a:xfrm>
          <a:prstGeom prst="roundRect">
            <a:avLst>
              <a:gd name="adj" fmla="val 10000"/>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2" name="Text 9"/>
          <p:cNvSpPr/>
          <p:nvPr/>
        </p:nvSpPr>
        <p:spPr>
          <a:xfrm>
            <a:off x="7863840" y="4306824"/>
            <a:ext cx="3474720" cy="457200"/>
          </a:xfrm>
          <a:prstGeom prst="rect">
            <a:avLst/>
          </a:prstGeom>
          <a:noFill/>
          <a:ln/>
        </p:spPr>
        <p:txBody>
          <a:bodyPr wrap="square" lIns="0" tIns="0" rIns="0" bIns="0" rtlCol="0" anchor="ctr"/>
          <a:lstStyle/>
          <a:p>
            <a:pPr indent="0" marL="0">
              <a:buNone/>
            </a:pPr>
            <a:r>
              <a:rPr lang="en-US" sz="2600" b="1" dirty="0">
                <a:solidFill>
                  <a:srgbClr val="3E6FA8"/>
                </a:solidFill>
                <a:latin typeface="Cambria" pitchFamily="34" charset="0"/>
                <a:ea typeface="Cambria" pitchFamily="34" charset="-122"/>
                <a:cs typeface="Cambria" pitchFamily="34" charset="-120"/>
              </a:rPr>
              <a:t>Both seeds</a:t>
            </a:r>
            <a:endParaRPr lang="en-US" sz="2600" dirty="0"/>
          </a:p>
        </p:txBody>
      </p:sp>
      <p:sp>
        <p:nvSpPr>
          <p:cNvPr id="13" name="Text 10"/>
          <p:cNvSpPr/>
          <p:nvPr/>
        </p:nvSpPr>
        <p:spPr>
          <a:xfrm>
            <a:off x="7863840" y="4773168"/>
            <a:ext cx="3474720" cy="384048"/>
          </a:xfrm>
          <a:prstGeom prst="rect">
            <a:avLst/>
          </a:prstGeom>
          <a:noFill/>
          <a:ln/>
        </p:spPr>
        <p:txBody>
          <a:bodyPr wrap="square" lIns="0" tIns="0" rIns="0" bIns="0" rtlCol="0" anchor="ctr"/>
          <a:lstStyle/>
          <a:p>
            <a:pPr indent="0" marL="0">
              <a:buNone/>
            </a:pPr>
            <a:r>
              <a:rPr lang="en-US" sz="1200" dirty="0">
                <a:solidFill>
                  <a:srgbClr val="44506A"/>
                </a:solidFill>
                <a:latin typeface="Calibri" pitchFamily="34" charset="0"/>
                <a:ea typeface="Calibri" pitchFamily="34" charset="-122"/>
                <a:cs typeface="Calibri" pitchFamily="34" charset="-120"/>
              </a:rPr>
              <a:t>the effect replicated — it is not a lucky run</a:t>
            </a:r>
            <a:endParaRPr lang="en-US" sz="1200" dirty="0"/>
          </a:p>
        </p:txBody>
      </p:sp>
      <p:sp>
        <p:nvSpPr>
          <p:cNvPr id="14" name="Text 11"/>
          <p:cNvSpPr/>
          <p:nvPr/>
        </p:nvSpPr>
        <p:spPr>
          <a:xfrm>
            <a:off x="457200" y="5577840"/>
            <a:ext cx="11155680" cy="548640"/>
          </a:xfrm>
          <a:prstGeom prst="rect">
            <a:avLst/>
          </a:prstGeom>
          <a:noFill/>
          <a:ln/>
        </p:spPr>
        <p:txBody>
          <a:bodyPr wrap="square" lIns="0" tIns="0" rIns="0" bIns="0" rtlCol="0" anchor="ctr"/>
          <a:lstStyle/>
          <a:p>
            <a:pPr indent="0" marL="0">
              <a:lnSpc>
                <a:spcPts val="1700"/>
              </a:lnSpc>
              <a:buNone/>
            </a:pPr>
            <a:r>
              <a:rPr lang="en-US" sz="1250" i="1" dirty="0">
                <a:solidFill>
                  <a:srgbClr val="8A93A6"/>
                </a:solidFill>
                <a:latin typeface="Calibri" pitchFamily="34" charset="0"/>
                <a:ea typeface="Calibri" pitchFamily="34" charset="-122"/>
                <a:cs typeface="Calibri" pitchFamily="34" charset="-120"/>
              </a:rPr>
              <a:t>Perfect resistance would be a flat line along the bottom. Cross-entropy climbs to 34% and AS-Softmax to 40% — our sample gap stops at 19%. Measured a second way, ours ends 3.1 points above a no-memorisation floor where cross-entropy ends 11.5 above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RIGOUR</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Being honest about what we can claim</a:t>
            </a:r>
            <a:endParaRPr lang="en-US" sz="3200" dirty="0"/>
          </a:p>
        </p:txBody>
      </p:sp>
      <p:sp>
        <p:nvSpPr>
          <p:cNvPr id="4" name="Text 2"/>
          <p:cNvSpPr/>
          <p:nvPr/>
        </p:nvSpPr>
        <p:spPr>
          <a:xfrm>
            <a:off x="548640" y="1389888"/>
            <a:ext cx="11064240" cy="365760"/>
          </a:xfrm>
          <a:prstGeom prst="rect">
            <a:avLst/>
          </a:prstGeom>
          <a:noFill/>
          <a:ln/>
        </p:spPr>
        <p:txBody>
          <a:bodyPr wrap="square" lIns="0" tIns="0" rIns="0" bIns="0" rtlCol="0" anchor="ctr"/>
          <a:lstStyle/>
          <a:p>
            <a:pPr indent="0" marL="0">
              <a:buNone/>
            </a:pPr>
            <a:r>
              <a:rPr lang="en-US" sz="1450" dirty="0">
                <a:solidFill>
                  <a:srgbClr val="44506A"/>
                </a:solidFill>
                <a:latin typeface="Calibri" pitchFamily="34" charset="0"/>
                <a:ea typeface="Calibri" pitchFamily="34" charset="-122"/>
                <a:cs typeface="Calibri" pitchFamily="34" charset="-120"/>
              </a:rPr>
              <a:t>With only two runs per method, some of these numbers are solid and some are not. We grade them separately.</a:t>
            </a:r>
            <a:endParaRPr lang="en-US" sz="1450" dirty="0"/>
          </a:p>
        </p:txBody>
      </p:sp>
      <p:sp>
        <p:nvSpPr>
          <p:cNvPr id="5" name="Shape 3"/>
          <p:cNvSpPr/>
          <p:nvPr/>
        </p:nvSpPr>
        <p:spPr>
          <a:xfrm>
            <a:off x="548640" y="1938528"/>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6" name="Text 4"/>
          <p:cNvSpPr/>
          <p:nvPr/>
        </p:nvSpPr>
        <p:spPr>
          <a:xfrm>
            <a:off x="822960" y="1938528"/>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4× less memorisation of wrong labels</a:t>
            </a:r>
            <a:endParaRPr lang="en-US" sz="1300" dirty="0"/>
          </a:p>
        </p:txBody>
      </p:sp>
      <p:sp>
        <p:nvSpPr>
          <p:cNvPr id="7" name="Shape 5"/>
          <p:cNvSpPr/>
          <p:nvPr/>
        </p:nvSpPr>
        <p:spPr>
          <a:xfrm>
            <a:off x="5029200" y="2066544"/>
            <a:ext cx="1691640" cy="329184"/>
          </a:xfrm>
          <a:prstGeom prst="roundRect">
            <a:avLst>
              <a:gd name="adj" fmla="val 22222"/>
            </a:avLst>
          </a:prstGeom>
          <a:solidFill>
            <a:srgbClr val="12897B"/>
          </a:solidFill>
          <a:ln w="12700">
            <a:solidFill>
              <a:srgbClr val="12897B"/>
            </a:solidFill>
            <a:prstDash val="solid"/>
          </a:ln>
        </p:spPr>
      </p:sp>
      <p:sp>
        <p:nvSpPr>
          <p:cNvPr id="8" name="Text 6"/>
          <p:cNvSpPr/>
          <p:nvPr/>
        </p:nvSpPr>
        <p:spPr>
          <a:xfrm>
            <a:off x="5029200" y="206654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a:t>
            </a:r>
            <a:endParaRPr lang="en-US" sz="950" dirty="0"/>
          </a:p>
        </p:txBody>
      </p:sp>
      <p:sp>
        <p:nvSpPr>
          <p:cNvPr id="9" name="Text 7"/>
          <p:cNvSpPr/>
          <p:nvPr/>
        </p:nvSpPr>
        <p:spPr>
          <a:xfrm>
            <a:off x="6903720" y="1938528"/>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identical on both runs; the effect is ~20× the measurement's own noise</a:t>
            </a:r>
            <a:endParaRPr lang="en-US" sz="1150" dirty="0"/>
          </a:p>
        </p:txBody>
      </p:sp>
      <p:sp>
        <p:nvSpPr>
          <p:cNvPr id="10" name="Shape 8"/>
          <p:cNvSpPr/>
          <p:nvPr/>
        </p:nvSpPr>
        <p:spPr>
          <a:xfrm>
            <a:off x="548640" y="2633472"/>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11" name="Text 9"/>
          <p:cNvSpPr/>
          <p:nvPr/>
        </p:nvSpPr>
        <p:spPr>
          <a:xfrm>
            <a:off x="822960" y="2633472"/>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AS-Softmax memorises more than plain CE</a:t>
            </a:r>
            <a:endParaRPr lang="en-US" sz="1300" dirty="0"/>
          </a:p>
        </p:txBody>
      </p:sp>
      <p:sp>
        <p:nvSpPr>
          <p:cNvPr id="12" name="Shape 10"/>
          <p:cNvSpPr/>
          <p:nvPr/>
        </p:nvSpPr>
        <p:spPr>
          <a:xfrm>
            <a:off x="5029200" y="2761488"/>
            <a:ext cx="1691640" cy="329184"/>
          </a:xfrm>
          <a:prstGeom prst="roundRect">
            <a:avLst>
              <a:gd name="adj" fmla="val 22222"/>
            </a:avLst>
          </a:prstGeom>
          <a:solidFill>
            <a:srgbClr val="12897B"/>
          </a:solidFill>
          <a:ln w="12700">
            <a:solidFill>
              <a:srgbClr val="12897B"/>
            </a:solidFill>
            <a:prstDash val="solid"/>
          </a:ln>
        </p:spPr>
      </p:sp>
      <p:sp>
        <p:nvSpPr>
          <p:cNvPr id="13" name="Text 11"/>
          <p:cNvSpPr/>
          <p:nvPr/>
        </p:nvSpPr>
        <p:spPr>
          <a:xfrm>
            <a:off x="5029200" y="2761488"/>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a:t>
            </a:r>
            <a:endParaRPr lang="en-US" sz="950" dirty="0"/>
          </a:p>
        </p:txBody>
      </p:sp>
      <p:sp>
        <p:nvSpPr>
          <p:cNvPr id="14" name="Text 12"/>
          <p:cNvSpPr/>
          <p:nvPr/>
        </p:nvSpPr>
        <p:spPr>
          <a:xfrm>
            <a:off x="6903720" y="2633472"/>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held on both runs — and it contradicts the textbook explanation</a:t>
            </a:r>
            <a:endParaRPr lang="en-US" sz="1150" dirty="0"/>
          </a:p>
        </p:txBody>
      </p:sp>
      <p:sp>
        <p:nvSpPr>
          <p:cNvPr id="15" name="Shape 13"/>
          <p:cNvSpPr/>
          <p:nvPr/>
        </p:nvSpPr>
        <p:spPr>
          <a:xfrm>
            <a:off x="548640" y="3328416"/>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16" name="Text 14"/>
          <p:cNvSpPr/>
          <p:nvPr/>
        </p:nvSpPr>
        <p:spPr>
          <a:xfrm>
            <a:off x="822960" y="3328416"/>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+2.8 pts at the end of training</a:t>
            </a:r>
            <a:endParaRPr lang="en-US" sz="1300" dirty="0"/>
          </a:p>
        </p:txBody>
      </p:sp>
      <p:sp>
        <p:nvSpPr>
          <p:cNvPr id="17" name="Shape 15"/>
          <p:cNvSpPr/>
          <p:nvPr/>
        </p:nvSpPr>
        <p:spPr>
          <a:xfrm>
            <a:off x="5029200" y="3456432"/>
            <a:ext cx="1691640" cy="329184"/>
          </a:xfrm>
          <a:prstGeom prst="roundRect">
            <a:avLst>
              <a:gd name="adj" fmla="val 22222"/>
            </a:avLst>
          </a:prstGeom>
          <a:solidFill>
            <a:srgbClr val="12897B"/>
          </a:solidFill>
          <a:ln w="12700">
            <a:solidFill>
              <a:srgbClr val="12897B"/>
            </a:solidFill>
            <a:prstDash val="solid"/>
          </a:ln>
        </p:spPr>
      </p:sp>
      <p:sp>
        <p:nvSpPr>
          <p:cNvPr id="18" name="Text 16"/>
          <p:cNvSpPr/>
          <p:nvPr/>
        </p:nvSpPr>
        <p:spPr>
          <a:xfrm>
            <a:off x="5029200" y="3456432"/>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a:t>
            </a:r>
            <a:endParaRPr lang="en-US" sz="950" dirty="0"/>
          </a:p>
        </p:txBody>
      </p:sp>
      <p:sp>
        <p:nvSpPr>
          <p:cNvPr id="19" name="Text 17"/>
          <p:cNvSpPr/>
          <p:nvPr/>
        </p:nvSpPr>
        <p:spPr>
          <a:xfrm>
            <a:off x="6903720" y="3328416"/>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both runs positive, though the size varied (+3.7 and +1.8)</a:t>
            </a:r>
            <a:endParaRPr lang="en-US" sz="1150" dirty="0"/>
          </a:p>
        </p:txBody>
      </p:sp>
      <p:sp>
        <p:nvSpPr>
          <p:cNvPr id="20" name="Shape 18"/>
          <p:cNvSpPr/>
          <p:nvPr/>
        </p:nvSpPr>
        <p:spPr>
          <a:xfrm>
            <a:off x="548640" y="4023360"/>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21" name="Text 19"/>
          <p:cNvSpPr/>
          <p:nvPr/>
        </p:nvSpPr>
        <p:spPr>
          <a:xfrm>
            <a:off x="822960" y="4023360"/>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Our class-pair idea helps</a:t>
            </a:r>
            <a:endParaRPr lang="en-US" sz="1300" dirty="0"/>
          </a:p>
        </p:txBody>
      </p:sp>
      <p:sp>
        <p:nvSpPr>
          <p:cNvPr id="22" name="Shape 20"/>
          <p:cNvSpPr/>
          <p:nvPr/>
        </p:nvSpPr>
        <p:spPr>
          <a:xfrm>
            <a:off x="5029200" y="4151376"/>
            <a:ext cx="1691640" cy="329184"/>
          </a:xfrm>
          <a:prstGeom prst="roundRect">
            <a:avLst>
              <a:gd name="adj" fmla="val 22222"/>
            </a:avLst>
          </a:prstGeom>
          <a:solidFill>
            <a:srgbClr val="C1121F"/>
          </a:solidFill>
          <a:ln w="12700">
            <a:solidFill>
              <a:srgbClr val="C1121F"/>
            </a:solidFill>
            <a:prstDash val="solid"/>
          </a:ln>
        </p:spPr>
      </p:sp>
      <p:sp>
        <p:nvSpPr>
          <p:cNvPr id="23" name="Text 21"/>
          <p:cNvSpPr/>
          <p:nvPr/>
        </p:nvSpPr>
        <p:spPr>
          <a:xfrm>
            <a:off x="5029200" y="4151376"/>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REJECTED</a:t>
            </a:r>
            <a:endParaRPr lang="en-US" sz="950" dirty="0"/>
          </a:p>
        </p:txBody>
      </p:sp>
      <p:sp>
        <p:nvSpPr>
          <p:cNvPr id="24" name="Text 22"/>
          <p:cNvSpPr/>
          <p:nvPr/>
        </p:nvSpPr>
        <p:spPr>
          <a:xfrm>
            <a:off x="6903720" y="4023360"/>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flat across all four testbeds, and not a tuning artefact</a:t>
            </a:r>
            <a:endParaRPr lang="en-US" sz="1150" dirty="0"/>
          </a:p>
        </p:txBody>
      </p:sp>
      <p:sp>
        <p:nvSpPr>
          <p:cNvPr id="25" name="Shape 23"/>
          <p:cNvSpPr/>
          <p:nvPr/>
        </p:nvSpPr>
        <p:spPr>
          <a:xfrm>
            <a:off x="548640" y="4718304"/>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26" name="Text 24"/>
          <p:cNvSpPr/>
          <p:nvPr/>
        </p:nvSpPr>
        <p:spPr>
          <a:xfrm>
            <a:off x="822960" y="4718304"/>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+0.5 pts on best-case accuracy</a:t>
            </a:r>
            <a:endParaRPr lang="en-US" sz="1300" dirty="0"/>
          </a:p>
        </p:txBody>
      </p:sp>
      <p:sp>
        <p:nvSpPr>
          <p:cNvPr id="27" name="Shape 25"/>
          <p:cNvSpPr/>
          <p:nvPr/>
        </p:nvSpPr>
        <p:spPr>
          <a:xfrm>
            <a:off x="5029200" y="4846320"/>
            <a:ext cx="1691640" cy="329184"/>
          </a:xfrm>
          <a:prstGeom prst="roundRect">
            <a:avLst>
              <a:gd name="adj" fmla="val 22222"/>
            </a:avLst>
          </a:prstGeom>
          <a:solidFill>
            <a:srgbClr val="C97B1E"/>
          </a:solidFill>
          <a:ln w="12700">
            <a:solidFill>
              <a:srgbClr val="C97B1E"/>
            </a:solidFill>
            <a:prstDash val="solid"/>
          </a:ln>
        </p:spPr>
      </p:sp>
      <p:sp>
        <p:nvSpPr>
          <p:cNvPr id="28" name="Text 26"/>
          <p:cNvSpPr/>
          <p:nvPr/>
        </p:nvSpPr>
        <p:spPr>
          <a:xfrm>
            <a:off x="5029200" y="4846320"/>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NOT ESTABLISHED</a:t>
            </a:r>
            <a:endParaRPr lang="en-US" sz="950" dirty="0"/>
          </a:p>
        </p:txBody>
      </p:sp>
      <p:sp>
        <p:nvSpPr>
          <p:cNvPr id="29" name="Text 27"/>
          <p:cNvSpPr/>
          <p:nvPr/>
        </p:nvSpPr>
        <p:spPr>
          <a:xfrm>
            <a:off x="6903720" y="4718304"/>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one of the two runs produced the entire gap — we do not claim it</a:t>
            </a:r>
            <a:endParaRPr lang="en-US" sz="1150" dirty="0"/>
          </a:p>
        </p:txBody>
      </p:sp>
      <p:sp>
        <p:nvSpPr>
          <p:cNvPr id="30" name="Shape 28"/>
          <p:cNvSpPr/>
          <p:nvPr/>
        </p:nvSpPr>
        <p:spPr>
          <a:xfrm>
            <a:off x="548640" y="5413248"/>
            <a:ext cx="11064240" cy="585216"/>
          </a:xfrm>
          <a:prstGeom prst="roundRect">
            <a:avLst>
              <a:gd name="adj" fmla="val 15625"/>
            </a:avLst>
          </a:prstGeom>
          <a:solidFill>
            <a:srgbClr val="FFFFFF"/>
          </a:solidFill>
          <a:ln w="12700">
            <a:solidFill>
              <a:srgbClr val="D8E0EA"/>
            </a:solidFill>
            <a:prstDash val="solid"/>
          </a:ln>
          <a:effectLst>
            <a:outerShdw sx="100000" sy="100000" kx="0" ky="0" algn="bl" rotWithShape="0" blurRad="63500" dist="25400" dir="5400000">
              <a:srgbClr val="9AA6B8">
                <a:alpha val="15000"/>
              </a:srgbClr>
            </a:outerShdw>
          </a:effectLst>
        </p:spPr>
      </p:sp>
      <p:sp>
        <p:nvSpPr>
          <p:cNvPr id="31" name="Text 29"/>
          <p:cNvSpPr/>
          <p:nvPr/>
        </p:nvSpPr>
        <p:spPr>
          <a:xfrm>
            <a:off x="822960" y="5413248"/>
            <a:ext cx="4069080" cy="585216"/>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Better calibration</a:t>
            </a:r>
            <a:endParaRPr lang="en-US" sz="1300" dirty="0"/>
          </a:p>
        </p:txBody>
      </p:sp>
      <p:sp>
        <p:nvSpPr>
          <p:cNvPr id="32" name="Shape 30"/>
          <p:cNvSpPr/>
          <p:nvPr/>
        </p:nvSpPr>
        <p:spPr>
          <a:xfrm>
            <a:off x="5029200" y="5541264"/>
            <a:ext cx="1691640" cy="329184"/>
          </a:xfrm>
          <a:prstGeom prst="roundRect">
            <a:avLst>
              <a:gd name="adj" fmla="val 22222"/>
            </a:avLst>
          </a:prstGeom>
          <a:solidFill>
            <a:srgbClr val="8A93A6"/>
          </a:solidFill>
          <a:ln w="12700">
            <a:solidFill>
              <a:srgbClr val="8A93A6"/>
            </a:solidFill>
            <a:prstDash val="solid"/>
          </a:ln>
        </p:spPr>
      </p:sp>
      <p:sp>
        <p:nvSpPr>
          <p:cNvPr id="33" name="Text 31"/>
          <p:cNvSpPr/>
          <p:nvPr/>
        </p:nvSpPr>
        <p:spPr>
          <a:xfrm>
            <a:off x="5029200" y="5541264"/>
            <a:ext cx="16916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 CLAIM</a:t>
            </a:r>
            <a:endParaRPr lang="en-US" sz="950" dirty="0"/>
          </a:p>
        </p:txBody>
      </p:sp>
      <p:sp>
        <p:nvSpPr>
          <p:cNvPr id="34" name="Text 32"/>
          <p:cNvSpPr/>
          <p:nvPr/>
        </p:nvSpPr>
        <p:spPr>
          <a:xfrm>
            <a:off x="6903720" y="5413248"/>
            <a:ext cx="4434840" cy="585216"/>
          </a:xfrm>
          <a:prstGeom prst="rect">
            <a:avLst/>
          </a:prstGeom>
          <a:noFill/>
          <a:ln/>
        </p:spPr>
        <p:txBody>
          <a:bodyPr wrap="square" lIns="0" tIns="0" rIns="0" bIns="0" rtlCol="0" anchor="ctr"/>
          <a:lstStyle/>
          <a:p>
            <a:pPr indent="0" marL="0">
              <a:buNone/>
            </a:pPr>
            <a:r>
              <a:rPr lang="en-US" sz="1150" dirty="0">
                <a:solidFill>
                  <a:srgbClr val="44506A"/>
                </a:solidFill>
                <a:latin typeface="Calibri" pitchFamily="34" charset="0"/>
                <a:ea typeface="Calibri" pitchFamily="34" charset="-122"/>
                <a:cs typeface="Calibri" pitchFamily="34" charset="-120"/>
              </a:rPr>
              <a:t>the difference is an artefact of the method, not a real gain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THE VERDICT</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So — is it any good?</a:t>
            </a:r>
            <a:endParaRPr lang="en-US" sz="3200" dirty="0"/>
          </a:p>
        </p:txBody>
      </p:sp>
      <p:sp>
        <p:nvSpPr>
          <p:cNvPr id="4" name="Shape 2"/>
          <p:cNvSpPr/>
          <p:nvPr/>
        </p:nvSpPr>
        <p:spPr>
          <a:xfrm>
            <a:off x="548640" y="1417320"/>
            <a:ext cx="3538728" cy="2148840"/>
          </a:xfrm>
          <a:prstGeom prst="roundRect">
            <a:avLst>
              <a:gd name="adj" fmla="val 5106"/>
            </a:avLst>
          </a:prstGeom>
          <a:solidFill>
            <a:srgbClr val="E9F5F3"/>
          </a:solidFill>
          <a:ln w="12700">
            <a:solidFill>
              <a:srgbClr val="BFE0DA"/>
            </a:solidFill>
            <a:prstDash val="solid"/>
          </a:ln>
          <a:effectLst>
            <a:outerShdw sx="100000" sy="100000" kx="0" ky="0" algn="bl" rotWithShape="0" blurRad="127000" dist="25400" dir="5400000">
              <a:srgbClr val="9AA6B8">
                <a:alpha val="28000"/>
              </a:srgbClr>
            </a:outerShdw>
          </a:effectLst>
        </p:spPr>
      </p:sp>
      <p:sp>
        <p:nvSpPr>
          <p:cNvPr id="5" name="Shape 3"/>
          <p:cNvSpPr/>
          <p:nvPr/>
        </p:nvSpPr>
        <p:spPr>
          <a:xfrm>
            <a:off x="841248" y="1645920"/>
            <a:ext cx="420624" cy="420624"/>
          </a:xfrm>
          <a:prstGeom prst="ellipse">
            <a:avLst/>
          </a:prstGeom>
          <a:solidFill>
            <a:srgbClr val="12897B"/>
          </a:solidFill>
          <a:ln w="12700">
            <a:solidFill>
              <a:srgbClr val="12897B"/>
            </a:solidFill>
            <a:prstDash val="solid"/>
          </a:ln>
        </p:spPr>
      </p:sp>
      <p:sp>
        <p:nvSpPr>
          <p:cNvPr id="6" name="Text 4"/>
          <p:cNvSpPr/>
          <p:nvPr/>
        </p:nvSpPr>
        <p:spPr>
          <a:xfrm>
            <a:off x="841248"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71600" y="1645920"/>
            <a:ext cx="2468880" cy="420624"/>
          </a:xfrm>
          <a:prstGeom prst="rect">
            <a:avLst/>
          </a:prstGeom>
          <a:noFill/>
          <a:ln/>
        </p:spPr>
        <p:txBody>
          <a:bodyPr wrap="square" lIns="0" tIns="0" rIns="0" bIns="0" rtlCol="0" anchor="ctr"/>
          <a:lstStyle/>
          <a:p>
            <a:pPr indent="0" marL="0">
              <a:buNone/>
            </a:pPr>
            <a:r>
              <a:rPr lang="en-US" sz="1700" b="1" dirty="0">
                <a:solidFill>
                  <a:srgbClr val="152238"/>
                </a:solidFill>
                <a:latin typeface="Cambria" pitchFamily="34" charset="0"/>
                <a:ea typeface="Cambria" pitchFamily="34" charset="-122"/>
                <a:cs typeface="Cambria" pitchFamily="34" charset="-120"/>
              </a:rPr>
              <a:t>Yes, as a defence</a:t>
            </a:r>
            <a:endParaRPr lang="en-US" sz="1700" dirty="0"/>
          </a:p>
        </p:txBody>
      </p:sp>
      <p:sp>
        <p:nvSpPr>
          <p:cNvPr id="8" name="Text 6"/>
          <p:cNvSpPr/>
          <p:nvPr/>
        </p:nvSpPr>
        <p:spPr>
          <a:xfrm>
            <a:off x="841248" y="2194560"/>
            <a:ext cx="2971800" cy="118872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It substantially stops the model memorising wrong labels, the mechanism is understood, and the effect replicated.</a:t>
            </a:r>
            <a:endParaRPr lang="en-US" sz="1250" dirty="0"/>
          </a:p>
        </p:txBody>
      </p:sp>
      <p:sp>
        <p:nvSpPr>
          <p:cNvPr id="9" name="Shape 7"/>
          <p:cNvSpPr/>
          <p:nvPr/>
        </p:nvSpPr>
        <p:spPr>
          <a:xfrm>
            <a:off x="4315968" y="1417320"/>
            <a:ext cx="3538728" cy="2148840"/>
          </a:xfrm>
          <a:prstGeom prst="roundRect">
            <a:avLst>
              <a:gd name="adj" fmla="val 5106"/>
            </a:avLst>
          </a:prstGeom>
          <a:solidFill>
            <a:srgbClr val="FBEDEE"/>
          </a:solidFill>
          <a:ln w="12700">
            <a:solidFill>
              <a:srgbClr val="F0CFD2"/>
            </a:solidFill>
            <a:prstDash val="solid"/>
          </a:ln>
          <a:effectLst>
            <a:outerShdw sx="100000" sy="100000" kx="0" ky="0" algn="bl" rotWithShape="0" blurRad="127000" dist="25400" dir="5400000">
              <a:srgbClr val="9AA6B8">
                <a:alpha val="28000"/>
              </a:srgbClr>
            </a:outerShdw>
          </a:effectLst>
        </p:spPr>
      </p:sp>
      <p:sp>
        <p:nvSpPr>
          <p:cNvPr id="10" name="Shape 8"/>
          <p:cNvSpPr/>
          <p:nvPr/>
        </p:nvSpPr>
        <p:spPr>
          <a:xfrm>
            <a:off x="4608576" y="1645920"/>
            <a:ext cx="420624" cy="420624"/>
          </a:xfrm>
          <a:prstGeom prst="ellipse">
            <a:avLst/>
          </a:prstGeom>
          <a:solidFill>
            <a:srgbClr val="C1121F"/>
          </a:solidFill>
          <a:ln w="12700">
            <a:solidFill>
              <a:srgbClr val="C1121F"/>
            </a:solidFill>
            <a:prstDash val="solid"/>
          </a:ln>
        </p:spPr>
      </p:sp>
      <p:sp>
        <p:nvSpPr>
          <p:cNvPr id="11" name="Text 9"/>
          <p:cNvSpPr/>
          <p:nvPr/>
        </p:nvSpPr>
        <p:spPr>
          <a:xfrm>
            <a:off x="4608576"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5138928" y="1645920"/>
            <a:ext cx="2468880" cy="420624"/>
          </a:xfrm>
          <a:prstGeom prst="rect">
            <a:avLst/>
          </a:prstGeom>
          <a:noFill/>
          <a:ln/>
        </p:spPr>
        <p:txBody>
          <a:bodyPr wrap="square" lIns="0" tIns="0" rIns="0" bIns="0" rtlCol="0" anchor="ctr"/>
          <a:lstStyle/>
          <a:p>
            <a:pPr indent="0" marL="0">
              <a:buNone/>
            </a:pPr>
            <a:r>
              <a:rPr lang="en-US" sz="1700" b="1" dirty="0">
                <a:solidFill>
                  <a:srgbClr val="152238"/>
                </a:solidFill>
                <a:latin typeface="Cambria" pitchFamily="34" charset="0"/>
                <a:ea typeface="Cambria" pitchFamily="34" charset="-122"/>
                <a:cs typeface="Cambria" pitchFamily="34" charset="-120"/>
              </a:rPr>
              <a:t>No, as an upgrade</a:t>
            </a:r>
            <a:endParaRPr lang="en-US" sz="1700" dirty="0"/>
          </a:p>
        </p:txBody>
      </p:sp>
      <p:sp>
        <p:nvSpPr>
          <p:cNvPr id="13" name="Text 11"/>
          <p:cNvSpPr/>
          <p:nvPr/>
        </p:nvSpPr>
        <p:spPr>
          <a:xfrm>
            <a:off x="4608576" y="2194560"/>
            <a:ext cx="2971800" cy="118872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It does not make the model more accurate at its best moment. Our original hypothesis — smarter gap, better accuracy — was wrong.</a:t>
            </a:r>
            <a:endParaRPr lang="en-US" sz="1250" dirty="0"/>
          </a:p>
        </p:txBody>
      </p:sp>
      <p:sp>
        <p:nvSpPr>
          <p:cNvPr id="14" name="Shape 12"/>
          <p:cNvSpPr/>
          <p:nvPr/>
        </p:nvSpPr>
        <p:spPr>
          <a:xfrm>
            <a:off x="8083296" y="1417320"/>
            <a:ext cx="3538728" cy="2148840"/>
          </a:xfrm>
          <a:prstGeom prst="roundRect">
            <a:avLst>
              <a:gd name="adj" fmla="val 5106"/>
            </a:avLst>
          </a:prstGeom>
          <a:solidFill>
            <a:srgbClr val="F0F4FA"/>
          </a:solidFill>
          <a:ln w="12700">
            <a:solidFill>
              <a:srgbClr val="CFDBEC"/>
            </a:solidFill>
            <a:prstDash val="solid"/>
          </a:ln>
          <a:effectLst>
            <a:outerShdw sx="100000" sy="100000" kx="0" ky="0" algn="bl" rotWithShape="0" blurRad="127000" dist="25400" dir="5400000">
              <a:srgbClr val="9AA6B8">
                <a:alpha val="28000"/>
              </a:srgbClr>
            </a:outerShdw>
          </a:effectLst>
        </p:spPr>
      </p:sp>
      <p:sp>
        <p:nvSpPr>
          <p:cNvPr id="15" name="Shape 13"/>
          <p:cNvSpPr/>
          <p:nvPr/>
        </p:nvSpPr>
        <p:spPr>
          <a:xfrm>
            <a:off x="8375904" y="1645920"/>
            <a:ext cx="420624" cy="420624"/>
          </a:xfrm>
          <a:prstGeom prst="ellipse">
            <a:avLst/>
          </a:prstGeom>
          <a:solidFill>
            <a:srgbClr val="3E6FA8"/>
          </a:solidFill>
          <a:ln w="12700">
            <a:solidFill>
              <a:srgbClr val="3E6FA8"/>
            </a:solidFill>
            <a:prstDash val="solid"/>
          </a:ln>
        </p:spPr>
      </p:sp>
      <p:sp>
        <p:nvSpPr>
          <p:cNvPr id="16" name="Text 14"/>
          <p:cNvSpPr/>
          <p:nvPr/>
        </p:nvSpPr>
        <p:spPr>
          <a:xfrm>
            <a:off x="8375904"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906256" y="1645920"/>
            <a:ext cx="2468880" cy="420624"/>
          </a:xfrm>
          <a:prstGeom prst="rect">
            <a:avLst/>
          </a:prstGeom>
          <a:noFill/>
          <a:ln/>
        </p:spPr>
        <p:txBody>
          <a:bodyPr wrap="square" lIns="0" tIns="0" rIns="0" bIns="0" rtlCol="0" anchor="ctr"/>
          <a:lstStyle/>
          <a:p>
            <a:pPr indent="0" marL="0">
              <a:buNone/>
            </a:pPr>
            <a:r>
              <a:rPr lang="en-US" sz="1700" b="1" dirty="0">
                <a:solidFill>
                  <a:srgbClr val="152238"/>
                </a:solidFill>
                <a:latin typeface="Cambria" pitchFamily="34" charset="0"/>
                <a:ea typeface="Cambria" pitchFamily="34" charset="-122"/>
                <a:cs typeface="Cambria" pitchFamily="34" charset="-120"/>
              </a:rPr>
              <a:t>It depends</a:t>
            </a:r>
            <a:endParaRPr lang="en-US" sz="1700" dirty="0"/>
          </a:p>
        </p:txBody>
      </p:sp>
      <p:sp>
        <p:nvSpPr>
          <p:cNvPr id="18" name="Text 16"/>
          <p:cNvSpPr/>
          <p:nvPr/>
        </p:nvSpPr>
        <p:spPr>
          <a:xfrm>
            <a:off x="8375904" y="2194560"/>
            <a:ext cx="2971800" cy="118872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The gain only shows up if you cannot stop training early using clean data — which is exactly the situation when your labels are noisy.</a:t>
            </a:r>
            <a:endParaRPr lang="en-US" sz="1250" dirty="0"/>
          </a:p>
        </p:txBody>
      </p:sp>
      <p:sp>
        <p:nvSpPr>
          <p:cNvPr id="19" name="Shape 17"/>
          <p:cNvSpPr/>
          <p:nvPr/>
        </p:nvSpPr>
        <p:spPr>
          <a:xfrm>
            <a:off x="548640" y="3794760"/>
            <a:ext cx="11073384" cy="960120"/>
          </a:xfrm>
          <a:prstGeom prst="roundRect">
            <a:avLst>
              <a:gd name="adj" fmla="val 11429"/>
            </a:avLst>
          </a:prstGeom>
          <a:solidFill>
            <a:srgbClr val="152238"/>
          </a:solidFill>
          <a:ln w="12700">
            <a:solidFill>
              <a:srgbClr val="152238"/>
            </a:solidFill>
            <a:prstDash val="solid"/>
          </a:ln>
        </p:spPr>
      </p:sp>
      <p:sp>
        <p:nvSpPr>
          <p:cNvPr id="20" name="Text 18"/>
          <p:cNvSpPr/>
          <p:nvPr/>
        </p:nvSpPr>
        <p:spPr>
          <a:xfrm>
            <a:off x="868680" y="3794760"/>
            <a:ext cx="10424160" cy="960120"/>
          </a:xfrm>
          <a:prstGeom prst="rect">
            <a:avLst/>
          </a:prstGeom>
          <a:noFill/>
          <a:ln/>
        </p:spPr>
        <p:txBody>
          <a:bodyPr wrap="square" lIns="0" tIns="0" rIns="0" bIns="0" rtlCol="0" anchor="ctr"/>
          <a:lstStyle/>
          <a:p>
            <a:pPr indent="0" marL="0">
              <a:lnSpc>
                <a:spcPts val="2200"/>
              </a:lnSpc>
              <a:buNone/>
            </a:pPr>
            <a:r>
              <a:rPr lang="en-US" sz="1600" dirty="0">
                <a:solidFill>
                  <a:srgbClr val="FFFFFF"/>
                </a:solidFill>
                <a:latin typeface="Cambria" pitchFamily="34" charset="0"/>
                <a:ea typeface="Cambria" pitchFamily="34" charset="-122"/>
                <a:cs typeface="Cambria" pitchFamily="34" charset="-120"/>
              </a:rPr>
              <a:t>The honest one-liner: we set out to improve accuracy and failed — but we found a real, repeatable defence against bad labels, and we can explain exactly why it works.</a:t>
            </a:r>
            <a:endParaRPr lang="en-US" sz="1600" dirty="0"/>
          </a:p>
        </p:txBody>
      </p:sp>
      <p:sp>
        <p:nvSpPr>
          <p:cNvPr id="21" name="Text 19"/>
          <p:cNvSpPr/>
          <p:nvPr/>
        </p:nvSpPr>
        <p:spPr>
          <a:xfrm>
            <a:off x="548640" y="4983480"/>
            <a:ext cx="11064240" cy="292608"/>
          </a:xfrm>
          <a:prstGeom prst="rect">
            <a:avLst/>
          </a:prstGeom>
          <a:noFill/>
          <a:ln/>
        </p:spPr>
        <p:txBody>
          <a:bodyPr wrap="square" lIns="0" tIns="0" rIns="0" bIns="0" rtlCol="0" anchor="ctr"/>
          <a:lstStyle/>
          <a:p>
            <a:pPr indent="0" marL="0">
              <a:buNone/>
            </a:pPr>
            <a:r>
              <a:rPr lang="en-US" sz="1250" b="1" dirty="0">
                <a:solidFill>
                  <a:srgbClr val="8A93A6"/>
                </a:solidFill>
                <a:latin typeface="Calibri" pitchFamily="34" charset="0"/>
                <a:ea typeface="Calibri" pitchFamily="34" charset="-122"/>
                <a:cs typeface="Calibri" pitchFamily="34" charset="-120"/>
              </a:rPr>
              <a:t>What this project taught us about doing research</a:t>
            </a:r>
            <a:endParaRPr lang="en-US" sz="1250" dirty="0"/>
          </a:p>
        </p:txBody>
      </p:sp>
      <p:sp>
        <p:nvSpPr>
          <p:cNvPr id="22" name="Shape 20"/>
          <p:cNvSpPr/>
          <p:nvPr/>
        </p:nvSpPr>
        <p:spPr>
          <a:xfrm>
            <a:off x="548640" y="5349240"/>
            <a:ext cx="365760" cy="365760"/>
          </a:xfrm>
          <a:prstGeom prst="ellipse">
            <a:avLst/>
          </a:prstGeom>
          <a:solidFill>
            <a:srgbClr val="3E6FA8"/>
          </a:solidFill>
          <a:ln w="12700">
            <a:solidFill>
              <a:srgbClr val="3E6FA8"/>
            </a:solidFill>
            <a:prstDash val="solid"/>
          </a:ln>
        </p:spPr>
      </p:sp>
      <p:sp>
        <p:nvSpPr>
          <p:cNvPr id="23" name="Text 21"/>
          <p:cNvSpPr/>
          <p:nvPr/>
        </p:nvSpPr>
        <p:spPr>
          <a:xfrm>
            <a:off x="548640" y="5349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2"/>
          <p:cNvSpPr/>
          <p:nvPr/>
        </p:nvSpPr>
        <p:spPr>
          <a:xfrm>
            <a:off x="1042416" y="5330952"/>
            <a:ext cx="5029200" cy="256032"/>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Check the foundation first</a:t>
            </a:r>
            <a:endParaRPr lang="en-US" sz="1300" dirty="0"/>
          </a:p>
        </p:txBody>
      </p:sp>
      <p:sp>
        <p:nvSpPr>
          <p:cNvPr id="25" name="Text 23"/>
          <p:cNvSpPr/>
          <p:nvPr/>
        </p:nvSpPr>
        <p:spPr>
          <a:xfrm>
            <a:off x="1042416" y="5586984"/>
            <a:ext cx="5029200" cy="45720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we should have verified the baseline's advantage in week 1, not week 8</a:t>
            </a:r>
            <a:endParaRPr lang="en-US" sz="1150" dirty="0"/>
          </a:p>
        </p:txBody>
      </p:sp>
      <p:sp>
        <p:nvSpPr>
          <p:cNvPr id="26" name="Shape 24"/>
          <p:cNvSpPr/>
          <p:nvPr/>
        </p:nvSpPr>
        <p:spPr>
          <a:xfrm>
            <a:off x="6263640" y="5349240"/>
            <a:ext cx="365760" cy="365760"/>
          </a:xfrm>
          <a:prstGeom prst="ellipse">
            <a:avLst/>
          </a:prstGeom>
          <a:solidFill>
            <a:srgbClr val="3E6FA8"/>
          </a:solidFill>
          <a:ln w="12700">
            <a:solidFill>
              <a:srgbClr val="3E6FA8"/>
            </a:solidFill>
            <a:prstDash val="solid"/>
          </a:ln>
        </p:spPr>
      </p:sp>
      <p:sp>
        <p:nvSpPr>
          <p:cNvPr id="27" name="Text 25"/>
          <p:cNvSpPr/>
          <p:nvPr/>
        </p:nvSpPr>
        <p:spPr>
          <a:xfrm>
            <a:off x="6263640" y="5349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8" name="Text 26"/>
          <p:cNvSpPr/>
          <p:nvPr/>
        </p:nvSpPr>
        <p:spPr>
          <a:xfrm>
            <a:off x="6757416" y="5330952"/>
            <a:ext cx="5029200" cy="256032"/>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Measure the mechanism, not just the score</a:t>
            </a:r>
            <a:endParaRPr lang="en-US" sz="1300" dirty="0"/>
          </a:p>
        </p:txBody>
      </p:sp>
      <p:sp>
        <p:nvSpPr>
          <p:cNvPr id="29" name="Text 27"/>
          <p:cNvSpPr/>
          <p:nvPr/>
        </p:nvSpPr>
        <p:spPr>
          <a:xfrm>
            <a:off x="6757416" y="5586984"/>
            <a:ext cx="5029200" cy="457200"/>
          </a:xfrm>
          <a:prstGeom prst="rect">
            <a:avLst/>
          </a:prstGeom>
          <a:noFill/>
          <a:ln/>
        </p:spPr>
        <p:txBody>
          <a:bodyPr wrap="square" lIns="0" tIns="0" rIns="0" bIns="0" rtlCol="0" anchor="ctr"/>
          <a:lstStyle/>
          <a:p>
            <a:pPr indent="0" marL="0">
              <a:buNone/>
            </a:pPr>
            <a:r>
              <a:rPr lang="en-US" sz="1150" dirty="0">
                <a:solidFill>
                  <a:srgbClr val="8A93A6"/>
                </a:solidFill>
                <a:latin typeface="Calibri" pitchFamily="34" charset="0"/>
                <a:ea typeface="Calibri" pitchFamily="34" charset="-122"/>
                <a:cs typeface="Calibri" pitchFamily="34" charset="-120"/>
              </a:rPr>
              <a:t>accuracy was flat for six weeks and explained nothing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lIns="0" tIns="0" rIns="0" bIns="0" rtlCol="0" anchor="ctr"/>
          <a:lstStyle/>
          <a:p>
            <a:pPr indent="0" marL="0">
              <a:buNone/>
            </a:pPr>
            <a:r>
              <a:rPr lang="en-US" sz="1200" b="1" spc="200" kern="0" dirty="0">
                <a:solidFill>
                  <a:srgbClr val="12897B"/>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548640" y="603504"/>
            <a:ext cx="11064240" cy="685800"/>
          </a:xfrm>
          <a:prstGeom prst="rect">
            <a:avLst/>
          </a:prstGeom>
          <a:noFill/>
          <a:ln/>
        </p:spPr>
        <p:txBody>
          <a:bodyPr wrap="square" lIns="0" tIns="0" rIns="0" bIns="0" rtlCol="0" anchor="t"/>
          <a:lstStyle/>
          <a:p>
            <a:pPr indent="0" marL="0">
              <a:buNone/>
            </a:pPr>
            <a:r>
              <a:rPr lang="en-US" sz="3200" b="1" dirty="0">
                <a:solidFill>
                  <a:srgbClr val="152238"/>
                </a:solidFill>
                <a:latin typeface="Cambria" pitchFamily="34" charset="0"/>
                <a:ea typeface="Cambria" pitchFamily="34" charset="-122"/>
                <a:cs typeface="Cambria" pitchFamily="34" charset="-120"/>
              </a:rPr>
              <a:t>What we would do next</a:t>
            </a:r>
            <a:endParaRPr lang="en-US" sz="3200" dirty="0"/>
          </a:p>
        </p:txBody>
      </p:sp>
      <p:sp>
        <p:nvSpPr>
          <p:cNvPr id="4" name="Shape 2"/>
          <p:cNvSpPr/>
          <p:nvPr/>
        </p:nvSpPr>
        <p:spPr>
          <a:xfrm>
            <a:off x="548640" y="1481328"/>
            <a:ext cx="5358384" cy="1975104"/>
          </a:xfrm>
          <a:prstGeom prst="roundRect">
            <a:avLst>
              <a:gd name="adj" fmla="val 5556"/>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5" name="Shape 3"/>
          <p:cNvSpPr/>
          <p:nvPr/>
        </p:nvSpPr>
        <p:spPr>
          <a:xfrm>
            <a:off x="822960" y="1719072"/>
            <a:ext cx="457200" cy="457200"/>
          </a:xfrm>
          <a:prstGeom prst="ellipse">
            <a:avLst/>
          </a:prstGeom>
          <a:solidFill>
            <a:srgbClr val="12897B"/>
          </a:solidFill>
          <a:ln w="12700">
            <a:solidFill>
              <a:srgbClr val="12897B"/>
            </a:solidFill>
            <a:prstDash val="solid"/>
          </a:ln>
        </p:spPr>
      </p:sp>
      <p:sp>
        <p:nvSpPr>
          <p:cNvPr id="6" name="Text 4"/>
          <p:cNvSpPr/>
          <p:nvPr/>
        </p:nvSpPr>
        <p:spPr>
          <a:xfrm>
            <a:off x="822960" y="17190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08176" y="1719072"/>
            <a:ext cx="4206240" cy="457200"/>
          </a:xfrm>
          <a:prstGeom prst="rect">
            <a:avLst/>
          </a:prstGeom>
          <a:noFill/>
          <a:ln/>
        </p:spPr>
        <p:txBody>
          <a:bodyPr wrap="square" lIns="0" tIns="0" rIns="0" bIns="0" rtlCol="0" anchor="ctr"/>
          <a:lstStyle/>
          <a:p>
            <a:pPr indent="0" marL="0">
              <a:buNone/>
            </a:pPr>
            <a:r>
              <a:rPr lang="en-US" sz="1650" b="1" dirty="0">
                <a:solidFill>
                  <a:srgbClr val="152238"/>
                </a:solidFill>
                <a:latin typeface="Cambria" pitchFamily="34" charset="0"/>
                <a:ea typeface="Cambria" pitchFamily="34" charset="-122"/>
                <a:cs typeface="Cambria" pitchFamily="34" charset="-120"/>
              </a:rPr>
              <a:t>Finish the dial test</a:t>
            </a:r>
            <a:endParaRPr lang="en-US" sz="1650" dirty="0"/>
          </a:p>
        </p:txBody>
      </p:sp>
      <p:sp>
        <p:nvSpPr>
          <p:cNvPr id="8" name="Text 6"/>
          <p:cNvSpPr/>
          <p:nvPr/>
        </p:nvSpPr>
        <p:spPr>
          <a:xfrm>
            <a:off x="822960" y="2276856"/>
            <a:ext cx="4809744" cy="7772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Run the half-strength version. If halving the setting halves the effect, that is strong proof the mechanism is what we think it is.</a:t>
            </a:r>
            <a:endParaRPr lang="en-US" sz="1250" dirty="0"/>
          </a:p>
        </p:txBody>
      </p:sp>
      <p:sp>
        <p:nvSpPr>
          <p:cNvPr id="9" name="Text 7"/>
          <p:cNvSpPr/>
          <p:nvPr/>
        </p:nvSpPr>
        <p:spPr>
          <a:xfrm>
            <a:off x="822960" y="3054096"/>
            <a:ext cx="4809744" cy="274320"/>
          </a:xfrm>
          <a:prstGeom prst="rect">
            <a:avLst/>
          </a:prstGeom>
          <a:noFill/>
          <a:ln/>
        </p:spPr>
        <p:txBody>
          <a:bodyPr wrap="square" lIns="0" tIns="0" rIns="0" bIns="0" rtlCol="0" anchor="ctr"/>
          <a:lstStyle/>
          <a:p>
            <a:pPr indent="0" marL="0">
              <a:buNone/>
            </a:pPr>
            <a:r>
              <a:rPr lang="en-US" sz="1100" b="1" i="1" dirty="0">
                <a:solidFill>
                  <a:srgbClr val="12897B"/>
                </a:solidFill>
                <a:latin typeface="Calibri" pitchFamily="34" charset="0"/>
                <a:ea typeface="Calibri" pitchFamily="34" charset="-122"/>
                <a:cs typeface="Calibri" pitchFamily="34" charset="-120"/>
              </a:rPr>
              <a:t>≈1 hour of GPU</a:t>
            </a:r>
            <a:endParaRPr lang="en-US" sz="1100" dirty="0"/>
          </a:p>
        </p:txBody>
      </p:sp>
      <p:sp>
        <p:nvSpPr>
          <p:cNvPr id="10" name="Shape 8"/>
          <p:cNvSpPr/>
          <p:nvPr/>
        </p:nvSpPr>
        <p:spPr>
          <a:xfrm>
            <a:off x="6263640" y="1481328"/>
            <a:ext cx="5358384" cy="1975104"/>
          </a:xfrm>
          <a:prstGeom prst="roundRect">
            <a:avLst>
              <a:gd name="adj" fmla="val 5556"/>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1" name="Shape 9"/>
          <p:cNvSpPr/>
          <p:nvPr/>
        </p:nvSpPr>
        <p:spPr>
          <a:xfrm>
            <a:off x="6537960" y="1719072"/>
            <a:ext cx="457200" cy="457200"/>
          </a:xfrm>
          <a:prstGeom prst="ellipse">
            <a:avLst/>
          </a:prstGeom>
          <a:solidFill>
            <a:srgbClr val="3E6FA8"/>
          </a:solidFill>
          <a:ln w="12700">
            <a:solidFill>
              <a:srgbClr val="3E6FA8"/>
            </a:solidFill>
            <a:prstDash val="solid"/>
          </a:ln>
        </p:spPr>
      </p:sp>
      <p:sp>
        <p:nvSpPr>
          <p:cNvPr id="12" name="Text 10"/>
          <p:cNvSpPr/>
          <p:nvPr/>
        </p:nvSpPr>
        <p:spPr>
          <a:xfrm>
            <a:off x="6537960" y="17190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7123176" y="1719072"/>
            <a:ext cx="4206240" cy="457200"/>
          </a:xfrm>
          <a:prstGeom prst="rect">
            <a:avLst/>
          </a:prstGeom>
          <a:noFill/>
          <a:ln/>
        </p:spPr>
        <p:txBody>
          <a:bodyPr wrap="square" lIns="0" tIns="0" rIns="0" bIns="0" rtlCol="0" anchor="ctr"/>
          <a:lstStyle/>
          <a:p>
            <a:pPr indent="0" marL="0">
              <a:buNone/>
            </a:pPr>
            <a:r>
              <a:rPr lang="en-US" sz="1650" b="1" dirty="0">
                <a:solidFill>
                  <a:srgbClr val="152238"/>
                </a:solidFill>
                <a:latin typeface="Cambria" pitchFamily="34" charset="0"/>
                <a:ea typeface="Cambria" pitchFamily="34" charset="-122"/>
                <a:cs typeface="Cambria" pitchFamily="34" charset="-120"/>
              </a:rPr>
              <a:t>Compare against the real competition</a:t>
            </a:r>
            <a:endParaRPr lang="en-US" sz="1650" dirty="0"/>
          </a:p>
        </p:txBody>
      </p:sp>
      <p:sp>
        <p:nvSpPr>
          <p:cNvPr id="14" name="Text 12"/>
          <p:cNvSpPr/>
          <p:nvPr/>
        </p:nvSpPr>
        <p:spPr>
          <a:xfrm>
            <a:off x="6537960" y="2276856"/>
            <a:ext cx="4809744" cy="7772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We beat cross-entropy and AS-Softmax. We have not compared against the methods actually designed for noisy labels.</a:t>
            </a:r>
            <a:endParaRPr lang="en-US" sz="1250" dirty="0"/>
          </a:p>
        </p:txBody>
      </p:sp>
      <p:sp>
        <p:nvSpPr>
          <p:cNvPr id="15" name="Text 13"/>
          <p:cNvSpPr/>
          <p:nvPr/>
        </p:nvSpPr>
        <p:spPr>
          <a:xfrm>
            <a:off x="6537960" y="3054096"/>
            <a:ext cx="4809744" cy="274320"/>
          </a:xfrm>
          <a:prstGeom prst="rect">
            <a:avLst/>
          </a:prstGeom>
          <a:noFill/>
          <a:ln/>
        </p:spPr>
        <p:txBody>
          <a:bodyPr wrap="square" lIns="0" tIns="0" rIns="0" bIns="0" rtlCol="0" anchor="ctr"/>
          <a:lstStyle/>
          <a:p>
            <a:pPr indent="0" marL="0">
              <a:buNone/>
            </a:pPr>
            <a:r>
              <a:rPr lang="en-US" sz="1100" b="1" i="1" dirty="0">
                <a:solidFill>
                  <a:srgbClr val="3E6FA8"/>
                </a:solidFill>
                <a:latin typeface="Calibri" pitchFamily="34" charset="0"/>
                <a:ea typeface="Calibri" pitchFamily="34" charset="-122"/>
                <a:cs typeface="Calibri" pitchFamily="34" charset="-120"/>
              </a:rPr>
              <a:t>the honest next bar</a:t>
            </a:r>
            <a:endParaRPr lang="en-US" sz="1100" dirty="0"/>
          </a:p>
        </p:txBody>
      </p:sp>
      <p:sp>
        <p:nvSpPr>
          <p:cNvPr id="16" name="Shape 14"/>
          <p:cNvSpPr/>
          <p:nvPr/>
        </p:nvSpPr>
        <p:spPr>
          <a:xfrm>
            <a:off x="548640" y="3694176"/>
            <a:ext cx="5358384" cy="1975104"/>
          </a:xfrm>
          <a:prstGeom prst="roundRect">
            <a:avLst>
              <a:gd name="adj" fmla="val 5556"/>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17" name="Shape 15"/>
          <p:cNvSpPr/>
          <p:nvPr/>
        </p:nvSpPr>
        <p:spPr>
          <a:xfrm>
            <a:off x="822960" y="3931920"/>
            <a:ext cx="457200" cy="457200"/>
          </a:xfrm>
          <a:prstGeom prst="ellipse">
            <a:avLst/>
          </a:prstGeom>
          <a:solidFill>
            <a:srgbClr val="C97B1E"/>
          </a:solidFill>
          <a:ln w="12700">
            <a:solidFill>
              <a:srgbClr val="C97B1E"/>
            </a:solidFill>
            <a:prstDash val="solid"/>
          </a:ln>
        </p:spPr>
      </p:sp>
      <p:sp>
        <p:nvSpPr>
          <p:cNvPr id="18" name="Text 16"/>
          <p:cNvSpPr/>
          <p:nvPr/>
        </p:nvSpPr>
        <p:spPr>
          <a:xfrm>
            <a:off x="822960" y="3931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1408176" y="3931920"/>
            <a:ext cx="4206240" cy="457200"/>
          </a:xfrm>
          <a:prstGeom prst="rect">
            <a:avLst/>
          </a:prstGeom>
          <a:noFill/>
          <a:ln/>
        </p:spPr>
        <p:txBody>
          <a:bodyPr wrap="square" lIns="0" tIns="0" rIns="0" bIns="0" rtlCol="0" anchor="ctr"/>
          <a:lstStyle/>
          <a:p>
            <a:pPr indent="0" marL="0">
              <a:buNone/>
            </a:pPr>
            <a:r>
              <a:rPr lang="en-US" sz="1650" b="1" dirty="0">
                <a:solidFill>
                  <a:srgbClr val="152238"/>
                </a:solidFill>
                <a:latin typeface="Cambria" pitchFamily="34" charset="0"/>
                <a:ea typeface="Cambria" pitchFamily="34" charset="-122"/>
                <a:cs typeface="Cambria" pitchFamily="34" charset="-120"/>
              </a:rPr>
              <a:t>Try realistic noise</a:t>
            </a:r>
            <a:endParaRPr lang="en-US" sz="1650" dirty="0"/>
          </a:p>
        </p:txBody>
      </p:sp>
      <p:sp>
        <p:nvSpPr>
          <p:cNvPr id="20" name="Text 18"/>
          <p:cNvSpPr/>
          <p:nvPr/>
        </p:nvSpPr>
        <p:spPr>
          <a:xfrm>
            <a:off x="822960" y="4489704"/>
            <a:ext cx="4809744" cy="7772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Ours is random noise. Real mislabelling is systematic — confusable classes get swapped — and is much harder to detect.</a:t>
            </a:r>
            <a:endParaRPr lang="en-US" sz="1250" dirty="0"/>
          </a:p>
        </p:txBody>
      </p:sp>
      <p:sp>
        <p:nvSpPr>
          <p:cNvPr id="21" name="Text 19"/>
          <p:cNvSpPr/>
          <p:nvPr/>
        </p:nvSpPr>
        <p:spPr>
          <a:xfrm>
            <a:off x="822960" y="5266944"/>
            <a:ext cx="4809744" cy="274320"/>
          </a:xfrm>
          <a:prstGeom prst="rect">
            <a:avLst/>
          </a:prstGeom>
          <a:noFill/>
          <a:ln/>
        </p:spPr>
        <p:txBody>
          <a:bodyPr wrap="square" lIns="0" tIns="0" rIns="0" bIns="0" rtlCol="0" anchor="ctr"/>
          <a:lstStyle/>
          <a:p>
            <a:pPr indent="0" marL="0">
              <a:buNone/>
            </a:pPr>
            <a:r>
              <a:rPr lang="en-US" sz="1100" b="1" i="1" dirty="0">
                <a:solidFill>
                  <a:srgbClr val="C97B1E"/>
                </a:solidFill>
                <a:latin typeface="Calibri" pitchFamily="34" charset="0"/>
                <a:ea typeface="Calibri" pitchFamily="34" charset="-122"/>
                <a:cs typeface="Calibri" pitchFamily="34" charset="-120"/>
              </a:rPr>
              <a:t>harder test</a:t>
            </a:r>
            <a:endParaRPr lang="en-US" sz="1100" dirty="0"/>
          </a:p>
        </p:txBody>
      </p:sp>
      <p:sp>
        <p:nvSpPr>
          <p:cNvPr id="22" name="Shape 20"/>
          <p:cNvSpPr/>
          <p:nvPr/>
        </p:nvSpPr>
        <p:spPr>
          <a:xfrm>
            <a:off x="6263640" y="3694176"/>
            <a:ext cx="5358384" cy="1975104"/>
          </a:xfrm>
          <a:prstGeom prst="roundRect">
            <a:avLst>
              <a:gd name="adj" fmla="val 5556"/>
            </a:avLst>
          </a:prstGeom>
          <a:solidFill>
            <a:srgbClr val="FFFFFF"/>
          </a:solidFill>
          <a:ln w="12700">
            <a:solidFill>
              <a:srgbClr val="D8E0EA"/>
            </a:solidFill>
            <a:prstDash val="solid"/>
          </a:ln>
          <a:effectLst>
            <a:outerShdw sx="100000" sy="100000" kx="0" ky="0" algn="bl" rotWithShape="0" blurRad="127000" dist="25400" dir="5400000">
              <a:srgbClr val="9AA6B8">
                <a:alpha val="28000"/>
              </a:srgbClr>
            </a:outerShdw>
          </a:effectLst>
        </p:spPr>
      </p:sp>
      <p:sp>
        <p:nvSpPr>
          <p:cNvPr id="23" name="Shape 21"/>
          <p:cNvSpPr/>
          <p:nvPr/>
        </p:nvSpPr>
        <p:spPr>
          <a:xfrm>
            <a:off x="6537960" y="3931920"/>
            <a:ext cx="457200" cy="457200"/>
          </a:xfrm>
          <a:prstGeom prst="ellipse">
            <a:avLst/>
          </a:prstGeom>
          <a:solidFill>
            <a:srgbClr val="8A93A6"/>
          </a:solidFill>
          <a:ln w="12700">
            <a:solidFill>
              <a:srgbClr val="8A93A6"/>
            </a:solidFill>
            <a:prstDash val="solid"/>
          </a:ln>
        </p:spPr>
      </p:sp>
      <p:sp>
        <p:nvSpPr>
          <p:cNvPr id="24" name="Text 22"/>
          <p:cNvSpPr/>
          <p:nvPr/>
        </p:nvSpPr>
        <p:spPr>
          <a:xfrm>
            <a:off x="6537960" y="393192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5" name="Text 23"/>
          <p:cNvSpPr/>
          <p:nvPr/>
        </p:nvSpPr>
        <p:spPr>
          <a:xfrm>
            <a:off x="7123176" y="3931920"/>
            <a:ext cx="4206240" cy="457200"/>
          </a:xfrm>
          <a:prstGeom prst="rect">
            <a:avLst/>
          </a:prstGeom>
          <a:noFill/>
          <a:ln/>
        </p:spPr>
        <p:txBody>
          <a:bodyPr wrap="square" lIns="0" tIns="0" rIns="0" bIns="0" rtlCol="0" anchor="ctr"/>
          <a:lstStyle/>
          <a:p>
            <a:pPr indent="0" marL="0">
              <a:buNone/>
            </a:pPr>
            <a:r>
              <a:rPr lang="en-US" sz="1650" b="1" dirty="0">
                <a:solidFill>
                  <a:srgbClr val="152238"/>
                </a:solidFill>
                <a:latin typeface="Cambria" pitchFamily="34" charset="0"/>
                <a:ea typeface="Cambria" pitchFamily="34" charset="-122"/>
                <a:cs typeface="Cambria" pitchFamily="34" charset="-120"/>
              </a:rPr>
              <a:t>Test where margins should shine</a:t>
            </a:r>
            <a:endParaRPr lang="en-US" sz="1650" dirty="0"/>
          </a:p>
        </p:txBody>
      </p:sp>
      <p:sp>
        <p:nvSpPr>
          <p:cNvPr id="26" name="Text 24"/>
          <p:cNvSpPr/>
          <p:nvPr/>
        </p:nvSpPr>
        <p:spPr>
          <a:xfrm>
            <a:off x="6537960" y="4489704"/>
            <a:ext cx="4809744" cy="777240"/>
          </a:xfrm>
          <a:prstGeom prst="rect">
            <a:avLst/>
          </a:prstGeom>
          <a:noFill/>
          <a:ln/>
        </p:spPr>
        <p:txBody>
          <a:bodyPr wrap="square" lIns="0" tIns="0" rIns="0" bIns="0" rtlCol="0" anchor="ctr"/>
          <a:lstStyle/>
          <a:p>
            <a:pPr indent="0" marL="0">
              <a:lnSpc>
                <a:spcPts val="1700"/>
              </a:lnSpc>
              <a:buNone/>
            </a:pPr>
            <a:r>
              <a:rPr lang="en-US" sz="1250" dirty="0">
                <a:solidFill>
                  <a:srgbClr val="44506A"/>
                </a:solidFill>
                <a:latin typeface="Calibri" pitchFamily="34" charset="0"/>
                <a:ea typeface="Calibri" pitchFamily="34" charset="-122"/>
                <a:cs typeface="Calibri" pitchFamily="34" charset="-120"/>
              </a:rPr>
              <a:t>Thousands of classes, or heavily imbalanced data — the regimes where skipping easy answers actually matters.</a:t>
            </a:r>
            <a:endParaRPr lang="en-US" sz="1250" dirty="0"/>
          </a:p>
        </p:txBody>
      </p:sp>
      <p:sp>
        <p:nvSpPr>
          <p:cNvPr id="27" name="Text 25"/>
          <p:cNvSpPr/>
          <p:nvPr/>
        </p:nvSpPr>
        <p:spPr>
          <a:xfrm>
            <a:off x="6537960" y="5266944"/>
            <a:ext cx="4809744" cy="274320"/>
          </a:xfrm>
          <a:prstGeom prst="rect">
            <a:avLst/>
          </a:prstGeom>
          <a:noFill/>
          <a:ln/>
        </p:spPr>
        <p:txBody>
          <a:bodyPr wrap="square" lIns="0" tIns="0" rIns="0" bIns="0" rtlCol="0" anchor="ctr"/>
          <a:lstStyle/>
          <a:p>
            <a:pPr indent="0" marL="0">
              <a:buNone/>
            </a:pPr>
            <a:r>
              <a:rPr lang="en-US" sz="1100" b="1" i="1" dirty="0">
                <a:solidFill>
                  <a:srgbClr val="8A93A6"/>
                </a:solidFill>
                <a:latin typeface="Calibri" pitchFamily="34" charset="0"/>
                <a:ea typeface="Calibri" pitchFamily="34" charset="-122"/>
                <a:cs typeface="Calibri" pitchFamily="34" charset="-120"/>
              </a:rPr>
              <a:t>beyond our GPU</a:t>
            </a:r>
            <a:endParaRPr lang="en-US" sz="1100" dirty="0"/>
          </a:p>
        </p:txBody>
      </p:sp>
      <p:sp>
        <p:nvSpPr>
          <p:cNvPr id="28" name="Text 26"/>
          <p:cNvSpPr/>
          <p:nvPr/>
        </p:nvSpPr>
        <p:spPr>
          <a:xfrm>
            <a:off x="548640" y="5943600"/>
            <a:ext cx="11064240" cy="310896"/>
          </a:xfrm>
          <a:prstGeom prst="rect">
            <a:avLst/>
          </a:prstGeom>
          <a:noFill/>
          <a:ln/>
        </p:spPr>
        <p:txBody>
          <a:bodyPr wrap="square" lIns="0" tIns="0" rIns="0" bIns="0" rtlCol="0" anchor="ctr"/>
          <a:lstStyle/>
          <a:p>
            <a:pPr algn="ctr" indent="0" marL="0">
              <a:buNone/>
            </a:pPr>
            <a:r>
              <a:rPr lang="en-US" sz="1250" i="1" dirty="0">
                <a:solidFill>
                  <a:srgbClr val="8A93A6"/>
                </a:solidFill>
                <a:latin typeface="Calibri" pitchFamily="34" charset="0"/>
                <a:ea typeface="Calibri" pitchFamily="34" charset="-122"/>
                <a:cs typeface="Calibri" pitchFamily="34" charset="-120"/>
              </a:rPr>
              <a:t>Everything is reproducible: one command per experiment, results written as machine-readable records.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238"/>
        </a:solidFill>
      </p:bgPr>
    </p:bg>
    <p:spTree>
      <p:nvGrpSpPr>
        <p:cNvPr id="1" name=""/>
        <p:cNvGrpSpPr/>
        <p:nvPr/>
      </p:nvGrpSpPr>
      <p:grpSpPr>
        <a:xfrm>
          <a:off x="0" y="0"/>
          <a:ext cx="0" cy="0"/>
          <a:chOff x="0" y="0"/>
          <a:chExt cx="0" cy="0"/>
        </a:xfrm>
      </p:grpSpPr>
      <p:sp>
        <p:nvSpPr>
          <p:cNvPr id="2" name="Text 0"/>
          <p:cNvSpPr/>
          <p:nvPr/>
        </p:nvSpPr>
        <p:spPr>
          <a:xfrm>
            <a:off x="777240" y="1417320"/>
            <a:ext cx="1060704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3" name="Text 1"/>
          <p:cNvSpPr/>
          <p:nvPr/>
        </p:nvSpPr>
        <p:spPr>
          <a:xfrm>
            <a:off x="777240" y="2212848"/>
            <a:ext cx="10607040" cy="365760"/>
          </a:xfrm>
          <a:prstGeom prst="rect">
            <a:avLst/>
          </a:prstGeom>
          <a:noFill/>
          <a:ln/>
        </p:spPr>
        <p:txBody>
          <a:bodyPr wrap="square" lIns="0" tIns="0" rIns="0" bIns="0" rtlCol="0" anchor="ctr"/>
          <a:lstStyle/>
          <a:p>
            <a:pPr indent="0" marL="0">
              <a:buNone/>
            </a:pPr>
            <a:r>
              <a:rPr lang="en-US" sz="1600" dirty="0">
                <a:solidFill>
                  <a:srgbClr val="A9B6CC"/>
                </a:solidFill>
                <a:latin typeface="Calibri" pitchFamily="34" charset="0"/>
                <a:ea typeface="Calibri" pitchFamily="34" charset="-122"/>
                <a:cs typeface="Calibri" pitchFamily="34" charset="-120"/>
              </a:rPr>
              <a:t>Questions welcome — including the sceptical ones.</a:t>
            </a:r>
            <a:endParaRPr lang="en-US" sz="1600" dirty="0"/>
          </a:p>
        </p:txBody>
      </p:sp>
      <p:sp>
        <p:nvSpPr>
          <p:cNvPr id="4" name="Shape 2"/>
          <p:cNvSpPr/>
          <p:nvPr/>
        </p:nvSpPr>
        <p:spPr>
          <a:xfrm>
            <a:off x="777240" y="3063240"/>
            <a:ext cx="10607040" cy="804672"/>
          </a:xfrm>
          <a:prstGeom prst="roundRect">
            <a:avLst>
              <a:gd name="adj" fmla="val 11364"/>
            </a:avLst>
          </a:prstGeom>
          <a:solidFill>
            <a:srgbClr val="24354F"/>
          </a:solidFill>
          <a:ln w="12700">
            <a:solidFill>
              <a:srgbClr val="35496B"/>
            </a:solidFill>
            <a:prstDash val="solid"/>
          </a:ln>
        </p:spPr>
      </p:sp>
      <p:sp>
        <p:nvSpPr>
          <p:cNvPr id="5" name="Shape 3"/>
          <p:cNvSpPr/>
          <p:nvPr/>
        </p:nvSpPr>
        <p:spPr>
          <a:xfrm>
            <a:off x="1051560" y="3246120"/>
            <a:ext cx="438912" cy="438912"/>
          </a:xfrm>
          <a:prstGeom prst="ellipse">
            <a:avLst/>
          </a:prstGeom>
          <a:solidFill>
            <a:srgbClr val="6FD8C9"/>
          </a:solidFill>
          <a:ln w="12700">
            <a:solidFill>
              <a:srgbClr val="6FD8C9"/>
            </a:solidFill>
            <a:prstDash val="solid"/>
          </a:ln>
        </p:spPr>
      </p:sp>
      <p:sp>
        <p:nvSpPr>
          <p:cNvPr id="6" name="Text 4"/>
          <p:cNvSpPr/>
          <p:nvPr/>
        </p:nvSpPr>
        <p:spPr>
          <a:xfrm>
            <a:off x="1051560" y="3246120"/>
            <a:ext cx="438912" cy="438912"/>
          </a:xfrm>
          <a:prstGeom prst="rect">
            <a:avLst/>
          </a:prstGeom>
          <a:noFill/>
          <a:ln/>
        </p:spPr>
        <p:txBody>
          <a:bodyPr wrap="square" lIns="0" tIns="0" rIns="0" bIns="0" rtlCol="0" anchor="ctr"/>
          <a:lstStyle/>
          <a:p>
            <a:pPr algn="ctr" indent="0" marL="0">
              <a:buNone/>
            </a:pPr>
            <a:r>
              <a:rPr lang="en-US" sz="1700" b="1" dirty="0">
                <a:solidFill>
                  <a:srgbClr val="152238"/>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45920" y="3163824"/>
            <a:ext cx="95097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margin can be negative.</a:t>
            </a:r>
            <a:endParaRPr lang="en-US" sz="1500" dirty="0"/>
          </a:p>
        </p:txBody>
      </p:sp>
      <p:sp>
        <p:nvSpPr>
          <p:cNvPr id="8" name="Text 6"/>
          <p:cNvSpPr/>
          <p:nvPr/>
        </p:nvSpPr>
        <p:spPr>
          <a:xfrm>
            <a:off x="1645920" y="3474720"/>
            <a:ext cx="9509760" cy="292608"/>
          </a:xfrm>
          <a:prstGeom prst="rect">
            <a:avLst/>
          </a:prstGeom>
          <a:noFill/>
          <a:ln/>
        </p:spPr>
        <p:txBody>
          <a:bodyPr wrap="square" lIns="0" tIns="0" rIns="0" bIns="0" rtlCol="0" anchor="ctr"/>
          <a:lstStyle/>
          <a:p>
            <a:pPr indent="0" marL="0">
              <a:buNone/>
            </a:pPr>
            <a:r>
              <a:rPr lang="en-US" sz="1200" dirty="0">
                <a:solidFill>
                  <a:srgbClr val="A9B6CC"/>
                </a:solidFill>
                <a:latin typeface="Calibri" pitchFamily="34" charset="0"/>
                <a:ea typeface="Calibri" pitchFamily="34" charset="-122"/>
                <a:cs typeface="Calibri" pitchFamily="34" charset="-120"/>
              </a:rPr>
              <a:t>and if you let it be, discarding suspicious training examples becomes a special case of a margin</a:t>
            </a:r>
            <a:endParaRPr lang="en-US" sz="1200" dirty="0"/>
          </a:p>
        </p:txBody>
      </p:sp>
      <p:sp>
        <p:nvSpPr>
          <p:cNvPr id="9" name="Shape 7"/>
          <p:cNvSpPr/>
          <p:nvPr/>
        </p:nvSpPr>
        <p:spPr>
          <a:xfrm>
            <a:off x="777240" y="3995928"/>
            <a:ext cx="10607040" cy="804672"/>
          </a:xfrm>
          <a:prstGeom prst="roundRect">
            <a:avLst>
              <a:gd name="adj" fmla="val 11364"/>
            </a:avLst>
          </a:prstGeom>
          <a:solidFill>
            <a:srgbClr val="24354F"/>
          </a:solidFill>
          <a:ln w="12700">
            <a:solidFill>
              <a:srgbClr val="35496B"/>
            </a:solidFill>
            <a:prstDash val="solid"/>
          </a:ln>
        </p:spPr>
      </p:sp>
      <p:sp>
        <p:nvSpPr>
          <p:cNvPr id="10" name="Shape 8"/>
          <p:cNvSpPr/>
          <p:nvPr/>
        </p:nvSpPr>
        <p:spPr>
          <a:xfrm>
            <a:off x="1051560" y="4178808"/>
            <a:ext cx="438912" cy="438912"/>
          </a:xfrm>
          <a:prstGeom prst="ellipse">
            <a:avLst/>
          </a:prstGeom>
          <a:solidFill>
            <a:srgbClr val="6FD8C9"/>
          </a:solidFill>
          <a:ln w="12700">
            <a:solidFill>
              <a:srgbClr val="6FD8C9"/>
            </a:solidFill>
            <a:prstDash val="solid"/>
          </a:ln>
        </p:spPr>
      </p:sp>
      <p:sp>
        <p:nvSpPr>
          <p:cNvPr id="11" name="Text 9"/>
          <p:cNvSpPr/>
          <p:nvPr/>
        </p:nvSpPr>
        <p:spPr>
          <a:xfrm>
            <a:off x="1051560" y="4178808"/>
            <a:ext cx="438912" cy="438912"/>
          </a:xfrm>
          <a:prstGeom prst="rect">
            <a:avLst/>
          </a:prstGeom>
          <a:noFill/>
          <a:ln/>
        </p:spPr>
        <p:txBody>
          <a:bodyPr wrap="square" lIns="0" tIns="0" rIns="0" bIns="0" rtlCol="0" anchor="ctr"/>
          <a:lstStyle/>
          <a:p>
            <a:pPr algn="ctr" indent="0" marL="0">
              <a:buNone/>
            </a:pPr>
            <a:r>
              <a:rPr lang="en-US" sz="1700" b="1" dirty="0">
                <a:solidFill>
                  <a:srgbClr val="152238"/>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645920" y="4096512"/>
            <a:ext cx="95097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It cut memorisation of wrong labels ~4×.</a:t>
            </a:r>
            <a:endParaRPr lang="en-US" sz="1500" dirty="0"/>
          </a:p>
        </p:txBody>
      </p:sp>
      <p:sp>
        <p:nvSpPr>
          <p:cNvPr id="13" name="Text 11"/>
          <p:cNvSpPr/>
          <p:nvPr/>
        </p:nvSpPr>
        <p:spPr>
          <a:xfrm>
            <a:off x="1645920" y="4407408"/>
            <a:ext cx="9509760" cy="292608"/>
          </a:xfrm>
          <a:prstGeom prst="rect">
            <a:avLst/>
          </a:prstGeom>
          <a:noFill/>
          <a:ln/>
        </p:spPr>
        <p:txBody>
          <a:bodyPr wrap="square" lIns="0" tIns="0" rIns="0" bIns="0" rtlCol="0" anchor="ctr"/>
          <a:lstStyle/>
          <a:p>
            <a:pPr indent="0" marL="0">
              <a:buNone/>
            </a:pPr>
            <a:r>
              <a:rPr lang="en-US" sz="1200" dirty="0">
                <a:solidFill>
                  <a:srgbClr val="A9B6CC"/>
                </a:solidFill>
                <a:latin typeface="Calibri" pitchFamily="34" charset="0"/>
                <a:ea typeface="Calibri" pitchFamily="34" charset="-122"/>
                <a:cs typeface="Calibri" pitchFamily="34" charset="-120"/>
              </a:rPr>
              <a:t>replicated on both runs, with the mechanism understood</a:t>
            </a:r>
            <a:endParaRPr lang="en-US" sz="1200" dirty="0"/>
          </a:p>
        </p:txBody>
      </p:sp>
      <p:sp>
        <p:nvSpPr>
          <p:cNvPr id="14" name="Shape 12"/>
          <p:cNvSpPr/>
          <p:nvPr/>
        </p:nvSpPr>
        <p:spPr>
          <a:xfrm>
            <a:off x="777240" y="4928616"/>
            <a:ext cx="10607040" cy="804672"/>
          </a:xfrm>
          <a:prstGeom prst="roundRect">
            <a:avLst>
              <a:gd name="adj" fmla="val 11364"/>
            </a:avLst>
          </a:prstGeom>
          <a:solidFill>
            <a:srgbClr val="24354F"/>
          </a:solidFill>
          <a:ln w="12700">
            <a:solidFill>
              <a:srgbClr val="35496B"/>
            </a:solidFill>
            <a:prstDash val="solid"/>
          </a:ln>
        </p:spPr>
      </p:sp>
      <p:sp>
        <p:nvSpPr>
          <p:cNvPr id="15" name="Shape 13"/>
          <p:cNvSpPr/>
          <p:nvPr/>
        </p:nvSpPr>
        <p:spPr>
          <a:xfrm>
            <a:off x="1051560" y="5111496"/>
            <a:ext cx="438912" cy="438912"/>
          </a:xfrm>
          <a:prstGeom prst="ellipse">
            <a:avLst/>
          </a:prstGeom>
          <a:solidFill>
            <a:srgbClr val="FF8A8F"/>
          </a:solidFill>
          <a:ln w="12700">
            <a:solidFill>
              <a:srgbClr val="FF8A8F"/>
            </a:solidFill>
            <a:prstDash val="solid"/>
          </a:ln>
        </p:spPr>
      </p:sp>
      <p:sp>
        <p:nvSpPr>
          <p:cNvPr id="16" name="Text 14"/>
          <p:cNvSpPr/>
          <p:nvPr/>
        </p:nvSpPr>
        <p:spPr>
          <a:xfrm>
            <a:off x="1051560" y="5111496"/>
            <a:ext cx="438912" cy="438912"/>
          </a:xfrm>
          <a:prstGeom prst="rect">
            <a:avLst/>
          </a:prstGeom>
          <a:noFill/>
          <a:ln/>
        </p:spPr>
        <p:txBody>
          <a:bodyPr wrap="square" lIns="0" tIns="0" rIns="0" bIns="0" rtlCol="0" anchor="ctr"/>
          <a:lstStyle/>
          <a:p>
            <a:pPr algn="ctr" indent="0" marL="0">
              <a:buNone/>
            </a:pPr>
            <a:r>
              <a:rPr lang="en-US" sz="1700" b="1" dirty="0">
                <a:solidFill>
                  <a:srgbClr val="152238"/>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645920" y="5029200"/>
            <a:ext cx="95097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It did not improve peak accuracy.</a:t>
            </a:r>
            <a:endParaRPr lang="en-US" sz="1500" dirty="0"/>
          </a:p>
        </p:txBody>
      </p:sp>
      <p:sp>
        <p:nvSpPr>
          <p:cNvPr id="18" name="Text 16"/>
          <p:cNvSpPr/>
          <p:nvPr/>
        </p:nvSpPr>
        <p:spPr>
          <a:xfrm>
            <a:off x="1645920" y="5340096"/>
            <a:ext cx="9509760" cy="292608"/>
          </a:xfrm>
          <a:prstGeom prst="rect">
            <a:avLst/>
          </a:prstGeom>
          <a:noFill/>
          <a:ln/>
        </p:spPr>
        <p:txBody>
          <a:bodyPr wrap="square" lIns="0" tIns="0" rIns="0" bIns="0" rtlCol="0" anchor="ctr"/>
          <a:lstStyle/>
          <a:p>
            <a:pPr indent="0" marL="0">
              <a:buNone/>
            </a:pPr>
            <a:r>
              <a:rPr lang="en-US" sz="1200" dirty="0">
                <a:solidFill>
                  <a:srgbClr val="A9B6CC"/>
                </a:solidFill>
                <a:latin typeface="Calibri" pitchFamily="34" charset="0"/>
                <a:ea typeface="Calibri" pitchFamily="34" charset="-122"/>
                <a:cs typeface="Calibri" pitchFamily="34" charset="-120"/>
              </a:rPr>
              <a:t>our original hypothesis was wrong, and we report it that way</a:t>
            </a:r>
            <a:endParaRPr lang="en-US" sz="1200" dirty="0"/>
          </a:p>
        </p:txBody>
      </p:sp>
      <p:sp>
        <p:nvSpPr>
          <p:cNvPr id="19" name="Text 17"/>
          <p:cNvSpPr/>
          <p:nvPr/>
        </p:nvSpPr>
        <p:spPr>
          <a:xfrm>
            <a:off x="777240" y="6080760"/>
            <a:ext cx="10607040" cy="292608"/>
          </a:xfrm>
          <a:prstGeom prst="rect">
            <a:avLst/>
          </a:prstGeom>
          <a:noFill/>
          <a:ln/>
        </p:spPr>
        <p:txBody>
          <a:bodyPr wrap="square" lIns="0" tIns="0" rIns="0" bIns="0" rtlCol="0" anchor="ctr"/>
          <a:lstStyle/>
          <a:p>
            <a:pPr indent="0" marL="0">
              <a:buNone/>
            </a:pPr>
            <a:r>
              <a:rPr lang="en-US" sz="1200" dirty="0">
                <a:solidFill>
                  <a:srgbClr val="7C8AA5"/>
                </a:solidFill>
                <a:latin typeface="Calibri" pitchFamily="34" charset="0"/>
                <a:ea typeface="Calibri" pitchFamily="34" charset="-122"/>
                <a:cs typeface="Calibri" pitchFamily="34" charset="-120"/>
              </a:rPr>
              <a:t>Code, full report and every result table:   FINAL_REPORT.md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GAM-Softmax</dc:title>
  <dc:subject>PptxGenJS Presentation</dc:subject>
  <dc:creator>Ashish Gupta</dc:creator>
  <cp:lastModifiedBy>Ashish Gupta</cp:lastModifiedBy>
  <cp:revision>1</cp:revision>
  <dcterms:created xsi:type="dcterms:W3CDTF">2026-07-31T14:54:00Z</dcterms:created>
  <dcterms:modified xsi:type="dcterms:W3CDTF">2026-07-31T14:54:00Z</dcterms:modified>
</cp:coreProperties>
</file>