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F416-9C5E-89CE-C05F-1B3BE0675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7102EF-9B59-BDEB-C1DA-8D9E7042D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A3FE62-67F7-97DB-9CC0-F1C900CE7567}"/>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5" name="Footer Placeholder 4">
            <a:extLst>
              <a:ext uri="{FF2B5EF4-FFF2-40B4-BE49-F238E27FC236}">
                <a16:creationId xmlns:a16="http://schemas.microsoft.com/office/drawing/2014/main" id="{4520E499-B018-B20A-7914-BA42CFAA3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EC815-2FA7-70D7-BCC1-2175B1FC2539}"/>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3875342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D9F2F-D41D-5E3B-9C08-99DDA42DF2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782D2F-0CC4-7CCD-3CAC-55D18E10DD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D33451-CE31-A9F8-F4CA-C01311DEA55C}"/>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5" name="Footer Placeholder 4">
            <a:extLst>
              <a:ext uri="{FF2B5EF4-FFF2-40B4-BE49-F238E27FC236}">
                <a16:creationId xmlns:a16="http://schemas.microsoft.com/office/drawing/2014/main" id="{8C7FFA03-D48B-D067-A878-EB4CF1779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9EFD86-7B5E-D805-232C-357E69AB4662}"/>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245778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3143A-E63E-AA81-1713-A4DFFB8516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969C0F-5488-CB0D-B727-CF754A72E2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C89393-0917-6F86-3E54-C78969EB3DAA}"/>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5" name="Footer Placeholder 4">
            <a:extLst>
              <a:ext uri="{FF2B5EF4-FFF2-40B4-BE49-F238E27FC236}">
                <a16:creationId xmlns:a16="http://schemas.microsoft.com/office/drawing/2014/main" id="{9A4D1A9D-AB2D-E2C5-8415-C0D3C8EC0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7392D-6CC8-A86E-5451-43C6B2B3E6BF}"/>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772174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27F97-D6EC-2881-B4A5-65564D328B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EE9A6F-F148-3337-ECF2-489342C717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96E7B3-759D-75FF-9DD8-C5D855B72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524F7F-A345-AAAA-633D-9EFD768484E5}"/>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6" name="Footer Placeholder 5">
            <a:extLst>
              <a:ext uri="{FF2B5EF4-FFF2-40B4-BE49-F238E27FC236}">
                <a16:creationId xmlns:a16="http://schemas.microsoft.com/office/drawing/2014/main" id="{393565F0-BE7A-9689-04B6-6BC9D4E7E7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CFE932-8C44-C8C9-C1A5-8BFFACC5AE02}"/>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2940009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ACF59-2F29-41EF-B9BF-C9766697F6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E516B8-8E44-8E3A-1904-589E6E5D07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BC7C8B-7E64-297A-40A7-489307CB9F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7AEE09-165C-2CB2-B6B2-2125C51D5B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6A7C41-A6C5-48E1-207B-374B2E3FAC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E939CF-25B0-61B1-D318-3AECF851B302}"/>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8" name="Footer Placeholder 7">
            <a:extLst>
              <a:ext uri="{FF2B5EF4-FFF2-40B4-BE49-F238E27FC236}">
                <a16:creationId xmlns:a16="http://schemas.microsoft.com/office/drawing/2014/main" id="{F0215410-371C-C7AC-E162-6CBB33C83A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B104AB-1B6A-3901-87A4-42F503782B49}"/>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2905560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FB17A-004E-E59D-2922-75DB7ACA0A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904F1D-F3B3-8488-1E4E-896779F612C6}"/>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4" name="Footer Placeholder 3">
            <a:extLst>
              <a:ext uri="{FF2B5EF4-FFF2-40B4-BE49-F238E27FC236}">
                <a16:creationId xmlns:a16="http://schemas.microsoft.com/office/drawing/2014/main" id="{9E8C2A8E-E126-ACEE-BB04-4DB68B02DF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9B9D97-DE87-CC38-7ED0-8BC7BF44674F}"/>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3847663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DD965C-56E8-3524-AEB5-56B25D277426}"/>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3" name="Footer Placeholder 2">
            <a:extLst>
              <a:ext uri="{FF2B5EF4-FFF2-40B4-BE49-F238E27FC236}">
                <a16:creationId xmlns:a16="http://schemas.microsoft.com/office/drawing/2014/main" id="{BF244B13-3DE9-2F7B-9FE9-793273F058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D584D1-0E80-7C00-7558-B4B02976721A}"/>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194218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37914-1B73-9380-0834-0C4EE7197F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53DDCA-FCC0-F704-84D0-1B6BFBB629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EEBA09-5263-095A-523C-006A77B5E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5E145A-65B3-A4FB-2854-49162B9A8C9A}"/>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6" name="Footer Placeholder 5">
            <a:extLst>
              <a:ext uri="{FF2B5EF4-FFF2-40B4-BE49-F238E27FC236}">
                <a16:creationId xmlns:a16="http://schemas.microsoft.com/office/drawing/2014/main" id="{8795DF5E-D7B2-8BA3-A0A9-DE373708F8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15B00D-DF6D-6145-981B-9F8DB6AB5079}"/>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3364448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D712-D106-DC7B-18CF-2A22BA6D70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CD4F1A-B996-7E29-31DF-96265F2E36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6EA8E7-6BF1-DB6E-36AC-D73AA6236B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C1D615-7DE9-74FC-4F4D-1B4C8D556E7D}"/>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6" name="Footer Placeholder 5">
            <a:extLst>
              <a:ext uri="{FF2B5EF4-FFF2-40B4-BE49-F238E27FC236}">
                <a16:creationId xmlns:a16="http://schemas.microsoft.com/office/drawing/2014/main" id="{477BDAD6-74A9-F26F-66F8-30610C836E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D9068E-2158-80DA-0101-E1055E205885}"/>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2089100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6AF43-64DC-6F17-E6A4-F2ABEDB4C6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88E3B6-9561-8D7B-2075-D86ECEFE00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C674AE-6953-4413-6B10-A4C8FBD89B91}"/>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5" name="Footer Placeholder 4">
            <a:extLst>
              <a:ext uri="{FF2B5EF4-FFF2-40B4-BE49-F238E27FC236}">
                <a16:creationId xmlns:a16="http://schemas.microsoft.com/office/drawing/2014/main" id="{7CF5EA38-2F63-8EA5-7131-0D32FE1BBF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434629-93EC-9224-6358-6A8BC29EDB66}"/>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555138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2FB0B5-7377-F438-92AA-216DCB8621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1CAFB3-28D8-EBA7-FCFE-C5C53ED1F5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C5EB3-8EE3-C598-B20B-D65DE553BC69}"/>
              </a:ext>
            </a:extLst>
          </p:cNvPr>
          <p:cNvSpPr>
            <a:spLocks noGrp="1"/>
          </p:cNvSpPr>
          <p:nvPr>
            <p:ph type="dt" sz="half" idx="10"/>
          </p:nvPr>
        </p:nvSpPr>
        <p:spPr/>
        <p:txBody>
          <a:bodyPr/>
          <a:lstStyle/>
          <a:p>
            <a:fld id="{B0B81573-1517-4002-B71C-A4A0E537D6BE}" type="datetimeFigureOut">
              <a:rPr lang="en-US" smtClean="0"/>
              <a:t>8/4/2026</a:t>
            </a:fld>
            <a:endParaRPr lang="en-US"/>
          </a:p>
        </p:txBody>
      </p:sp>
      <p:sp>
        <p:nvSpPr>
          <p:cNvPr id="5" name="Footer Placeholder 4">
            <a:extLst>
              <a:ext uri="{FF2B5EF4-FFF2-40B4-BE49-F238E27FC236}">
                <a16:creationId xmlns:a16="http://schemas.microsoft.com/office/drawing/2014/main" id="{EF44B2A0-0E79-7F2D-B789-F754FF5212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8857A-AF85-CC51-4F4E-A9391A83A7BD}"/>
              </a:ext>
            </a:extLst>
          </p:cNvPr>
          <p:cNvSpPr>
            <a:spLocks noGrp="1"/>
          </p:cNvSpPr>
          <p:nvPr>
            <p:ph type="sldNum" sz="quarter" idx="12"/>
          </p:nvPr>
        </p:nvSpPr>
        <p:spPr/>
        <p:txBody>
          <a:bodyPr/>
          <a:lstStyle/>
          <a:p>
            <a:fld id="{D6ECDB03-7EA6-46BE-8C3B-771C055D3A55}" type="slidenum">
              <a:rPr lang="en-US" smtClean="0"/>
              <a:t>‹#›</a:t>
            </a:fld>
            <a:endParaRPr lang="en-US"/>
          </a:p>
        </p:txBody>
      </p:sp>
    </p:spTree>
    <p:extLst>
      <p:ext uri="{BB962C8B-B14F-4D97-AF65-F5344CB8AC3E}">
        <p14:creationId xmlns:p14="http://schemas.microsoft.com/office/powerpoint/2010/main" val="176792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F9A214-3571-240E-F62B-AD5E1EF209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0972D8-E4FE-A0E3-CA0B-BCE9D8C67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BB9FA5-DF30-FE6C-91B2-28A3A74149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B81573-1517-4002-B71C-A4A0E537D6BE}" type="datetimeFigureOut">
              <a:rPr lang="en-US" smtClean="0"/>
              <a:t>8/4/2026</a:t>
            </a:fld>
            <a:endParaRPr lang="en-US"/>
          </a:p>
        </p:txBody>
      </p:sp>
      <p:sp>
        <p:nvSpPr>
          <p:cNvPr id="5" name="Footer Placeholder 4">
            <a:extLst>
              <a:ext uri="{FF2B5EF4-FFF2-40B4-BE49-F238E27FC236}">
                <a16:creationId xmlns:a16="http://schemas.microsoft.com/office/drawing/2014/main" id="{4D8AB7AB-0C11-593A-BFDC-57D7DE9ED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0A0E3C-E5F2-C843-9DEC-1C6D89FA74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ECDB03-7EA6-46BE-8C3B-771C055D3A55}" type="slidenum">
              <a:rPr lang="en-US" smtClean="0"/>
              <a:t>‹#›</a:t>
            </a:fld>
            <a:endParaRPr lang="en-US"/>
          </a:p>
        </p:txBody>
      </p:sp>
    </p:spTree>
    <p:extLst>
      <p:ext uri="{BB962C8B-B14F-4D97-AF65-F5344CB8AC3E}">
        <p14:creationId xmlns:p14="http://schemas.microsoft.com/office/powerpoint/2010/main" val="1392113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9C604-2010-A959-ED26-1E34899251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6407791-CBD1-649B-C512-F8EF8F504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3434" cy="6858000"/>
          </a:xfrm>
          <a:prstGeom prst="rect">
            <a:avLst/>
          </a:prstGeom>
        </p:spPr>
      </p:pic>
    </p:spTree>
    <p:extLst>
      <p:ext uri="{BB962C8B-B14F-4D97-AF65-F5344CB8AC3E}">
        <p14:creationId xmlns:p14="http://schemas.microsoft.com/office/powerpoint/2010/main" val="3357262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5C30F9-E74B-3C3A-8467-2F6D80F78E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3656017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3464F-062A-FCE5-50D9-ACC067F6EA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BAD7CB7-ECAB-AB43-6509-CC010ECA85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3689911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01344-8BBD-DFD2-DE88-6D229921EB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2A90FC8-6953-ACE6-5C34-D4B1BFBEC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3434" cy="6858000"/>
          </a:xfrm>
          <a:prstGeom prst="rect">
            <a:avLst/>
          </a:prstGeom>
        </p:spPr>
      </p:pic>
    </p:spTree>
    <p:extLst>
      <p:ext uri="{BB962C8B-B14F-4D97-AF65-F5344CB8AC3E}">
        <p14:creationId xmlns:p14="http://schemas.microsoft.com/office/powerpoint/2010/main" val="2419450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582B5-1210-C5DE-ACC5-C80500F31DB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814A2B-30C8-2AE9-DD3B-C7B3D4DEA7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1434514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DB1F3-AF26-9CAB-6728-9658483976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0CE9504-436E-4D25-D36C-7C38CA6C6F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3940003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219CD-1E72-CDC1-F5E6-F1CB6948ED4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301338-22BE-EAAB-3B48-F43B4A5A0D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
        <p:nvSpPr>
          <p:cNvPr id="4" name="Rectangle 3">
            <a:extLst>
              <a:ext uri="{FF2B5EF4-FFF2-40B4-BE49-F238E27FC236}">
                <a16:creationId xmlns:a16="http://schemas.microsoft.com/office/drawing/2014/main" id="{83F668E6-8087-BB9C-23A9-699D192A5EA4}"/>
              </a:ext>
            </a:extLst>
          </p:cNvPr>
          <p:cNvSpPr/>
          <p:nvPr/>
        </p:nvSpPr>
        <p:spPr>
          <a:xfrm>
            <a:off x="747252" y="560437"/>
            <a:ext cx="10746658" cy="619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Cross-Entropy measures how far the model's prediction is from the correct answer. During training, it tries to increase the probability of the correct class and decrease the probabilities of all the incorrect classes.</a:t>
            </a:r>
          </a:p>
        </p:txBody>
      </p:sp>
    </p:spTree>
    <p:extLst>
      <p:ext uri="{BB962C8B-B14F-4D97-AF65-F5344CB8AC3E}">
        <p14:creationId xmlns:p14="http://schemas.microsoft.com/office/powerpoint/2010/main" val="2995077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7AB58-D529-0356-3A31-9DD28EF238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BCDA3E0-E39E-B95A-C825-0FC6ABD6B0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2727761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D4A6-DCAF-A258-1570-02BB379BA05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98750C-43BB-2094-E5DF-7AFD9F7A9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1808735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ACBAC-57B7-6EBC-F64B-059A5AA72E6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1737545-97B1-1DF1-A7A0-DBFA0AEA59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1134272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6B5-7348-F564-9DD4-1124EEEB6F6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63517AE-721D-CF9B-CFD0-23C77F1B2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1990402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4FB83-F51A-B9CF-E753-1F08680FDC2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CB3F41B-BE55-BDB9-D0F0-072309638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132895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83905-8FAE-9DE4-F02D-C3335B556A8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BE34A85-F9F9-4961-0D43-B06E9E10F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3434" cy="6858000"/>
          </a:xfrm>
          <a:prstGeom prst="rect">
            <a:avLst/>
          </a:prstGeom>
        </p:spPr>
      </p:pic>
    </p:spTree>
    <p:extLst>
      <p:ext uri="{BB962C8B-B14F-4D97-AF65-F5344CB8AC3E}">
        <p14:creationId xmlns:p14="http://schemas.microsoft.com/office/powerpoint/2010/main" val="3925348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6DE71-EB73-D7BC-1EE4-F6AA7A16D5D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B479C6-42A6-A362-C7AB-ABF3E472EB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989"/>
            <a:ext cx="12192000" cy="6857194"/>
          </a:xfrm>
          <a:prstGeom prst="rect">
            <a:avLst/>
          </a:prstGeom>
        </p:spPr>
      </p:pic>
      <p:sp>
        <p:nvSpPr>
          <p:cNvPr id="7" name="Rectangle 6">
            <a:extLst>
              <a:ext uri="{FF2B5EF4-FFF2-40B4-BE49-F238E27FC236}">
                <a16:creationId xmlns:a16="http://schemas.microsoft.com/office/drawing/2014/main" id="{1327DC2B-3A50-D10B-D50B-F561CA69CA56}"/>
              </a:ext>
            </a:extLst>
          </p:cNvPr>
          <p:cNvSpPr/>
          <p:nvPr/>
        </p:nvSpPr>
        <p:spPr>
          <a:xfrm>
            <a:off x="722671" y="1002889"/>
            <a:ext cx="10746658" cy="619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Instead of giving every pair of classes the same margin, let the model learn a different margin for each pair of classes.</a:t>
            </a:r>
            <a:r>
              <a:rPr lang="en-US" dirty="0"/>
              <a:t> </a:t>
            </a:r>
          </a:p>
        </p:txBody>
      </p:sp>
      <p:sp>
        <p:nvSpPr>
          <p:cNvPr id="9" name="Rectangle 8">
            <a:extLst>
              <a:ext uri="{FF2B5EF4-FFF2-40B4-BE49-F238E27FC236}">
                <a16:creationId xmlns:a16="http://schemas.microsoft.com/office/drawing/2014/main" id="{A846C44C-329E-E7AC-06D1-E3A48338EBB5}"/>
              </a:ext>
            </a:extLst>
          </p:cNvPr>
          <p:cNvSpPr/>
          <p:nvPr/>
        </p:nvSpPr>
        <p:spPr>
          <a:xfrm>
            <a:off x="6670040" y="3139440"/>
            <a:ext cx="5003800" cy="2443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Instead of using one fixed margin for every pair of classes, the model learns different margins automatically based on how confusing each pair of classes is. To do this efficiently, it represents every class with two learnable vectors rather than storing a separate margin for every class pair. This keeps the model compact while allowing it to adapt to different classification difficulties.</a:t>
            </a:r>
          </a:p>
        </p:txBody>
      </p:sp>
    </p:spTree>
    <p:extLst>
      <p:ext uri="{BB962C8B-B14F-4D97-AF65-F5344CB8AC3E}">
        <p14:creationId xmlns:p14="http://schemas.microsoft.com/office/powerpoint/2010/main" val="2033859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B8FE3-0386-4226-747A-CDB20D5A4F5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0D84A08-A68D-25DF-049C-E9610C51A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
        <p:nvSpPr>
          <p:cNvPr id="7" name="Rectangle 6">
            <a:extLst>
              <a:ext uri="{FF2B5EF4-FFF2-40B4-BE49-F238E27FC236}">
                <a16:creationId xmlns:a16="http://schemas.microsoft.com/office/drawing/2014/main" id="{039D5811-27B5-72EF-E864-F808391D3695}"/>
              </a:ext>
            </a:extLst>
          </p:cNvPr>
          <p:cNvSpPr/>
          <p:nvPr/>
        </p:nvSpPr>
        <p:spPr>
          <a:xfrm>
            <a:off x="4267199" y="149449"/>
            <a:ext cx="7152641" cy="619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Not every training sample should be treated equally. Easy and reliable samples should be treated differently from difficult or suspicious ones.</a:t>
            </a:r>
          </a:p>
        </p:txBody>
      </p:sp>
      <p:sp>
        <p:nvSpPr>
          <p:cNvPr id="11" name="Rectangle 10">
            <a:extLst>
              <a:ext uri="{FF2B5EF4-FFF2-40B4-BE49-F238E27FC236}">
                <a16:creationId xmlns:a16="http://schemas.microsoft.com/office/drawing/2014/main" id="{B9391F8F-207D-505A-42CA-34A3363F3735}"/>
              </a:ext>
            </a:extLst>
          </p:cNvPr>
          <p:cNvSpPr/>
          <p:nvPr/>
        </p:nvSpPr>
        <p:spPr>
          <a:xfrm>
            <a:off x="6670040" y="4214271"/>
            <a:ext cx="5003800" cy="22881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(2si−1) averages to approximately zero over a batch.</a:t>
            </a:r>
            <a:r>
              <a:rPr lang="en-US" dirty="0"/>
              <a:t> The formula is designed so that increasing the margin for some samples is balanced by decreasing it for others. On average, the overall amount of masking stays about the same.</a:t>
            </a:r>
          </a:p>
        </p:txBody>
      </p:sp>
    </p:spTree>
    <p:extLst>
      <p:ext uri="{BB962C8B-B14F-4D97-AF65-F5344CB8AC3E}">
        <p14:creationId xmlns:p14="http://schemas.microsoft.com/office/powerpoint/2010/main" val="1781979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678F5-3E7F-7E2C-79D5-AF97EFA0F98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EC32833-89E4-C8FD-4106-DBA5931095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3434" cy="6858000"/>
          </a:xfrm>
          <a:prstGeom prst="rect">
            <a:avLst/>
          </a:prstGeom>
        </p:spPr>
      </p:pic>
    </p:spTree>
    <p:extLst>
      <p:ext uri="{BB962C8B-B14F-4D97-AF65-F5344CB8AC3E}">
        <p14:creationId xmlns:p14="http://schemas.microsoft.com/office/powerpoint/2010/main" val="2846694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C8FD-2C7A-FD09-5DA5-7693438985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3B10FCB-EDE3-1899-E408-02E9671F7C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131865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17177-F763-2F4F-BE09-0EF0742880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7136C7-3E36-CB64-75E1-1CCB6AAFB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1710070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55B58-477C-6ADD-2AAD-4C4A139EDD0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1CA1EA-A4D4-D53B-9D5C-7BD9E91353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20"/>
            <a:ext cx="12192000" cy="6929120"/>
          </a:xfrm>
          <a:prstGeom prst="rect">
            <a:avLst/>
          </a:prstGeom>
        </p:spPr>
      </p:pic>
      <p:sp>
        <p:nvSpPr>
          <p:cNvPr id="4" name="Rectangle 3">
            <a:extLst>
              <a:ext uri="{FF2B5EF4-FFF2-40B4-BE49-F238E27FC236}">
                <a16:creationId xmlns:a16="http://schemas.microsoft.com/office/drawing/2014/main" id="{6EFDE4EA-EBAB-E8E1-CEE1-382192F75E36}"/>
              </a:ext>
            </a:extLst>
          </p:cNvPr>
          <p:cNvSpPr/>
          <p:nvPr/>
        </p:nvSpPr>
        <p:spPr>
          <a:xfrm>
            <a:off x="6471920" y="2042160"/>
            <a:ext cx="5394960" cy="36779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4587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F3027-79DB-8E41-0438-03E7EB16699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97DF69-992D-4A1C-EB4F-3A0ABBC765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300669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92C7-57D9-5667-5568-5FE43F1393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D26A8CE-CACE-6982-9BB6-F96D648A12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29290417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F1D74-7725-1E7E-83B3-BE1FDDADD53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B0EB84-986A-35CE-E4E9-4F04A619A2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3433" cy="6858000"/>
          </a:xfrm>
          <a:prstGeom prst="rect">
            <a:avLst/>
          </a:prstGeom>
        </p:spPr>
      </p:pic>
    </p:spTree>
    <p:extLst>
      <p:ext uri="{BB962C8B-B14F-4D97-AF65-F5344CB8AC3E}">
        <p14:creationId xmlns:p14="http://schemas.microsoft.com/office/powerpoint/2010/main" val="3590451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F76A2-CC2A-1487-0480-BD530468FF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6219130-AD9C-DFBE-16F8-D550F0AF7A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Tree>
    <p:extLst>
      <p:ext uri="{BB962C8B-B14F-4D97-AF65-F5344CB8AC3E}">
        <p14:creationId xmlns:p14="http://schemas.microsoft.com/office/powerpoint/2010/main" val="461448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B2086-0D72-DCF7-4C49-5D078816CD2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DC8B94-C9A6-ED59-5C19-BE9C78468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94"/>
          </a:xfrm>
          <a:prstGeom prst="rect">
            <a:avLst/>
          </a:prstGeom>
        </p:spPr>
      </p:pic>
      <p:sp>
        <p:nvSpPr>
          <p:cNvPr id="4" name="Rectangle 3">
            <a:extLst>
              <a:ext uri="{FF2B5EF4-FFF2-40B4-BE49-F238E27FC236}">
                <a16:creationId xmlns:a16="http://schemas.microsoft.com/office/drawing/2014/main" id="{1F258587-5089-604E-17FA-5886C9081E2D}"/>
              </a:ext>
            </a:extLst>
          </p:cNvPr>
          <p:cNvSpPr/>
          <p:nvPr/>
        </p:nvSpPr>
        <p:spPr>
          <a:xfrm>
            <a:off x="10933471" y="6518787"/>
            <a:ext cx="658761" cy="2163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787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196</Words>
  <Application>Microsoft Office PowerPoint</Application>
  <PresentationFormat>Widescreen</PresentationFormat>
  <Paragraphs>5</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Ashish Gupta</dc:creator>
  <cp:lastModifiedBy>Ashish Gupta</cp:lastModifiedBy>
  <cp:revision>3</cp:revision>
  <dcterms:created xsi:type="dcterms:W3CDTF">2026-08-04T05:04:21Z</dcterms:created>
  <dcterms:modified xsi:type="dcterms:W3CDTF">2026-08-04T06:00:29Z</dcterms:modified>
</cp:coreProperties>
</file>